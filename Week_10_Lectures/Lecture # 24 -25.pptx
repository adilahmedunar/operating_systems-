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0"/>
  </p:notesMasterIdLst>
  <p:sldIdLst>
    <p:sldId id="256" r:id="rId2"/>
    <p:sldId id="261" r:id="rId3"/>
    <p:sldId id="446" r:id="rId4"/>
    <p:sldId id="447" r:id="rId5"/>
    <p:sldId id="448" r:id="rId6"/>
    <p:sldId id="450" r:id="rId7"/>
    <p:sldId id="451" r:id="rId8"/>
    <p:sldId id="449" r:id="rId9"/>
    <p:sldId id="452" r:id="rId10"/>
    <p:sldId id="453" r:id="rId11"/>
    <p:sldId id="456" r:id="rId12"/>
    <p:sldId id="457" r:id="rId13"/>
    <p:sldId id="454" r:id="rId14"/>
    <p:sldId id="455" r:id="rId15"/>
    <p:sldId id="458" r:id="rId16"/>
    <p:sldId id="460" r:id="rId17"/>
    <p:sldId id="461" r:id="rId18"/>
    <p:sldId id="26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8426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BF84B-B42F-642A-9B1D-E0A33CB85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BF74D-5594-3382-A09B-E3EFE09E4A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5D9798-3537-125C-36E3-0B49E88C9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D4BF8-2793-2619-3E70-CCA74123D6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996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7200" b="1">
                <a:latin typeface="Times New Roman" panose="02020603050405020304" pitchFamily="18" charset="0"/>
                <a:cs typeface="Times New Roman" panose="02020603050405020304" pitchFamily="18" charset="0"/>
              </a:rPr>
              <a:t># 24 - 25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6CDE67-24A0-BB47-6343-4404D1664B6C}"/>
              </a:ext>
            </a:extLst>
          </p:cNvPr>
          <p:cNvSpPr txBox="1"/>
          <p:nvPr/>
        </p:nvSpPr>
        <p:spPr>
          <a:xfrm>
            <a:off x="1227328" y="1747520"/>
            <a:ext cx="918918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Techniques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Contiguous Memory Allocation 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Partitioning</a:t>
            </a:r>
          </a:p>
          <a:p>
            <a:pPr marL="800100" lvl="1" indent="-342900" algn="just">
              <a:buFont typeface="Wingdings" panose="05000000000000000000" pitchFamily="2" charset="2"/>
              <a:buChar char="§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Size Partitioning</a:t>
            </a:r>
          </a:p>
          <a:p>
            <a:pPr algn="just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PK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3C224-E482-DB9C-6354-FC8BC1EA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7A34A-1B5C-CE90-18C8-B9C5EBF14504}"/>
              </a:ext>
            </a:extLst>
          </p:cNvPr>
          <p:cNvSpPr txBox="1">
            <a:spLocks/>
          </p:cNvSpPr>
          <p:nvPr/>
        </p:nvSpPr>
        <p:spPr>
          <a:xfrm>
            <a:off x="965200" y="361236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 TECHNIQUES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EEA72B-0C85-9210-C024-332104B0C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760" y="1369800"/>
            <a:ext cx="6238240" cy="53606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7C3DB5-F5E1-7410-26C4-9905521E7F06}"/>
              </a:ext>
            </a:extLst>
          </p:cNvPr>
          <p:cNvSpPr txBox="1"/>
          <p:nvPr/>
        </p:nvSpPr>
        <p:spPr>
          <a:xfrm>
            <a:off x="406400" y="1369800"/>
            <a:ext cx="5547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 is usually divided into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partitions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for the Operating System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for the User Processes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memory must accommodate both the operating system and the various user processes. We therefore need to allocate main memory in the most efficient way possible.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D291DC-2E6D-16E6-66AD-9A379957A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9280" y="3290649"/>
            <a:ext cx="1978962" cy="343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33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4DB18-FF50-0CE7-B2D2-45905510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F9866-4896-A024-5DD6-37005D12BF64}"/>
              </a:ext>
            </a:extLst>
          </p:cNvPr>
          <p:cNvSpPr txBox="1">
            <a:spLocks/>
          </p:cNvSpPr>
          <p:nvPr/>
        </p:nvSpPr>
        <p:spPr>
          <a:xfrm>
            <a:off x="951865" y="53239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Contiguous Memory Allocation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4D42D-8EC4-6C16-4756-52C7AE9F0B7F}"/>
              </a:ext>
            </a:extLst>
          </p:cNvPr>
          <p:cNvSpPr txBox="1"/>
          <p:nvPr/>
        </p:nvSpPr>
        <p:spPr>
          <a:xfrm>
            <a:off x="951865" y="1309082"/>
            <a:ext cx="104768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contiguous memory allocation technique, memory is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 continuously.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spanning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allowed. It means, if a process needs a 2MB space, then the process must be allocated to a partition which is 2MB or more in size.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sizes are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contained in a single section of memory that is contiguous to the section containing the next process.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processes in memory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partitions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No. of partitions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each partition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or may not be the same.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Leftover space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partition, after program assignment, is called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Fragmentation.</a:t>
            </a:r>
          </a:p>
        </p:txBody>
      </p:sp>
    </p:spTree>
    <p:extLst>
      <p:ext uri="{BB962C8B-B14F-4D97-AF65-F5344CB8AC3E}">
        <p14:creationId xmlns:p14="http://schemas.microsoft.com/office/powerpoint/2010/main" val="3240447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062F0-7800-BAC3-EC2F-9483E5D3E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014C-561E-8419-E282-D21231DBEA5E}"/>
              </a:ext>
            </a:extLst>
          </p:cNvPr>
          <p:cNvSpPr txBox="1">
            <a:spLocks/>
          </p:cNvSpPr>
          <p:nvPr/>
        </p:nvSpPr>
        <p:spPr>
          <a:xfrm>
            <a:off x="951865" y="52223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1BFF9-CFBF-3A35-6F29-EE17836A5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150" y="1424940"/>
            <a:ext cx="8267700" cy="4191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FB7BE30-EAFE-BD86-47F2-B9BC91ADC5A0}"/>
              </a:ext>
            </a:extLst>
          </p:cNvPr>
          <p:cNvSpPr txBox="1">
            <a:spLocks/>
          </p:cNvSpPr>
          <p:nvPr/>
        </p:nvSpPr>
        <p:spPr>
          <a:xfrm>
            <a:off x="6214745" y="5615940"/>
            <a:ext cx="366077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Partitioned</a:t>
            </a:r>
            <a:endParaRPr lang="en-PK" sz="20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042E8A-6C12-623A-A197-E504CC36E2A8}"/>
              </a:ext>
            </a:extLst>
          </p:cNvPr>
          <p:cNvSpPr txBox="1">
            <a:spLocks/>
          </p:cNvSpPr>
          <p:nvPr/>
        </p:nvSpPr>
        <p:spPr>
          <a:xfrm>
            <a:off x="1962150" y="5658415"/>
            <a:ext cx="366077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Fixed Size Partitioned</a:t>
            </a:r>
            <a:endParaRPr lang="en-PK" sz="2000" b="1" cap="none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46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6ED1D-E88D-F7B6-C864-909D6583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FB4C-48A0-B55F-320E-ADAE7157AE40}"/>
              </a:ext>
            </a:extLst>
          </p:cNvPr>
          <p:cNvSpPr txBox="1">
            <a:spLocks/>
          </p:cNvSpPr>
          <p:nvPr/>
        </p:nvSpPr>
        <p:spPr>
          <a:xfrm>
            <a:off x="121920" y="522239"/>
            <a:ext cx="1207008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fragmentation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DEE77-469B-D9B4-905F-47DDC4237327}"/>
              </a:ext>
            </a:extLst>
          </p:cNvPr>
          <p:cNvSpPr txBox="1"/>
          <p:nvPr/>
        </p:nvSpPr>
        <p:spPr>
          <a:xfrm>
            <a:off x="792480" y="1439049"/>
            <a:ext cx="1028827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a process is allocated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memory than it actually needs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unused memory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the allocated partition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be used by other processes.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size = 8 MB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size = 7 MB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 1 MB inside the partition →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enough total free memory exists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it is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scattered into non-contiguous blocks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a large process cannot be allocated.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blocks: 4 MB + 4 MB (non-contiguous)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requires 6 MB</a:t>
            </a:r>
          </a:p>
          <a:p>
            <a:pPr marL="1257300" lvl="2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K" altLang="en-PK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Allocation fails despite 8 MB total free memory → </a:t>
            </a:r>
            <a:r>
              <a:rPr lang="en-PK" altLang="en-PK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  <a:endParaRPr lang="en-PK" altLang="en-PK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085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232B-4C64-F23A-5C2B-4679AAB4E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E9ECD-CC20-227C-E112-F6E23A558F7C}"/>
              </a:ext>
            </a:extLst>
          </p:cNvPr>
          <p:cNvSpPr txBox="1">
            <a:spLocks/>
          </p:cNvSpPr>
          <p:nvPr/>
        </p:nvSpPr>
        <p:spPr>
          <a:xfrm>
            <a:off x="951865" y="374641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fragmentation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6B7F1A-ABF4-BA0F-1AC0-186266F02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412716"/>
            <a:ext cx="5982295" cy="40325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0B10C0-8388-5D6E-A129-435426DE2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2080" y="1275357"/>
            <a:ext cx="5535909" cy="46345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71D175-47B3-9BCC-DAF9-3A7A9292267E}"/>
              </a:ext>
            </a:extLst>
          </p:cNvPr>
          <p:cNvSpPr txBox="1"/>
          <p:nvPr/>
        </p:nvSpPr>
        <p:spPr>
          <a:xfrm>
            <a:off x="1046480" y="5746258"/>
            <a:ext cx="38709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/>
              <a:t>| Process (</a:t>
            </a:r>
            <a:r>
              <a:rPr lang="en-US" dirty="0"/>
              <a:t>30</a:t>
            </a:r>
            <a:r>
              <a:rPr lang="en-PK" dirty="0"/>
              <a:t> </a:t>
            </a:r>
            <a:r>
              <a:rPr lang="en-US" dirty="0"/>
              <a:t>K</a:t>
            </a:r>
            <a:r>
              <a:rPr lang="en-PK" dirty="0"/>
              <a:t>B) | Unused (</a:t>
            </a:r>
            <a:r>
              <a:rPr lang="en-US" dirty="0"/>
              <a:t>20</a:t>
            </a:r>
            <a:r>
              <a:rPr lang="en-PK" dirty="0"/>
              <a:t> </a:t>
            </a:r>
            <a:r>
              <a:rPr lang="en-US" dirty="0"/>
              <a:t>K</a:t>
            </a:r>
            <a:r>
              <a:rPr lang="en-PK" dirty="0"/>
              <a:t>B) |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0F7CD-0A53-0BB9-E781-4050CCD88870}"/>
              </a:ext>
            </a:extLst>
          </p:cNvPr>
          <p:cNvSpPr txBox="1"/>
          <p:nvPr/>
        </p:nvSpPr>
        <p:spPr>
          <a:xfrm>
            <a:off x="7112000" y="5930924"/>
            <a:ext cx="445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dirty="0"/>
              <a:t>| Process (</a:t>
            </a:r>
            <a:r>
              <a:rPr lang="en-US" dirty="0"/>
              <a:t>400K</a:t>
            </a:r>
            <a:r>
              <a:rPr lang="en-PK" dirty="0"/>
              <a:t>B) | </a:t>
            </a:r>
            <a:r>
              <a:rPr lang="en-US" dirty="0"/>
              <a:t>Available</a:t>
            </a:r>
            <a:r>
              <a:rPr lang="en-PK" dirty="0"/>
              <a:t> (</a:t>
            </a:r>
            <a:r>
              <a:rPr lang="en-US" dirty="0"/>
              <a:t>300</a:t>
            </a:r>
            <a:r>
              <a:rPr lang="en-PK" dirty="0"/>
              <a:t> </a:t>
            </a:r>
            <a:r>
              <a:rPr lang="en-US" dirty="0"/>
              <a:t>K</a:t>
            </a:r>
            <a:r>
              <a:rPr lang="en-PK" dirty="0"/>
              <a:t>B) |</a:t>
            </a:r>
          </a:p>
        </p:txBody>
      </p:sp>
    </p:spTree>
    <p:extLst>
      <p:ext uri="{BB962C8B-B14F-4D97-AF65-F5344CB8AC3E}">
        <p14:creationId xmlns:p14="http://schemas.microsoft.com/office/powerpoint/2010/main" val="2479899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7BD43-8939-DBFB-14CF-C81EC1CB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75799-D313-F9D0-C222-D21EC320AEC1}"/>
              </a:ext>
            </a:extLst>
          </p:cNvPr>
          <p:cNvSpPr txBox="1">
            <a:spLocks/>
          </p:cNvSpPr>
          <p:nvPr/>
        </p:nvSpPr>
        <p:spPr>
          <a:xfrm>
            <a:off x="840105" y="32919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B9D45A-5FFE-C5D8-3020-EAF97DA32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830" y="1136362"/>
            <a:ext cx="11404339" cy="3608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21D560-63FC-FECF-13EB-846CFFD60748}"/>
              </a:ext>
            </a:extLst>
          </p:cNvPr>
          <p:cNvSpPr txBox="1"/>
          <p:nvPr/>
        </p:nvSpPr>
        <p:spPr>
          <a:xfrm>
            <a:off x="762000" y="4842018"/>
            <a:ext cx="11277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 4MB,   Allocated,      No Unused space unavailable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2MB,   Allocated ,     2MB Unused space available –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7MB,   Allocated ,     1MB Unused space available –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Fragmentation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18MB, Unallocated , Process size exceeds the largest available partition.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5: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 = 6MB,   Unallocated , Although total free memory is 8 MB, it is non-contiguous, so P5 cannot be allocated -    													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988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85476-6FD7-B69E-E323-5DFF48EFC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0D04-56A8-D5E3-507E-B754AFA52A00}"/>
              </a:ext>
            </a:extLst>
          </p:cNvPr>
          <p:cNvSpPr txBox="1">
            <a:spLocks/>
          </p:cNvSpPr>
          <p:nvPr/>
        </p:nvSpPr>
        <p:spPr>
          <a:xfrm>
            <a:off x="951865" y="532399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Contiguous Memory Allocation 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3BC55F-26A0-D7B8-5DD3-DF9C20F416D0}"/>
              </a:ext>
            </a:extLst>
          </p:cNvPr>
          <p:cNvSpPr txBox="1"/>
          <p:nvPr/>
        </p:nvSpPr>
        <p:spPr>
          <a:xfrm>
            <a:off x="857567" y="1512282"/>
            <a:ext cx="104768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contiguous memory allocation technique, memory is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allocated continuously.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spanning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allowed. It means, if a process needs a 2MB space, then the process must be allocated to a partition which is 2MB or more in size.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partition scheme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main memory initially consists of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large contiguous free block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a process arrives,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partition exactly equal to the process size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created and allocated dynamically. As more processes arrive, memory is split into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unequal-sized partitions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process requirements.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partitioning allocates memory dynamically based on process size,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eliminating internal fragmentation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suffering from external fragmentation.</a:t>
            </a:r>
          </a:p>
        </p:txBody>
      </p:sp>
    </p:spTree>
    <p:extLst>
      <p:ext uri="{BB962C8B-B14F-4D97-AF65-F5344CB8AC3E}">
        <p14:creationId xmlns:p14="http://schemas.microsoft.com/office/powerpoint/2010/main" val="218842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3FD35-6637-1DE5-682A-4D9640317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5678-056C-38CA-52FD-64DE3CFD7285}"/>
              </a:ext>
            </a:extLst>
          </p:cNvPr>
          <p:cNvSpPr txBox="1">
            <a:spLocks/>
          </p:cNvSpPr>
          <p:nvPr/>
        </p:nvSpPr>
        <p:spPr>
          <a:xfrm>
            <a:off x="951864" y="306575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38D9AE-76D5-23A0-75B5-396300B4694F}"/>
              </a:ext>
            </a:extLst>
          </p:cNvPr>
          <p:cNvSpPr txBox="1"/>
          <p:nvPr/>
        </p:nvSpPr>
        <p:spPr>
          <a:xfrm>
            <a:off x="314959" y="983878"/>
            <a:ext cx="11562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 01: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Let us say five processes P1=2MB, P2=4MB, P3=8MB, P4=4MB, and P5=8MB arrives. As the process arrives, memory is allocated exactly the amount of memory is required as shown in the below image </a:t>
            </a:r>
          </a:p>
          <a:p>
            <a:pPr marL="342900" indent="-342900" algn="just"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Suppose after sometime the process P2 and P4 complete their task and free the space occupied as shown in image.</a:t>
            </a:r>
          </a:p>
          <a:p>
            <a:pPr marL="342900" indent="-342900" algn="just">
              <a:buAutoNum type="arabicPeriod"/>
            </a:pP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Now if a new process P6=8MB arrives, no memory will be allocated to the process P6 because them 8MB memory available is not continuous. This is called a </a:t>
            </a:r>
            <a:r>
              <a:rPr lang="en-US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8396224-231A-8ADE-89DE-8ADFCAA4C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2679" y="2654161"/>
            <a:ext cx="4866640" cy="397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368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D2DC8-38A7-DD1A-5155-05D8CF688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E9864-879E-30F8-E3FA-DD8AF5FC51D0}"/>
              </a:ext>
            </a:extLst>
          </p:cNvPr>
          <p:cNvSpPr txBox="1">
            <a:spLocks/>
          </p:cNvSpPr>
          <p:nvPr/>
        </p:nvSpPr>
        <p:spPr>
          <a:xfrm>
            <a:off x="870584" y="509775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17947-5CD5-C8DE-DE7E-41B7086FEB4C}"/>
              </a:ext>
            </a:extLst>
          </p:cNvPr>
          <p:cNvSpPr txBox="1"/>
          <p:nvPr/>
        </p:nvSpPr>
        <p:spPr>
          <a:xfrm>
            <a:off x="1107440" y="1410598"/>
            <a:ext cx="101326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02: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that we have 64 megabytes of main memory, of which 8 MB is allocated to the operating system, and 56 Mb is for user processes.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first,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arrives, and the system allocates 20 MB. Next, it allocates 14 MB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2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18 MB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3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still, memory space of 4 MB is available.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Now, process 2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memory vacating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of 14 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allocates vacated space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4 of 12 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again leaving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hole of 2 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Subsequently,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also removed from the memory vacating the space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20 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system allocates the vacated space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2 of 14 MB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again creates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hole of 6 MB.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the last state of memory in the figure above shows fragments of 6, 2 and 4 MB, which are too small to allocate to any other process.</a:t>
            </a:r>
            <a:endParaRPr lang="en-PK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76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271DD-86DF-481E-71E1-97413F34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716-CA8D-AFA4-BF21-8E469C25A594}"/>
              </a:ext>
            </a:extLst>
          </p:cNvPr>
          <p:cNvSpPr txBox="1">
            <a:spLocks/>
          </p:cNvSpPr>
          <p:nvPr/>
        </p:nvSpPr>
        <p:spPr>
          <a:xfrm>
            <a:off x="892492" y="194815"/>
            <a:ext cx="10288270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SIZE PARTITIONING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8A16E-8BC3-0FCE-A5C0-8501CDC525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92" y="958850"/>
            <a:ext cx="10407016" cy="532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980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BA89-EA91-6088-8AC0-1A97F5400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DD2D4-E0B0-F12B-6CC2-A4EAA2F218EF}"/>
              </a:ext>
            </a:extLst>
          </p:cNvPr>
          <p:cNvSpPr txBox="1">
            <a:spLocks/>
          </p:cNvSpPr>
          <p:nvPr/>
        </p:nvSpPr>
        <p:spPr>
          <a:xfrm>
            <a:off x="609600" y="410479"/>
            <a:ext cx="1063053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COMPACTION – EXTERNAL FRAGMENTATION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A4371-8F50-F3AC-4B71-0B51BC9BBDAF}"/>
              </a:ext>
            </a:extLst>
          </p:cNvPr>
          <p:cNvSpPr txBox="1"/>
          <p:nvPr/>
        </p:nvSpPr>
        <p:spPr>
          <a:xfrm>
            <a:off x="1076959" y="1237878"/>
            <a:ext cx="98552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 of  Variable Partition 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Fragmentation.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overcome the problem of external fragmentation, following techniques are used</a:t>
            </a:r>
          </a:p>
          <a:p>
            <a:pPr marL="800100" lvl="1" indent="-342900" algn="just" fontAlgn="base">
              <a:buFont typeface="+mj-lt"/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all the processes toward the top or towards the bottom to make free available memory in a single continuous place is called compaction. </a:t>
            </a:r>
          </a:p>
          <a:p>
            <a:pPr marL="800100" lvl="1" indent="-342900"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Compaction is undesirable to implement because it interrupts all the running processes in the memory. </a:t>
            </a:r>
          </a:p>
          <a:p>
            <a:pPr marL="800100" lvl="1" indent="-342900" algn="just" fontAlgn="base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consumes CPU time (overhead).</a:t>
            </a:r>
          </a:p>
          <a:p>
            <a:pPr lvl="1" algn="just" fontAlgn="base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 Non-contiguous memory allocation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467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4102F-EECD-1DFD-E03A-9C110A787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89ED-8460-15D2-09F5-BD2E67462D8A}"/>
              </a:ext>
            </a:extLst>
          </p:cNvPr>
          <p:cNvSpPr txBox="1">
            <a:spLocks/>
          </p:cNvSpPr>
          <p:nvPr/>
        </p:nvSpPr>
        <p:spPr>
          <a:xfrm>
            <a:off x="853440" y="349885"/>
            <a:ext cx="1072197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COMPACTION – EXTERNAL FRAGMENTATION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2F0C14-332D-D07A-B824-002FDFF88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18" y="1111885"/>
            <a:ext cx="3095625" cy="54673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1B7F92-F34E-7E45-BB06-787C71529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857" y="1130935"/>
            <a:ext cx="298132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2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78C0-9284-004F-AAD1-B4AB31AF8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C3CC5-22CB-B783-5E86-F85CED335C2C}"/>
              </a:ext>
            </a:extLst>
          </p:cNvPr>
          <p:cNvSpPr txBox="1">
            <a:spLocks/>
          </p:cNvSpPr>
          <p:nvPr/>
        </p:nvSpPr>
        <p:spPr>
          <a:xfrm>
            <a:off x="609600" y="410479"/>
            <a:ext cx="1063053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 algorithm</a:t>
            </a:r>
          </a:p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Contiguous Memory Allocation 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FF90D-EDBF-9ACB-8DA1-B19F8421F3CA}"/>
              </a:ext>
            </a:extLst>
          </p:cNvPr>
          <p:cNvSpPr txBox="1"/>
          <p:nvPr/>
        </p:nvSpPr>
        <p:spPr>
          <a:xfrm>
            <a:off x="946297" y="1465106"/>
            <a:ext cx="1053686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First-Fit Allocation</a:t>
            </a:r>
            <a:endParaRPr kumimoji="0" lang="en-PK" altLang="en-PK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the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 hole that is large enough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Scans from the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memory list.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Next-Fit Allocation</a:t>
            </a:r>
            <a:endParaRPr kumimoji="0" lang="en-PK" altLang="en-PK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 as First-Fit, but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starts searching from the last allocated hole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instead of the beginning.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Best-Fit Allocation</a:t>
            </a:r>
            <a:endParaRPr kumimoji="0" lang="en-PK" altLang="en-PK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the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smallest hole that is large enough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Checks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holes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picks the one leaving the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least leftover space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Worst-Fit Allocation</a:t>
            </a:r>
            <a:endParaRPr kumimoji="0" lang="en-PK" altLang="en-PK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Allocate the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largest hole available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Opposite of Best-Fit → leaves the </a:t>
            </a:r>
            <a:r>
              <a:rPr kumimoji="0" lang="en-PK" altLang="en-PK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largest leftover space</a:t>
            </a:r>
            <a:r>
              <a:rPr kumimoji="0" lang="en-PK" altLang="en-PK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6263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003C6-036F-632C-1773-01E8CFCE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B5C11-0C40-9103-B317-32C235C5E98C}"/>
              </a:ext>
            </a:extLst>
          </p:cNvPr>
          <p:cNvSpPr txBox="1">
            <a:spLocks/>
          </p:cNvSpPr>
          <p:nvPr/>
        </p:nvSpPr>
        <p:spPr>
          <a:xfrm>
            <a:off x="609600" y="410479"/>
            <a:ext cx="1063053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- Placement algorithm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49540-2BB6-2C3D-DFA6-2699EECEA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304" y="3286125"/>
            <a:ext cx="9001125" cy="30289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343891-A478-C744-6C49-88EF0D904323}"/>
              </a:ext>
            </a:extLst>
          </p:cNvPr>
          <p:cNvSpPr txBox="1"/>
          <p:nvPr/>
        </p:nvSpPr>
        <p:spPr>
          <a:xfrm>
            <a:off x="996801" y="1319436"/>
            <a:ext cx="97010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Suppose a process requests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12KB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of memory and the memory manager currently has a list of unallocated blocks of 6KB, 14KB, 19KB, 11KB, and 13KB blocks.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First fit 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will allocate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12KB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of the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14KB 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block to the process.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best-fit 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strategy will allocate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12KB 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 the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13KB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block to the process.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Worst fit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will allocate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12KB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of the </a:t>
            </a:r>
            <a:r>
              <a:rPr lang="en-US" sz="20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19KB</a:t>
            </a:r>
            <a:r>
              <a:rPr lang="en-US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block to the process,</a:t>
            </a:r>
            <a:endParaRPr lang="en-PK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22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69C2-6184-87B1-55D9-C9BB0147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F2DC-DAEE-60FD-462B-29D1DB4DCB05}"/>
              </a:ext>
            </a:extLst>
          </p:cNvPr>
          <p:cNvSpPr txBox="1">
            <a:spLocks/>
          </p:cNvSpPr>
          <p:nvPr/>
        </p:nvSpPr>
        <p:spPr>
          <a:xfrm>
            <a:off x="609600" y="410479"/>
            <a:ext cx="10630535" cy="5734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– Best fit algorithm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A2DE3A-D555-1EAF-CE3D-131073202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4532074"/>
              </p:ext>
            </p:extLst>
          </p:nvPr>
        </p:nvGraphicFramePr>
        <p:xfrm>
          <a:off x="1906772" y="2509283"/>
          <a:ext cx="8378456" cy="3139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03281">
                  <a:extLst>
                    <a:ext uri="{9D8B030D-6E8A-4147-A177-3AD203B41FA5}">
                      <a16:colId xmlns:a16="http://schemas.microsoft.com/office/drawing/2014/main" val="3602743097"/>
                    </a:ext>
                  </a:extLst>
                </a:gridCol>
                <a:gridCol w="825695">
                  <a:extLst>
                    <a:ext uri="{9D8B030D-6E8A-4147-A177-3AD203B41FA5}">
                      <a16:colId xmlns:a16="http://schemas.microsoft.com/office/drawing/2014/main" val="2023453863"/>
                    </a:ext>
                  </a:extLst>
                </a:gridCol>
                <a:gridCol w="1066848">
                  <a:extLst>
                    <a:ext uri="{9D8B030D-6E8A-4147-A177-3AD203B41FA5}">
                      <a16:colId xmlns:a16="http://schemas.microsoft.com/office/drawing/2014/main" val="489381005"/>
                    </a:ext>
                  </a:extLst>
                </a:gridCol>
                <a:gridCol w="959417">
                  <a:extLst>
                    <a:ext uri="{9D8B030D-6E8A-4147-A177-3AD203B41FA5}">
                      <a16:colId xmlns:a16="http://schemas.microsoft.com/office/drawing/2014/main" val="112092455"/>
                    </a:ext>
                  </a:extLst>
                </a:gridCol>
                <a:gridCol w="933178">
                  <a:extLst>
                    <a:ext uri="{9D8B030D-6E8A-4147-A177-3AD203B41FA5}">
                      <a16:colId xmlns:a16="http://schemas.microsoft.com/office/drawing/2014/main" val="3895264503"/>
                    </a:ext>
                  </a:extLst>
                </a:gridCol>
                <a:gridCol w="871870">
                  <a:extLst>
                    <a:ext uri="{9D8B030D-6E8A-4147-A177-3AD203B41FA5}">
                      <a16:colId xmlns:a16="http://schemas.microsoft.com/office/drawing/2014/main" val="50329971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584050703"/>
                    </a:ext>
                  </a:extLst>
                </a:gridCol>
                <a:gridCol w="903767">
                  <a:extLst>
                    <a:ext uri="{9D8B030D-6E8A-4147-A177-3AD203B41FA5}">
                      <a16:colId xmlns:a16="http://schemas.microsoft.com/office/drawing/2014/main" val="155472031"/>
                    </a:ext>
                  </a:extLst>
                </a:gridCol>
              </a:tblGrid>
              <a:tr h="1028538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</a:t>
                      </a:r>
                      <a:endParaRPr lang="en-PK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J5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J6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J7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543680"/>
                  </a:ext>
                </a:extLst>
              </a:tr>
              <a:tr h="105552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Request Size</a:t>
                      </a:r>
                      <a:endParaRPr lang="en-PK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7K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3821"/>
                  </a:ext>
                </a:extLst>
              </a:tr>
              <a:tr h="1055525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 Time</a:t>
                      </a:r>
                      <a:endParaRPr lang="en-PK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PK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05778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73769A7-4168-1D63-D123-9C0D2B0DDE48}"/>
              </a:ext>
            </a:extLst>
          </p:cNvPr>
          <p:cNvSpPr txBox="1"/>
          <p:nvPr/>
        </p:nvSpPr>
        <p:spPr>
          <a:xfrm>
            <a:off x="1435395" y="1392059"/>
            <a:ext cx="87448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Q: Calculate the arrival time and completion time of J7 using the Best Fit algorithm.</a:t>
            </a:r>
            <a:endParaRPr lang="en-PK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74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spanning is allowed. </a:t>
            </a:r>
            <a:r>
              <a:rPr lang="en-US" dirty="0"/>
              <a:t>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3688</TotalTime>
  <Words>1175</Words>
  <Application>Microsoft Office PowerPoint</Application>
  <PresentationFormat>Widescreen</PresentationFormat>
  <Paragraphs>124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2179</cp:revision>
  <dcterms:created xsi:type="dcterms:W3CDTF">2025-10-15T06:15:30Z</dcterms:created>
  <dcterms:modified xsi:type="dcterms:W3CDTF">2026-01-18T15:47:49Z</dcterms:modified>
</cp:coreProperties>
</file>