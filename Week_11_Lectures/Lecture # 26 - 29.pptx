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44"/>
  </p:notesMasterIdLst>
  <p:sldIdLst>
    <p:sldId id="256" r:id="rId2"/>
    <p:sldId id="261" r:id="rId3"/>
    <p:sldId id="462" r:id="rId4"/>
    <p:sldId id="459" r:id="rId5"/>
    <p:sldId id="463" r:id="rId6"/>
    <p:sldId id="464" r:id="rId7"/>
    <p:sldId id="465" r:id="rId8"/>
    <p:sldId id="466" r:id="rId9"/>
    <p:sldId id="467" r:id="rId10"/>
    <p:sldId id="470" r:id="rId11"/>
    <p:sldId id="471" r:id="rId12"/>
    <p:sldId id="472" r:id="rId13"/>
    <p:sldId id="474" r:id="rId14"/>
    <p:sldId id="475" r:id="rId15"/>
    <p:sldId id="476" r:id="rId16"/>
    <p:sldId id="477" r:id="rId17"/>
    <p:sldId id="479" r:id="rId18"/>
    <p:sldId id="480" r:id="rId19"/>
    <p:sldId id="481" r:id="rId20"/>
    <p:sldId id="491" r:id="rId21"/>
    <p:sldId id="482" r:id="rId22"/>
    <p:sldId id="484" r:id="rId23"/>
    <p:sldId id="485" r:id="rId24"/>
    <p:sldId id="483" r:id="rId25"/>
    <p:sldId id="488" r:id="rId26"/>
    <p:sldId id="486" r:id="rId27"/>
    <p:sldId id="489" r:id="rId28"/>
    <p:sldId id="490" r:id="rId29"/>
    <p:sldId id="487" r:id="rId30"/>
    <p:sldId id="492" r:id="rId31"/>
    <p:sldId id="493" r:id="rId32"/>
    <p:sldId id="494" r:id="rId33"/>
    <p:sldId id="495" r:id="rId34"/>
    <p:sldId id="496" r:id="rId35"/>
    <p:sldId id="497" r:id="rId36"/>
    <p:sldId id="498" r:id="rId37"/>
    <p:sldId id="499" r:id="rId38"/>
    <p:sldId id="500" r:id="rId39"/>
    <p:sldId id="501" r:id="rId40"/>
    <p:sldId id="502" r:id="rId41"/>
    <p:sldId id="503" r:id="rId42"/>
    <p:sldId id="266"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42" autoAdjust="0"/>
  </p:normalViewPr>
  <p:slideViewPr>
    <p:cSldViewPr snapToGrid="0">
      <p:cViewPr varScale="1">
        <p:scale>
          <a:sx n="56" d="100"/>
          <a:sy n="56" d="100"/>
        </p:scale>
        <p:origin x="106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5T07:58:27.956"/>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5T07:58:31.174"/>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5T07:58:34.846"/>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1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5T07:59:17.283"/>
    </inkml:context>
    <inkml:brush xml:id="br0">
      <inkml:brushProperty name="width" value="0.035" units="cm"/>
      <inkml:brushProperty name="height" value="0.035" units="cm"/>
      <inkml:brushProperty name="color" value="#E71224"/>
    </inkml:brush>
  </inkml:definitions>
  <inkml:trace contextRef="#ctx0" brushRef="#br0">390 1334 24575,'0'1296'0,"2"-1257"0,1 0 0,12 59 0,27 74 0,10 57 0,32 247 0,-37-313 0,-4-15 0,25 167 0,-55-233 0,5 156 0,-21 1270 0,3-1412 0,2 205 0,25-2 0,12 19 0,-6-42 0,-27-233 0,-2 1 0,-1 0 0,-3 0 0,-2-1 0,-9 56 0,-33 158 0,-41 281 0,48 62 0,39 2 0,2-195 0,-4-308 0,3 181 0,2-204 0,23 125 0,-14-135 0,4-1 0,2-1 0,55 119 0,155 231 0,-209-377 0,33 53 0,91 170 0,11 100 0,-152-350 0,19 55 0,-16-40 0,15 32 0,-15-41 0,-1 1 0,-1 0 0,0 0 0,-1 0 0,-1 0 0,-1 1 0,-1-1 0,0 28 0,-5 17 0,-12 66 0,5-54 0,-89 579 0,82-573 0,8-41 0,2 0 0,-6 74 0,16 368 0,-1-446 0,1 0 0,2 0 0,1-1 0,19 63 0,-20-84 0,1 0 0,1 0 0,0 0 0,1-1 0,0 0 0,1 0 0,0-1 0,1 0 0,0 0 0,1-1 0,0 0 0,1-1 0,0 0 0,0-1 0,15 9 0,175 75 0,-129-61 0,451 162 0,14-36 0,-488-144 0,1-3 0,53 5 0,-71-13 0,1-1 0,-1-2 0,1-1 0,44-9 0,230-67 0,0-24 0,110-32 0,-344 118 0,1 3 0,130-5 0,-125 13 0,505-8 0,-218 11 0,293-51 0,-128-64 0,-258 49 0,579-111 0,18 73 0,665 68 0,-1413 42 0,1 4 0,-2 6 0,0 6 0,228 67 0,-6 32 0,118 37 0,-391-137 0,1-4 0,0-3 0,78 3 0,216-9 0,-351-6 0,-9 0 0,33 0 0,-1-2 0,46-7 0,-71 7 0,0-1 0,0-1 0,0 1 0,-1-2 0,1 0 0,-1 0 0,0-1 0,0 0 0,-1-1 0,19-16 0,-7 1 0,-1 0 0,-1-1 0,-2-2 0,26-42 0,51-117 0,-91 175 0,100-226 0,74-255 0,40-263 0,-170 578 0,28-85 0,67-269 0,-28-80 0,-97 462 0,-6 0 0,-10-186 0,-9 246 0,-3 1 0,-5 0 0,-3 1 0,-37-107 0,6 60 0,-126-241 0,-93-95-470,81 144 200,-358-611 270,300 524-31,32-15 185,-40-87 463,-84-112-738,272 493-169,-378-742-39,358 710 292,-119-328-1,169 384 201,5-2 0,4 0 0,6-2 0,-9-148 0,3-170-163,12 303 0,-42-171 0,-124-312 0,157 537 0,-113-345 0,133 411 0,1-1 0,0 0 0,-1 1 0,-7-15 0,8 19 0,0 1 0,0 0 0,1-1 0,-2 1 0,1 0 0,0 0 0,0 0 0,-1 0 0,1 0 0,-1 1 0,1-1 0,-1 1 0,0 0 0,-3-2 0,-24-9 0,0-2 0,1 0 0,-49-35 0,-76-69 0,-207-217 0,20-27 0,113 117 0,190 206 0,-1 2 0,-51-36 0,60 52 0,0 1 0,-2 2 0,-1 1 0,-38-15 0,5 10 0,-1 2 0,-107-17 0,-142-3 0,-139 15 0,0 27 0,197 0 0,-173 16 0,299-3 0,-218 55 0,97 4 0,-284 72 0,-403 61 0,313-20 0,355-98 0,-344 79 0,481-134 0,-433 86 0,-6-28 0,324-55 0,94-14 0,23-5 0,-210 56 0,-208 98 0,374-128-1365,158-40-5461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E7D3E-4D6D-4A9E-AA24-8E11DFA8298B}" type="datetimeFigureOut">
              <a:rPr lang="en-PK" smtClean="0"/>
              <a:t>27/01/2026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A406AE-9E8D-4B19-A8A6-37C9AB1FA076}" type="slidenum">
              <a:rPr lang="en-PK" smtClean="0"/>
              <a:t>‹#›</a:t>
            </a:fld>
            <a:endParaRPr lang="en-PK"/>
          </a:p>
        </p:txBody>
      </p:sp>
    </p:spTree>
    <p:extLst>
      <p:ext uri="{BB962C8B-B14F-4D97-AF65-F5344CB8AC3E}">
        <p14:creationId xmlns:p14="http://schemas.microsoft.com/office/powerpoint/2010/main" val="2438086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9A406AE-9E8D-4B19-A8A6-37C9AB1FA076}" type="slidenum">
              <a:rPr lang="en-PK" smtClean="0"/>
              <a:t>1</a:t>
            </a:fld>
            <a:endParaRPr lang="en-PK"/>
          </a:p>
        </p:txBody>
      </p:sp>
    </p:spTree>
    <p:extLst>
      <p:ext uri="{BB962C8B-B14F-4D97-AF65-F5344CB8AC3E}">
        <p14:creationId xmlns:p14="http://schemas.microsoft.com/office/powerpoint/2010/main" val="314128462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1/27/2026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1/27/2026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1/27/2026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1/27/2026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PK"/>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5.png"/><Relationship Id="rId7"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customXml" Target="../ink/ink2.xml"/><Relationship Id="rId11" Type="http://schemas.openxmlformats.org/officeDocument/2006/relationships/image" Target="../media/image29.png"/><Relationship Id="rId5" Type="http://schemas.openxmlformats.org/officeDocument/2006/relationships/image" Target="../media/image26.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28.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geeksforgeeks.org/operating-systems/memory-management-in-operating-system/"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geeksforgeeks.org/operating-systems/memory-management-in-operating-system/"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www.geeksforgeeks.org/operating-systems/logical-and-physical-address-in-operating-system/"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ECB6B-98B0-7DD3-973D-99D900F05140}"/>
              </a:ext>
            </a:extLst>
          </p:cNvPr>
          <p:cNvSpPr>
            <a:spLocks noGrp="1"/>
          </p:cNvSpPr>
          <p:nvPr>
            <p:ph type="ctrTitle"/>
          </p:nvPr>
        </p:nvSpPr>
        <p:spPr>
          <a:xfrm>
            <a:off x="467360" y="1432223"/>
            <a:ext cx="10551160" cy="3035808"/>
          </a:xfrm>
        </p:spPr>
        <p:txBody>
          <a:bodyPr/>
          <a:lstStyle/>
          <a:p>
            <a:pPr algn="ctr"/>
            <a:r>
              <a:rPr lang="en-US" sz="6600" b="1" dirty="0">
                <a:latin typeface="Times New Roman" panose="02020603050405020304" pitchFamily="18" charset="0"/>
                <a:cs typeface="Times New Roman" panose="02020603050405020304" pitchFamily="18" charset="0"/>
              </a:rPr>
              <a:t>Operating systems</a:t>
            </a:r>
            <a:endParaRPr lang="en-PK" sz="6600" b="1" dirty="0">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A4B46766-25E3-5BCC-FCFC-68333EE8C7DA}"/>
              </a:ext>
            </a:extLst>
          </p:cNvPr>
          <p:cNvSpPr txBox="1">
            <a:spLocks/>
          </p:cNvSpPr>
          <p:nvPr/>
        </p:nvSpPr>
        <p:spPr>
          <a:xfrm>
            <a:off x="1611884" y="4555573"/>
            <a:ext cx="8053832" cy="1273048"/>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9600" kern="1200" cap="all" baseline="0">
                <a:blipFill dpi="0" rotWithShape="1">
                  <a:blip r:embed="rId3"/>
                  <a:srcRect/>
                  <a:tile tx="6350" ty="-127000" sx="65000" sy="64000" flip="none" algn="tl"/>
                </a:blipFill>
                <a:latin typeface="+mj-lt"/>
                <a:ea typeface="+mj-ea"/>
                <a:cs typeface="+mj-cs"/>
              </a:defRPr>
            </a:lvl1pPr>
          </a:lstStyle>
          <a:p>
            <a:pPr algn="ctr"/>
            <a:r>
              <a:rPr lang="en-US" sz="6600" b="1" dirty="0">
                <a:latin typeface="Times New Roman" panose="02020603050405020304" pitchFamily="18" charset="0"/>
                <a:cs typeface="Times New Roman" panose="02020603050405020304" pitchFamily="18" charset="0"/>
              </a:rPr>
              <a:t>Lecture</a:t>
            </a:r>
            <a:r>
              <a:rPr lang="en-US" sz="7200" b="1" dirty="0">
                <a:latin typeface="Times New Roman" panose="02020603050405020304" pitchFamily="18" charset="0"/>
                <a:cs typeface="Times New Roman" panose="02020603050405020304" pitchFamily="18" charset="0"/>
              </a:rPr>
              <a:t> </a:t>
            </a:r>
            <a:r>
              <a:rPr lang="en-US" sz="7200" b="1">
                <a:latin typeface="Times New Roman" panose="02020603050405020304" pitchFamily="18" charset="0"/>
                <a:cs typeface="Times New Roman" panose="02020603050405020304" pitchFamily="18" charset="0"/>
              </a:rPr>
              <a:t># 26 - 29</a:t>
            </a:r>
            <a:endParaRPr lang="en-PK"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50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506D-D8CE-6C1D-091D-252ED6579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51294-A245-19C5-6231-4502DD714494}"/>
              </a:ext>
            </a:extLst>
          </p:cNvPr>
          <p:cNvSpPr>
            <a:spLocks noGrp="1"/>
          </p:cNvSpPr>
          <p:nvPr>
            <p:ph type="title"/>
          </p:nvPr>
        </p:nvSpPr>
        <p:spPr>
          <a:xfrm>
            <a:off x="1227328" y="474472"/>
            <a:ext cx="8053832" cy="1273048"/>
          </a:xfrm>
        </p:spPr>
        <p:txBody>
          <a:bodyPr>
            <a:normAutofit/>
          </a:bodyPr>
          <a:lstStyle/>
          <a:p>
            <a:r>
              <a:rPr lang="en-US" b="1" dirty="0">
                <a:latin typeface="Times New Roman" panose="02020603050405020304" pitchFamily="18" charset="0"/>
                <a:cs typeface="Times New Roman" panose="02020603050405020304" pitchFamily="18" charset="0"/>
              </a:rPr>
              <a:t>Lecture Overview</a:t>
            </a:r>
            <a:endParaRPr lang="en-PK"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D6CDE67-24A0-BB47-6343-4404D1664B6C}"/>
              </a:ext>
            </a:extLst>
          </p:cNvPr>
          <p:cNvSpPr txBox="1"/>
          <p:nvPr/>
        </p:nvSpPr>
        <p:spPr>
          <a:xfrm>
            <a:off x="1227328" y="1747520"/>
            <a:ext cx="9189188" cy="6247864"/>
          </a:xfrm>
          <a:prstGeom prst="rect">
            <a:avLst/>
          </a:prstGeom>
          <a:noFill/>
        </p:spPr>
        <p:txBody>
          <a:bodyPr wrap="square">
            <a:spAutoFit/>
          </a:bodyPr>
          <a:lstStyle/>
          <a:p>
            <a:pPr marL="342900" indent="-342900" algn="just">
              <a:buFont typeface="Wingdings" panose="05000000000000000000" pitchFamily="2" charset="2"/>
              <a:buChar char="q"/>
            </a:pPr>
            <a:r>
              <a:rPr lang="en-US" sz="4000" b="1" dirty="0">
                <a:latin typeface="Times New Roman" panose="02020603050405020304" pitchFamily="18" charset="0"/>
                <a:cs typeface="Times New Roman" panose="02020603050405020304" pitchFamily="18" charset="0"/>
              </a:rPr>
              <a:t>Non - Contiguous Memory Allocation </a:t>
            </a:r>
          </a:p>
          <a:p>
            <a:pPr marL="1028700" lvl="1" indent="-571500" algn="just">
              <a:buFont typeface="Wingdings" panose="05000000000000000000" pitchFamily="2" charset="2"/>
              <a:buChar char="q"/>
            </a:pPr>
            <a:r>
              <a:rPr lang="en-US" sz="4000" b="1" dirty="0">
                <a:latin typeface="Times New Roman" panose="02020603050405020304" pitchFamily="18" charset="0"/>
                <a:cs typeface="Times New Roman" panose="02020603050405020304" pitchFamily="18" charset="0"/>
              </a:rPr>
              <a:t>Paging </a:t>
            </a:r>
          </a:p>
          <a:p>
            <a:pPr marL="1028700" lvl="1" indent="-571500" algn="just">
              <a:buFont typeface="Wingdings" panose="05000000000000000000" pitchFamily="2" charset="2"/>
              <a:buChar char="q"/>
            </a:pPr>
            <a:r>
              <a:rPr lang="en-US" sz="4000" b="1" dirty="0">
                <a:latin typeface="Times New Roman" panose="02020603050405020304" pitchFamily="18" charset="0"/>
                <a:cs typeface="Times New Roman" panose="02020603050405020304" pitchFamily="18" charset="0"/>
              </a:rPr>
              <a:t>2 Level Paging</a:t>
            </a:r>
          </a:p>
          <a:p>
            <a:pPr marL="1028700" lvl="1" indent="-571500" algn="just">
              <a:buFont typeface="Wingdings" panose="05000000000000000000" pitchFamily="2" charset="2"/>
              <a:buChar char="q"/>
            </a:pPr>
            <a:r>
              <a:rPr lang="en-US" sz="4000" b="1" dirty="0">
                <a:latin typeface="Times New Roman" panose="02020603050405020304" pitchFamily="18" charset="0"/>
                <a:cs typeface="Times New Roman" panose="02020603050405020304" pitchFamily="18" charset="0"/>
              </a:rPr>
              <a:t>Segmentation</a:t>
            </a:r>
          </a:p>
          <a:p>
            <a:pPr marL="1028700" lvl="1" indent="-571500" algn="just">
              <a:buFont typeface="Wingdings" panose="05000000000000000000" pitchFamily="2" charset="2"/>
              <a:buChar char="q"/>
            </a:pPr>
            <a:r>
              <a:rPr lang="en-US" sz="4000" b="1" dirty="0">
                <a:latin typeface="Times New Roman" panose="02020603050405020304" pitchFamily="18" charset="0"/>
                <a:cs typeface="Times New Roman" panose="02020603050405020304" pitchFamily="18" charset="0"/>
              </a:rPr>
              <a:t>Segmented Paging</a:t>
            </a:r>
          </a:p>
          <a:p>
            <a:pPr marL="1028700" lvl="1" indent="-571500" algn="just">
              <a:buFont typeface="Wingdings" panose="05000000000000000000" pitchFamily="2" charset="2"/>
              <a:buChar char="§"/>
            </a:pPr>
            <a:endParaRPr lang="en-US" sz="4000" b="1" dirty="0">
              <a:latin typeface="Times New Roman" panose="02020603050405020304" pitchFamily="18" charset="0"/>
              <a:cs typeface="Times New Roman" panose="02020603050405020304" pitchFamily="18" charset="0"/>
            </a:endParaRPr>
          </a:p>
          <a:p>
            <a:pPr marL="1028700" lvl="1" indent="-571500" algn="just">
              <a:buFont typeface="Wingdings" panose="05000000000000000000" pitchFamily="2" charset="2"/>
              <a:buChar char="§"/>
            </a:pPr>
            <a:endParaRPr lang="en-US" sz="40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endParaRPr lang="en-US" sz="4000" b="1" dirty="0">
              <a:latin typeface="Times New Roman" panose="02020603050405020304" pitchFamily="18" charset="0"/>
              <a:cs typeface="Times New Roman" panose="02020603050405020304" pitchFamily="18" charset="0"/>
            </a:endParaRPr>
          </a:p>
          <a:p>
            <a:pPr lvl="1" algn="just"/>
            <a:endParaRPr lang="en-PK" sz="40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endParaRPr lang="en-PK"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2067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C37F7-58C1-D238-A165-6CB99C2955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91FF7F-1A94-AE1C-7192-DCD5553A8B3C}"/>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 Non - Contiguous Memory Allocation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4778DF2-F680-0AC2-DBA0-980785FBADE6}"/>
                  </a:ext>
                </a:extLst>
              </p:cNvPr>
              <p:cNvSpPr txBox="1"/>
              <p:nvPr/>
            </p:nvSpPr>
            <p:spPr>
              <a:xfrm>
                <a:off x="857567" y="1064534"/>
                <a:ext cx="10476865" cy="5693866"/>
              </a:xfrm>
              <a:prstGeom prst="rect">
                <a:avLst/>
              </a:prstGeom>
              <a:noFill/>
            </p:spPr>
            <p:txBody>
              <a:bodyPr wrap="square">
                <a:spAutoFit/>
              </a:bodyPr>
              <a:lstStyle/>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Non-contiguous allocation, also known as </a:t>
                </a:r>
                <a:r>
                  <a:rPr lang="en-US" sz="2600" b="1" dirty="0">
                    <a:latin typeface="Times New Roman" panose="02020603050405020304" pitchFamily="18" charset="0"/>
                    <a:cs typeface="Times New Roman" panose="02020603050405020304" pitchFamily="18" charset="0"/>
                  </a:rPr>
                  <a:t>dynamic</a:t>
                </a:r>
                <a:r>
                  <a:rPr lang="en-US" sz="2600" dirty="0">
                    <a:latin typeface="Times New Roman" panose="02020603050405020304" pitchFamily="18" charset="0"/>
                    <a:cs typeface="Times New Roman" panose="02020603050405020304" pitchFamily="18" charset="0"/>
                  </a:rPr>
                  <a:t> or </a:t>
                </a:r>
                <a:r>
                  <a:rPr lang="en-US" sz="2600" b="1" dirty="0">
                    <a:latin typeface="Times New Roman" panose="02020603050405020304" pitchFamily="18" charset="0"/>
                    <a:cs typeface="Times New Roman" panose="02020603050405020304" pitchFamily="18" charset="0"/>
                  </a:rPr>
                  <a:t>linked allocation</a:t>
                </a:r>
                <a:r>
                  <a:rPr lang="en-US" sz="2600" dirty="0">
                    <a:latin typeface="Times New Roman" panose="02020603050405020304" pitchFamily="18" charset="0"/>
                    <a:cs typeface="Times New Roman" panose="02020603050405020304" pitchFamily="18" charset="0"/>
                  </a:rPr>
                  <a:t>, is a memory management technique used in operating systems where a process does </a:t>
                </a:r>
                <a:r>
                  <a:rPr lang="en-US" sz="2600" b="1" dirty="0">
                    <a:latin typeface="Times New Roman" panose="02020603050405020304" pitchFamily="18" charset="0"/>
                    <a:cs typeface="Times New Roman" panose="02020603050405020304" pitchFamily="18" charset="0"/>
                  </a:rPr>
                  <a:t>not require a single continuous block of memory</a:t>
                </a:r>
                <a:r>
                  <a:rPr lang="en-US" sz="26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Spanning</a:t>
                </a:r>
                <a:r>
                  <a:rPr lang="en-US" sz="2600" dirty="0">
                    <a:latin typeface="Times New Roman" panose="02020603050405020304" pitchFamily="18" charset="0"/>
                    <a:cs typeface="Times New Roman" panose="02020603050405020304" pitchFamily="18" charset="0"/>
                  </a:rPr>
                  <a:t> is allowed. It means, 4KB P is split into two </a:t>
                </a:r>
                <a14:m>
                  <m:oMath xmlns:m="http://schemas.openxmlformats.org/officeDocument/2006/math">
                    <m:r>
                      <a:rPr lang="en-US" sz="2600">
                        <a:latin typeface="Cambria Math" panose="02040503050406030204" pitchFamily="18" charset="0"/>
                        <a:cs typeface="Times New Roman" panose="02020603050405020304" pitchFamily="18" charset="0"/>
                      </a:rPr>
                      <m:t>2</m:t>
                    </m:r>
                    <m:r>
                      <a:rPr lang="en-US" sz="2600">
                        <a:latin typeface="Cambria Math" panose="02040503050406030204" pitchFamily="18" charset="0"/>
                        <a:cs typeface="Times New Roman" panose="02020603050405020304" pitchFamily="18" charset="0"/>
                      </a:rPr>
                      <m:t>𝐾𝐵</m:t>
                    </m:r>
                  </m:oMath>
                </a14:m>
                <a:r>
                  <a:rPr lang="en-US" sz="2600" dirty="0">
                    <a:latin typeface="Times New Roman" panose="02020603050405020304" pitchFamily="18" charset="0"/>
                    <a:cs typeface="Times New Roman" panose="02020603050405020304" pitchFamily="18" charset="0"/>
                  </a:rPr>
                  <a:t> parts, each fitting into the free slots.</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A process is </a:t>
                </a:r>
                <a:r>
                  <a:rPr lang="en-US" sz="2600" b="1" dirty="0">
                    <a:latin typeface="Times New Roman" panose="02020603050405020304" pitchFamily="18" charset="0"/>
                    <a:cs typeface="Times New Roman" panose="02020603050405020304" pitchFamily="18" charset="0"/>
                  </a:rPr>
                  <a:t>divided into smaller units</a:t>
                </a:r>
                <a:r>
                  <a:rPr lang="en-US" sz="2600" dirty="0">
                    <a:latin typeface="Times New Roman" panose="02020603050405020304" pitchFamily="18" charset="0"/>
                    <a:cs typeface="Times New Roman" panose="02020603050405020304" pitchFamily="18" charset="0"/>
                  </a:rPr>
                  <a:t>, such as </a:t>
                </a:r>
                <a:r>
                  <a:rPr lang="en-US" sz="2600" b="1" dirty="0">
                    <a:latin typeface="Times New Roman" panose="02020603050405020304" pitchFamily="18" charset="0"/>
                    <a:cs typeface="Times New Roman" panose="02020603050405020304" pitchFamily="18" charset="0"/>
                  </a:rPr>
                  <a:t>pages or segments</a:t>
                </a:r>
                <a:r>
                  <a:rPr lang="en-US" sz="26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These units are stored in </a:t>
                </a:r>
                <a:r>
                  <a:rPr lang="en-US" sz="2600" b="1" dirty="0">
                    <a:latin typeface="Times New Roman" panose="02020603050405020304" pitchFamily="18" charset="0"/>
                    <a:cs typeface="Times New Roman" panose="02020603050405020304" pitchFamily="18" charset="0"/>
                  </a:rPr>
                  <a:t>different free blocks (frames)</a:t>
                </a:r>
                <a:r>
                  <a:rPr lang="en-US" sz="2600" dirty="0">
                    <a:latin typeface="Times New Roman" panose="02020603050405020304" pitchFamily="18" charset="0"/>
                    <a:cs typeface="Times New Roman" panose="02020603050405020304" pitchFamily="18" charset="0"/>
                  </a:rPr>
                  <a:t> of main memory that are </a:t>
                </a:r>
                <a:r>
                  <a:rPr lang="en-US" sz="2600" b="1" dirty="0">
                    <a:latin typeface="Times New Roman" panose="02020603050405020304" pitchFamily="18" charset="0"/>
                    <a:cs typeface="Times New Roman" panose="02020603050405020304" pitchFamily="18" charset="0"/>
                  </a:rPr>
                  <a:t>not necessarily consecutive</a:t>
                </a:r>
                <a:r>
                  <a:rPr lang="en-US" sz="26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operating system maintains the mapping between logical and physical memory using </a:t>
                </a:r>
                <a:r>
                  <a:rPr lang="en-US" sz="2600" b="1" dirty="0">
                    <a:latin typeface="Times New Roman" panose="02020603050405020304" pitchFamily="18" charset="0"/>
                    <a:cs typeface="Times New Roman" panose="02020603050405020304" pitchFamily="18" charset="0"/>
                  </a:rPr>
                  <a:t>page tables or segment tables</a:t>
                </a:r>
                <a:r>
                  <a:rPr lang="en-US" sz="26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To manage these scattered memory blocks: </a:t>
                </a:r>
                <a:r>
                  <a:rPr lang="en-US" sz="2600" b="1" dirty="0">
                    <a:latin typeface="Times New Roman" panose="02020603050405020304" pitchFamily="18" charset="0"/>
                    <a:cs typeface="Times New Roman" panose="02020603050405020304" pitchFamily="18" charset="0"/>
                  </a:rPr>
                  <a:t>Pointers</a:t>
                </a:r>
                <a:r>
                  <a:rPr lang="en-US" sz="2600" dirty="0">
                    <a:latin typeface="Times New Roman" panose="02020603050405020304" pitchFamily="18" charset="0"/>
                    <a:cs typeface="Times New Roman" panose="02020603050405020304" pitchFamily="18" charset="0"/>
                  </a:rPr>
                  <a:t> are used to link the non-contiguous memory blocks allocated to a process.</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These pointers help the operating system </a:t>
                </a:r>
                <a:r>
                  <a:rPr lang="en-US" sz="2600" b="1" dirty="0">
                    <a:latin typeface="Times New Roman" panose="02020603050405020304" pitchFamily="18" charset="0"/>
                    <a:cs typeface="Times New Roman" panose="02020603050405020304" pitchFamily="18" charset="0"/>
                  </a:rPr>
                  <a:t>track and locate</a:t>
                </a:r>
                <a:r>
                  <a:rPr lang="en-US" sz="2600" dirty="0">
                    <a:latin typeface="Times New Roman" panose="02020603050405020304" pitchFamily="18" charset="0"/>
                    <a:cs typeface="Times New Roman" panose="02020603050405020304" pitchFamily="18" charset="0"/>
                  </a:rPr>
                  <a:t> all parts of the process during execution.</a:t>
                </a:r>
              </a:p>
            </p:txBody>
          </p:sp>
        </mc:Choice>
        <mc:Fallback xmlns="">
          <p:sp>
            <p:nvSpPr>
              <p:cNvPr id="7" name="TextBox 6">
                <a:extLst>
                  <a:ext uri="{FF2B5EF4-FFF2-40B4-BE49-F238E27FC236}">
                    <a16:creationId xmlns:a16="http://schemas.microsoft.com/office/drawing/2014/main" id="{64778DF2-F680-0AC2-DBA0-980785FBADE6}"/>
                  </a:ext>
                </a:extLst>
              </p:cNvPr>
              <p:cNvSpPr txBox="1">
                <a:spLocks noRot="1" noChangeAspect="1" noMove="1" noResize="1" noEditPoints="1" noAdjustHandles="1" noChangeArrowheads="1" noChangeShapeType="1" noTextEdit="1"/>
              </p:cNvSpPr>
              <p:nvPr/>
            </p:nvSpPr>
            <p:spPr>
              <a:xfrm>
                <a:off x="857567" y="1064534"/>
                <a:ext cx="10476865" cy="5693866"/>
              </a:xfrm>
              <a:prstGeom prst="rect">
                <a:avLst/>
              </a:prstGeom>
              <a:blipFill>
                <a:blip r:embed="rId3"/>
                <a:stretch>
                  <a:fillRect l="-931" t="-1071" r="-1106" b="-1713"/>
                </a:stretch>
              </a:blipFill>
            </p:spPr>
            <p:txBody>
              <a:bodyPr/>
              <a:lstStyle/>
              <a:p>
                <a:r>
                  <a:rPr lang="en-PK">
                    <a:noFill/>
                  </a:rPr>
                  <a:t> </a:t>
                </a:r>
              </a:p>
            </p:txBody>
          </p:sp>
        </mc:Fallback>
      </mc:AlternateContent>
    </p:spTree>
    <p:extLst>
      <p:ext uri="{BB962C8B-B14F-4D97-AF65-F5344CB8AC3E}">
        <p14:creationId xmlns:p14="http://schemas.microsoft.com/office/powerpoint/2010/main" val="4026442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0C07E-849E-DAC9-75CE-7E86FD73C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5F6DE4-1838-0555-755E-77F98F28224C}"/>
              </a:ext>
            </a:extLst>
          </p:cNvPr>
          <p:cNvSpPr txBox="1">
            <a:spLocks/>
          </p:cNvSpPr>
          <p:nvPr/>
        </p:nvSpPr>
        <p:spPr>
          <a:xfrm>
            <a:off x="609600" y="410479"/>
            <a:ext cx="10630535"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endParaRPr lang="en-US" sz="3600" b="1" dirty="0">
              <a:solidFill>
                <a:srgbClr val="0070C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58DAEE9-2D12-2180-B06F-D63E538DF799}"/>
              </a:ext>
            </a:extLst>
          </p:cNvPr>
          <p:cNvPicPr>
            <a:picLocks noChangeAspect="1"/>
          </p:cNvPicPr>
          <p:nvPr/>
        </p:nvPicPr>
        <p:blipFill>
          <a:blip r:embed="rId3"/>
          <a:stretch>
            <a:fillRect/>
          </a:stretch>
        </p:blipFill>
        <p:spPr>
          <a:xfrm>
            <a:off x="899390" y="422251"/>
            <a:ext cx="10393220" cy="6025270"/>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4">
            <p14:nvContentPartPr>
              <p14:cNvPr id="8" name="Ink 7">
                <a:extLst>
                  <a:ext uri="{FF2B5EF4-FFF2-40B4-BE49-F238E27FC236}">
                    <a16:creationId xmlns:a16="http://schemas.microsoft.com/office/drawing/2014/main" id="{9483AAFD-247B-E531-87CF-069B9EB3DF26}"/>
                  </a:ext>
                </a:extLst>
              </p14:cNvPr>
              <p14:cNvContentPartPr/>
              <p14:nvPr/>
            </p14:nvContentPartPr>
            <p14:xfrm>
              <a:off x="4876500" y="1104820"/>
              <a:ext cx="360" cy="360"/>
            </p14:xfrm>
          </p:contentPart>
        </mc:Choice>
        <mc:Fallback xmlns="">
          <p:pic>
            <p:nvPicPr>
              <p:cNvPr id="8" name="Ink 7">
                <a:extLst>
                  <a:ext uri="{FF2B5EF4-FFF2-40B4-BE49-F238E27FC236}">
                    <a16:creationId xmlns:a16="http://schemas.microsoft.com/office/drawing/2014/main" id="{9483AAFD-247B-E531-87CF-069B9EB3DF26}"/>
                  </a:ext>
                </a:extLst>
              </p:cNvPr>
              <p:cNvPicPr/>
              <p:nvPr/>
            </p:nvPicPr>
            <p:blipFill>
              <a:blip r:embed="rId5"/>
              <a:stretch>
                <a:fillRect/>
              </a:stretch>
            </p:blipFill>
            <p:spPr>
              <a:xfrm>
                <a:off x="4867500" y="1050820"/>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9" name="Ink 8">
                <a:extLst>
                  <a:ext uri="{FF2B5EF4-FFF2-40B4-BE49-F238E27FC236}">
                    <a16:creationId xmlns:a16="http://schemas.microsoft.com/office/drawing/2014/main" id="{5DA65F8D-5BD9-F57C-21DB-B4886EA1A927}"/>
                  </a:ext>
                </a:extLst>
              </p14:cNvPr>
              <p14:cNvContentPartPr/>
              <p14:nvPr/>
            </p14:nvContentPartPr>
            <p14:xfrm>
              <a:off x="4051380" y="2819140"/>
              <a:ext cx="360" cy="360"/>
            </p14:xfrm>
          </p:contentPart>
        </mc:Choice>
        <mc:Fallback xmlns="">
          <p:pic>
            <p:nvPicPr>
              <p:cNvPr id="9" name="Ink 8">
                <a:extLst>
                  <a:ext uri="{FF2B5EF4-FFF2-40B4-BE49-F238E27FC236}">
                    <a16:creationId xmlns:a16="http://schemas.microsoft.com/office/drawing/2014/main" id="{5DA65F8D-5BD9-F57C-21DB-B4886EA1A927}"/>
                  </a:ext>
                </a:extLst>
              </p:cNvPr>
              <p:cNvPicPr/>
              <p:nvPr/>
            </p:nvPicPr>
            <p:blipFill>
              <a:blip r:embed="rId7"/>
              <a:stretch>
                <a:fillRect/>
              </a:stretch>
            </p:blipFill>
            <p:spPr>
              <a:xfrm>
                <a:off x="4042380" y="2765140"/>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10" name="Ink 9">
                <a:extLst>
                  <a:ext uri="{FF2B5EF4-FFF2-40B4-BE49-F238E27FC236}">
                    <a16:creationId xmlns:a16="http://schemas.microsoft.com/office/drawing/2014/main" id="{D602B575-69CE-C312-4B58-423F69E9ACB1}"/>
                  </a:ext>
                </a:extLst>
              </p14:cNvPr>
              <p14:cNvContentPartPr/>
              <p14:nvPr/>
            </p14:nvContentPartPr>
            <p14:xfrm>
              <a:off x="-826260" y="2920400"/>
              <a:ext cx="360" cy="360"/>
            </p14:xfrm>
          </p:contentPart>
        </mc:Choice>
        <mc:Fallback xmlns="">
          <p:pic>
            <p:nvPicPr>
              <p:cNvPr id="10" name="Ink 9">
                <a:extLst>
                  <a:ext uri="{FF2B5EF4-FFF2-40B4-BE49-F238E27FC236}">
                    <a16:creationId xmlns:a16="http://schemas.microsoft.com/office/drawing/2014/main" id="{D602B575-69CE-C312-4B58-423F69E9ACB1}"/>
                  </a:ext>
                </a:extLst>
              </p:cNvPr>
              <p:cNvPicPr/>
              <p:nvPr/>
            </p:nvPicPr>
            <p:blipFill>
              <a:blip r:embed="rId9"/>
              <a:stretch>
                <a:fillRect/>
              </a:stretch>
            </p:blipFill>
            <p:spPr>
              <a:xfrm>
                <a:off x="-834900" y="2866760"/>
                <a:ext cx="1800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A575EAF3-1F4D-0DB7-1AE2-9C3E5CD64121}"/>
                  </a:ext>
                </a:extLst>
              </p14:cNvPr>
              <p14:cNvContentPartPr/>
              <p14:nvPr/>
            </p14:nvContentPartPr>
            <p14:xfrm>
              <a:off x="6206969" y="1199369"/>
              <a:ext cx="5139720" cy="5502600"/>
            </p14:xfrm>
          </p:contentPart>
        </mc:Choice>
        <mc:Fallback xmlns="">
          <p:pic>
            <p:nvPicPr>
              <p:cNvPr id="11" name="Ink 10">
                <a:extLst>
                  <a:ext uri="{FF2B5EF4-FFF2-40B4-BE49-F238E27FC236}">
                    <a16:creationId xmlns:a16="http://schemas.microsoft.com/office/drawing/2014/main" id="{A575EAF3-1F4D-0DB7-1AE2-9C3E5CD64121}"/>
                  </a:ext>
                </a:extLst>
              </p:cNvPr>
              <p:cNvPicPr/>
              <p:nvPr/>
            </p:nvPicPr>
            <p:blipFill>
              <a:blip r:embed="rId11"/>
              <a:stretch>
                <a:fillRect/>
              </a:stretch>
            </p:blipFill>
            <p:spPr>
              <a:xfrm>
                <a:off x="6200849" y="1193249"/>
                <a:ext cx="5151960" cy="5514840"/>
              </a:xfrm>
              <a:prstGeom prst="rect">
                <a:avLst/>
              </a:prstGeom>
            </p:spPr>
          </p:pic>
        </mc:Fallback>
      </mc:AlternateContent>
    </p:spTree>
    <p:extLst>
      <p:ext uri="{BB962C8B-B14F-4D97-AF65-F5344CB8AC3E}">
        <p14:creationId xmlns:p14="http://schemas.microsoft.com/office/powerpoint/2010/main" val="907588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F38C1-CF08-BC84-1E16-A2BDAF9BAD4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53318E5-EE2D-E050-B867-17ACD26D0F7C}"/>
              </a:ext>
            </a:extLst>
          </p:cNvPr>
          <p:cNvPicPr>
            <a:picLocks noChangeAspect="1"/>
          </p:cNvPicPr>
          <p:nvPr/>
        </p:nvPicPr>
        <p:blipFill>
          <a:blip r:embed="rId2">
            <a:duotone>
              <a:prstClr val="black"/>
              <a:srgbClr val="D9C3A5">
                <a:tint val="50000"/>
                <a:satMod val="180000"/>
              </a:srgbClr>
            </a:duotone>
          </a:blip>
          <a:stretch>
            <a:fillRect/>
          </a:stretch>
        </p:blipFill>
        <p:spPr>
          <a:xfrm>
            <a:off x="6355722" y="4199883"/>
            <a:ext cx="5701600" cy="2572193"/>
          </a:xfrm>
          <a:prstGeom prst="rect">
            <a:avLst/>
          </a:prstGeom>
        </p:spPr>
      </p:pic>
      <p:sp>
        <p:nvSpPr>
          <p:cNvPr id="6" name="TextBox 5">
            <a:extLst>
              <a:ext uri="{FF2B5EF4-FFF2-40B4-BE49-F238E27FC236}">
                <a16:creationId xmlns:a16="http://schemas.microsoft.com/office/drawing/2014/main" id="{0521A192-2AD7-F0EB-5A44-7BC2F6F70502}"/>
              </a:ext>
            </a:extLst>
          </p:cNvPr>
          <p:cNvSpPr txBox="1"/>
          <p:nvPr/>
        </p:nvSpPr>
        <p:spPr>
          <a:xfrm>
            <a:off x="482010" y="303626"/>
            <a:ext cx="11227980" cy="4708981"/>
          </a:xfrm>
          <a:prstGeom prst="rect">
            <a:avLst/>
          </a:prstGeom>
          <a:noFill/>
        </p:spPr>
        <p:txBody>
          <a:bodyPr wrap="square">
            <a:spAutoFit/>
          </a:bodyPr>
          <a:lstStyle/>
          <a:p>
            <a:pPr algn="just">
              <a:buNone/>
            </a:pPr>
            <a:r>
              <a:rPr lang="en-US" sz="2000" b="1" dirty="0">
                <a:latin typeface="Times New Roman" panose="02020603050405020304" pitchFamily="18" charset="0"/>
                <a:cs typeface="Times New Roman" panose="02020603050405020304" pitchFamily="18" charset="0"/>
              </a:rPr>
              <a:t>1. Paging</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Paging divides a process into </a:t>
            </a:r>
            <a:r>
              <a:rPr lang="en-US" sz="2000" b="1" dirty="0">
                <a:latin typeface="Times New Roman" panose="02020603050405020304" pitchFamily="18" charset="0"/>
                <a:cs typeface="Times New Roman" panose="02020603050405020304" pitchFamily="18" charset="0"/>
              </a:rPr>
              <a:t>fixed-size pages</a:t>
            </a:r>
            <a:r>
              <a:rPr lang="en-US" sz="2000" dirty="0">
                <a:latin typeface="Times New Roman" panose="02020603050405020304" pitchFamily="18" charset="0"/>
                <a:cs typeface="Times New Roman" panose="02020603050405020304" pitchFamily="18" charset="0"/>
              </a:rPr>
              <a:t> and maps them to </a:t>
            </a:r>
            <a:r>
              <a:rPr lang="en-US" sz="2000" b="1" dirty="0">
                <a:latin typeface="Times New Roman" panose="02020603050405020304" pitchFamily="18" charset="0"/>
                <a:cs typeface="Times New Roman" panose="02020603050405020304" pitchFamily="18" charset="0"/>
              </a:rPr>
              <a:t>fixed-size memory frames</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Its primary objective is to </a:t>
            </a:r>
            <a:r>
              <a:rPr lang="en-US" sz="2000" b="1" dirty="0">
                <a:latin typeface="Times New Roman" panose="02020603050405020304" pitchFamily="18" charset="0"/>
                <a:cs typeface="Times New Roman" panose="02020603050405020304" pitchFamily="18" charset="0"/>
              </a:rPr>
              <a:t>eliminate external fragmentation</a:t>
            </a:r>
            <a:r>
              <a:rPr lang="en-US" sz="2000" dirty="0">
                <a:latin typeface="Times New Roman" panose="02020603050405020304" pitchFamily="18" charset="0"/>
                <a:cs typeface="Times New Roman" panose="02020603050405020304" pitchFamily="18" charset="0"/>
              </a:rPr>
              <a:t> by allowing non-contiguous allocation of pages in physical memory. </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However, paging </a:t>
            </a:r>
            <a:r>
              <a:rPr lang="en-US" sz="2000" b="1" dirty="0">
                <a:latin typeface="Times New Roman" panose="02020603050405020304" pitchFamily="18" charset="0"/>
                <a:cs typeface="Times New Roman" panose="02020603050405020304" pitchFamily="18" charset="0"/>
              </a:rPr>
              <a:t>may suffer from internal fragmentation</a:t>
            </a:r>
            <a:r>
              <a:rPr lang="en-US" sz="2000" dirty="0">
                <a:latin typeface="Times New Roman" panose="02020603050405020304" pitchFamily="18" charset="0"/>
                <a:cs typeface="Times New Roman" panose="02020603050405020304" pitchFamily="18" charset="0"/>
              </a:rPr>
              <a:t> if the last page is not completely filled.</a:t>
            </a:r>
          </a:p>
          <a:p>
            <a:pPr algn="just">
              <a:buNone/>
            </a:pPr>
            <a:r>
              <a:rPr lang="en-US" sz="2000" dirty="0">
                <a:latin typeface="Times New Roman" panose="02020603050405020304" pitchFamily="18" charset="0"/>
                <a:cs typeface="Times New Roman" panose="02020603050405020304" pitchFamily="18" charset="0"/>
              </a:rPr>
              <a:t>2. </a:t>
            </a:r>
            <a:r>
              <a:rPr lang="en-US" sz="2000" b="1" dirty="0">
                <a:latin typeface="Times New Roman" panose="02020603050405020304" pitchFamily="18" charset="0"/>
                <a:cs typeface="Times New Roman" panose="02020603050405020304" pitchFamily="18" charset="0"/>
              </a:rPr>
              <a:t>Segmentation</a:t>
            </a:r>
            <a:r>
              <a:rPr lang="en-US" sz="2000" dirty="0">
                <a:latin typeface="Times New Roman" panose="02020603050405020304" pitchFamily="18" charset="0"/>
                <a:cs typeface="Times New Roman" panose="02020603050405020304" pitchFamily="18" charset="0"/>
              </a:rPr>
              <a:t> </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divides a process into </a:t>
            </a:r>
            <a:r>
              <a:rPr lang="en-US" sz="2000" b="1" dirty="0">
                <a:latin typeface="Times New Roman" panose="02020603050405020304" pitchFamily="18" charset="0"/>
                <a:cs typeface="Times New Roman" panose="02020603050405020304" pitchFamily="18" charset="0"/>
              </a:rPr>
              <a:t>variable-sized logical segments</a:t>
            </a:r>
            <a:r>
              <a:rPr lang="en-US" sz="2000" dirty="0">
                <a:latin typeface="Times New Roman" panose="02020603050405020304" pitchFamily="18" charset="0"/>
                <a:cs typeface="Times New Roman" panose="02020603050405020304" pitchFamily="18" charset="0"/>
              </a:rPr>
              <a:t>, such as </a:t>
            </a:r>
            <a:r>
              <a:rPr lang="en-US" sz="2000" b="1" dirty="0">
                <a:latin typeface="Times New Roman" panose="02020603050405020304" pitchFamily="18" charset="0"/>
                <a:cs typeface="Times New Roman" panose="02020603050405020304" pitchFamily="18" charset="0"/>
              </a:rPr>
              <a:t>code, data, and stack</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It supports </a:t>
            </a:r>
            <a:r>
              <a:rPr lang="en-US" sz="2000" b="1" dirty="0">
                <a:latin typeface="Times New Roman" panose="02020603050405020304" pitchFamily="18" charset="0"/>
                <a:cs typeface="Times New Roman" panose="02020603050405020304" pitchFamily="18" charset="0"/>
              </a:rPr>
              <a:t>logical organization</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memory protection</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sharing</a:t>
            </a:r>
            <a:r>
              <a:rPr lang="en-US" sz="2000" dirty="0">
                <a:latin typeface="Times New Roman" panose="02020603050405020304" pitchFamily="18" charset="0"/>
                <a:cs typeface="Times New Roman" panose="02020603050405020304" pitchFamily="18" charset="0"/>
              </a:rPr>
              <a:t>, as each segment represents a meaningful program unit. </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Segmentation </a:t>
            </a:r>
            <a:r>
              <a:rPr lang="en-US" sz="2000" b="1" dirty="0">
                <a:latin typeface="Times New Roman" panose="02020603050405020304" pitchFamily="18" charset="0"/>
                <a:cs typeface="Times New Roman" panose="02020603050405020304" pitchFamily="18" charset="0"/>
              </a:rPr>
              <a:t>may suffer from external fragmentation</a:t>
            </a:r>
            <a:r>
              <a:rPr lang="en-US" sz="2000" dirty="0">
                <a:latin typeface="Times New Roman" panose="02020603050405020304" pitchFamily="18" charset="0"/>
                <a:cs typeface="Times New Roman" panose="02020603050405020304" pitchFamily="18" charset="0"/>
              </a:rPr>
              <a:t> due to variable-sized segment allocation.</a:t>
            </a:r>
          </a:p>
          <a:p>
            <a:pPr algn="just"/>
            <a:r>
              <a:rPr lang="en-US" sz="2000" b="1" dirty="0">
                <a:latin typeface="Times New Roman" panose="02020603050405020304" pitchFamily="18" charset="0"/>
                <a:cs typeface="Times New Roman" panose="02020603050405020304" pitchFamily="18" charset="0"/>
              </a:rPr>
              <a:t>3. Segmented Paging</a:t>
            </a:r>
          </a:p>
          <a:p>
            <a:pPr lvl="1" algn="just"/>
            <a:r>
              <a:rPr lang="en-US" sz="2000" dirty="0">
                <a:latin typeface="Times New Roman" panose="02020603050405020304" pitchFamily="18" charset="0"/>
                <a:cs typeface="Times New Roman" panose="02020603050405020304" pitchFamily="18" charset="0"/>
              </a:rPr>
              <a:t>Segmented paging is a </a:t>
            </a:r>
            <a:r>
              <a:rPr lang="en-US" sz="2000" b="1" dirty="0">
                <a:latin typeface="Times New Roman" panose="02020603050405020304" pitchFamily="18" charset="0"/>
                <a:cs typeface="Times New Roman" panose="02020603050405020304" pitchFamily="18" charset="0"/>
              </a:rPr>
              <a:t>hybrid memory management technique</a:t>
            </a:r>
            <a:r>
              <a:rPr lang="en-US" sz="2000" dirty="0">
                <a:latin typeface="Times New Roman" panose="02020603050405020304" pitchFamily="18" charset="0"/>
                <a:cs typeface="Times New Roman" panose="02020603050405020304" pitchFamily="18" charset="0"/>
              </a:rPr>
              <a:t> that:</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Divides a process into </a:t>
            </a:r>
            <a:r>
              <a:rPr lang="en-US" sz="2000" b="1" dirty="0">
                <a:latin typeface="Times New Roman" panose="02020603050405020304" pitchFamily="18" charset="0"/>
                <a:cs typeface="Times New Roman" panose="02020603050405020304" pitchFamily="18" charset="0"/>
              </a:rPr>
              <a:t>logical segments</a:t>
            </a:r>
            <a:r>
              <a:rPr lang="en-US" sz="2000" dirty="0">
                <a:latin typeface="Times New Roman" panose="02020603050405020304" pitchFamily="18" charset="0"/>
                <a:cs typeface="Times New Roman" panose="02020603050405020304" pitchFamily="18" charset="0"/>
              </a:rPr>
              <a:t>, and</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Further divides each segment into </a:t>
            </a:r>
            <a:r>
              <a:rPr lang="en-US" sz="2000" b="1" dirty="0">
                <a:latin typeface="Times New Roman" panose="02020603050405020304" pitchFamily="18" charset="0"/>
                <a:cs typeface="Times New Roman" panose="02020603050405020304" pitchFamily="18" charset="0"/>
              </a:rPr>
              <a:t>fixed-size pages</a:t>
            </a:r>
            <a:r>
              <a:rPr lang="en-US" sz="2000" dirty="0">
                <a:latin typeface="Times New Roman" panose="02020603050405020304" pitchFamily="18" charset="0"/>
                <a:cs typeface="Times New Roman" panose="02020603050405020304" pitchFamily="18" charset="0"/>
              </a:rPr>
              <a:t>.</a:t>
            </a:r>
          </a:p>
          <a:p>
            <a:pPr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6353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03E0A-BC03-6560-15D9-BCCC93A30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FCC84-E8AA-402B-C602-196016800C22}"/>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 Non - Contiguous Memory Allocation </a:t>
            </a:r>
          </a:p>
        </p:txBody>
      </p:sp>
      <p:pic>
        <p:nvPicPr>
          <p:cNvPr id="4" name="Picture 3">
            <a:extLst>
              <a:ext uri="{FF2B5EF4-FFF2-40B4-BE49-F238E27FC236}">
                <a16:creationId xmlns:a16="http://schemas.microsoft.com/office/drawing/2014/main" id="{30FF6D7D-90B5-D4DC-EF72-2A84BA642EDF}"/>
              </a:ext>
            </a:extLst>
          </p:cNvPr>
          <p:cNvPicPr>
            <a:picLocks noChangeAspect="1"/>
          </p:cNvPicPr>
          <p:nvPr/>
        </p:nvPicPr>
        <p:blipFill>
          <a:blip r:embed="rId3"/>
          <a:stretch>
            <a:fillRect/>
          </a:stretch>
        </p:blipFill>
        <p:spPr>
          <a:xfrm>
            <a:off x="2227078" y="1024269"/>
            <a:ext cx="7427285" cy="3611699"/>
          </a:xfrm>
          <a:prstGeom prst="rect">
            <a:avLst/>
          </a:prstGeom>
        </p:spPr>
      </p:pic>
      <p:sp>
        <p:nvSpPr>
          <p:cNvPr id="6" name="TextBox 5">
            <a:extLst>
              <a:ext uri="{FF2B5EF4-FFF2-40B4-BE49-F238E27FC236}">
                <a16:creationId xmlns:a16="http://schemas.microsoft.com/office/drawing/2014/main" id="{EB1E20F8-7A69-C575-4D0E-684705C16CA6}"/>
              </a:ext>
            </a:extLst>
          </p:cNvPr>
          <p:cNvSpPr txBox="1"/>
          <p:nvPr/>
        </p:nvSpPr>
        <p:spPr>
          <a:xfrm>
            <a:off x="1118633" y="4919811"/>
            <a:ext cx="9954733" cy="1569660"/>
          </a:xfrm>
          <a:prstGeom prst="rect">
            <a:avLst/>
          </a:prstGeom>
          <a:noFill/>
        </p:spPr>
        <p:txBody>
          <a:bodyPr wrap="square">
            <a:spAutoFit/>
          </a:bodyPr>
          <a:lstStyle/>
          <a:p>
            <a:r>
              <a:rPr lang="en-US" sz="2400" b="1" i="1" dirty="0">
                <a:solidFill>
                  <a:srgbClr val="273239"/>
                </a:solidFill>
                <a:effectLst/>
                <a:latin typeface="Times New Roman" panose="02020603050405020304" pitchFamily="18" charset="0"/>
                <a:cs typeface="Times New Roman" panose="02020603050405020304" pitchFamily="18" charset="0"/>
              </a:rPr>
              <a:t>Challenge: </a:t>
            </a:r>
          </a:p>
          <a:p>
            <a:pPr algn="ctr"/>
            <a:r>
              <a:rPr lang="en-US" sz="2400" b="0" i="1" dirty="0">
                <a:solidFill>
                  <a:srgbClr val="273239"/>
                </a:solidFill>
                <a:effectLst/>
                <a:latin typeface="Times New Roman" panose="02020603050405020304" pitchFamily="18" charset="0"/>
                <a:cs typeface="Times New Roman" panose="02020603050405020304" pitchFamily="18" charset="0"/>
              </a:rPr>
              <a:t>Dividing processes dynamically based on changing free space is time-consuming as their sizes changing every time due to execution of already present processes in main memory.</a:t>
            </a:r>
            <a:endParaRPr lang="en-PK"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0326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4BD9D-EE93-B795-0338-FA6175485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64B47-3A76-F644-01F5-9BA733DE0418}"/>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 Non - Contiguous Memory Allocation </a:t>
            </a:r>
          </a:p>
        </p:txBody>
      </p:sp>
      <p:sp>
        <p:nvSpPr>
          <p:cNvPr id="6" name="TextBox 5">
            <a:extLst>
              <a:ext uri="{FF2B5EF4-FFF2-40B4-BE49-F238E27FC236}">
                <a16:creationId xmlns:a16="http://schemas.microsoft.com/office/drawing/2014/main" id="{54156CA4-9821-8ED1-42EA-2BDBE31B4D08}"/>
              </a:ext>
            </a:extLst>
          </p:cNvPr>
          <p:cNvSpPr txBox="1"/>
          <p:nvPr/>
        </p:nvSpPr>
        <p:spPr>
          <a:xfrm>
            <a:off x="951865" y="1187783"/>
            <a:ext cx="10084730" cy="2677656"/>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order to avoid this time-consuming process, we divide our process in secondary memory in advance before reaching the main memory for its execution.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Every process is divided into various parts of equal size called </a:t>
            </a:r>
            <a:r>
              <a:rPr lang="en-US" sz="2400" b="1" dirty="0">
                <a:latin typeface="Times New Roman" panose="02020603050405020304" pitchFamily="18" charset="0"/>
                <a:cs typeface="Times New Roman" panose="02020603050405020304" pitchFamily="18" charset="0"/>
              </a:rPr>
              <a:t>Pages.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We also divide our main memory into different parts of equal size called </a:t>
            </a:r>
            <a:r>
              <a:rPr lang="en-US" sz="2400" b="1" dirty="0">
                <a:latin typeface="Times New Roman" panose="02020603050405020304" pitchFamily="18" charset="0"/>
                <a:cs typeface="Times New Roman" panose="02020603050405020304" pitchFamily="18" charset="0"/>
              </a:rPr>
              <a:t>Frames. </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It is important to understand that: </a:t>
            </a:r>
            <a:endParaRPr lang="en-PK"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BB27660-EBBC-9F76-D30F-5CD673B9D18E}"/>
              </a:ext>
            </a:extLst>
          </p:cNvPr>
          <p:cNvPicPr>
            <a:picLocks noChangeAspect="1"/>
          </p:cNvPicPr>
          <p:nvPr/>
        </p:nvPicPr>
        <p:blipFill>
          <a:blip r:embed="rId3"/>
          <a:stretch>
            <a:fillRect/>
          </a:stretch>
        </p:blipFill>
        <p:spPr>
          <a:xfrm>
            <a:off x="5784665" y="3293939"/>
            <a:ext cx="4429125" cy="571500"/>
          </a:xfrm>
          <a:prstGeom prst="rect">
            <a:avLst/>
          </a:prstGeom>
        </p:spPr>
      </p:pic>
      <p:pic>
        <p:nvPicPr>
          <p:cNvPr id="8" name="Picture 7">
            <a:extLst>
              <a:ext uri="{FF2B5EF4-FFF2-40B4-BE49-F238E27FC236}">
                <a16:creationId xmlns:a16="http://schemas.microsoft.com/office/drawing/2014/main" id="{EAD68AAF-FF7A-1B6D-6919-3B352D6FC5B0}"/>
              </a:ext>
            </a:extLst>
          </p:cNvPr>
          <p:cNvPicPr>
            <a:picLocks noChangeAspect="1"/>
          </p:cNvPicPr>
          <p:nvPr/>
        </p:nvPicPr>
        <p:blipFill>
          <a:blip r:embed="rId4"/>
          <a:stretch>
            <a:fillRect/>
          </a:stretch>
        </p:blipFill>
        <p:spPr>
          <a:xfrm>
            <a:off x="3066800" y="3838833"/>
            <a:ext cx="5435730" cy="2704262"/>
          </a:xfrm>
          <a:prstGeom prst="rect">
            <a:avLst/>
          </a:prstGeom>
        </p:spPr>
      </p:pic>
    </p:spTree>
    <p:extLst>
      <p:ext uri="{BB962C8B-B14F-4D97-AF65-F5344CB8AC3E}">
        <p14:creationId xmlns:p14="http://schemas.microsoft.com/office/powerpoint/2010/main" val="1626004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5BD44-F061-8D22-B9CB-ACF553794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CE5097-6A04-F7AA-5F72-14A15B0C02FA}"/>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PAGING</a:t>
            </a:r>
          </a:p>
        </p:txBody>
      </p:sp>
      <p:sp>
        <p:nvSpPr>
          <p:cNvPr id="6" name="TextBox 5">
            <a:extLst>
              <a:ext uri="{FF2B5EF4-FFF2-40B4-BE49-F238E27FC236}">
                <a16:creationId xmlns:a16="http://schemas.microsoft.com/office/drawing/2014/main" id="{68FD375D-0815-A9C5-64BF-ECE888444110}"/>
              </a:ext>
            </a:extLst>
          </p:cNvPr>
          <p:cNvSpPr txBox="1"/>
          <p:nvPr/>
        </p:nvSpPr>
        <p:spPr>
          <a:xfrm>
            <a:off x="951865" y="1018506"/>
            <a:ext cx="10084730" cy="5693866"/>
          </a:xfrm>
          <a:prstGeom prst="rect">
            <a:avLst/>
          </a:prstGeom>
          <a:noFill/>
        </p:spPr>
        <p:txBody>
          <a:bodyPr wrap="square">
            <a:spAutoFit/>
          </a:bodyPr>
          <a:lstStyle/>
          <a:p>
            <a:pPr marL="342900" indent="-342900" algn="just">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Paging</a:t>
            </a:r>
            <a:r>
              <a:rPr lang="en-US" sz="2600" dirty="0">
                <a:latin typeface="Times New Roman" panose="02020603050405020304" pitchFamily="18" charset="0"/>
                <a:cs typeface="Times New Roman" panose="02020603050405020304" pitchFamily="18" charset="0"/>
              </a:rPr>
              <a:t> is a memory management technique in which a process is divided into </a:t>
            </a:r>
            <a:r>
              <a:rPr lang="en-US" sz="2600" b="1" dirty="0">
                <a:latin typeface="Times New Roman" panose="02020603050405020304" pitchFamily="18" charset="0"/>
                <a:cs typeface="Times New Roman" panose="02020603050405020304" pitchFamily="18" charset="0"/>
              </a:rPr>
              <a:t>fixed-size blocks called pages</a:t>
            </a:r>
            <a:r>
              <a:rPr lang="en-US" sz="2600" dirty="0">
                <a:latin typeface="Times New Roman" panose="02020603050405020304" pitchFamily="18" charset="0"/>
                <a:cs typeface="Times New Roman" panose="02020603050405020304" pitchFamily="18" charset="0"/>
              </a:rPr>
              <a:t>, and the main memory (RAM) is divided into </a:t>
            </a:r>
            <a:r>
              <a:rPr lang="en-US" sz="2600" b="1" dirty="0">
                <a:latin typeface="Times New Roman" panose="02020603050405020304" pitchFamily="18" charset="0"/>
                <a:cs typeface="Times New Roman" panose="02020603050405020304" pitchFamily="18" charset="0"/>
              </a:rPr>
              <a:t>fixed-size blocks called frames</a:t>
            </a:r>
            <a:r>
              <a:rPr lang="en-US" sz="2600" dirty="0">
                <a:latin typeface="Times New Roman" panose="02020603050405020304" pitchFamily="18" charset="0"/>
                <a:cs typeface="Times New Roman" panose="02020603050405020304" pitchFamily="18" charset="0"/>
              </a:rPr>
              <a:t>. Pages of a process are mapped to any available frames in physical memory.</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A process </a:t>
            </a:r>
            <a:r>
              <a:rPr lang="en-US" sz="2600" b="1" dirty="0">
                <a:latin typeface="Times New Roman" panose="02020603050405020304" pitchFamily="18" charset="0"/>
                <a:cs typeface="Times New Roman" panose="02020603050405020304" pitchFamily="18" charset="0"/>
              </a:rPr>
              <a:t>does not need to be allocated contiguous memory</a:t>
            </a:r>
            <a:r>
              <a:rPr lang="en-US" sz="2600" dirty="0">
                <a:latin typeface="Times New Roman" panose="02020603050405020304" pitchFamily="18" charset="0"/>
                <a:cs typeface="Times New Roman" panose="02020603050405020304" pitchFamily="18" charset="0"/>
              </a:rPr>
              <a:t>; its pages can be stored in </a:t>
            </a:r>
            <a:r>
              <a:rPr lang="en-US" sz="2600" b="1" dirty="0">
                <a:latin typeface="Times New Roman" panose="02020603050405020304" pitchFamily="18" charset="0"/>
                <a:cs typeface="Times New Roman" panose="02020603050405020304" pitchFamily="18" charset="0"/>
              </a:rPr>
              <a:t>different locations</a:t>
            </a:r>
            <a:r>
              <a:rPr lang="en-US" sz="2600" dirty="0">
                <a:latin typeface="Times New Roman" panose="02020603050405020304" pitchFamily="18" charset="0"/>
                <a:cs typeface="Times New Roman" panose="02020603050405020304" pitchFamily="18" charset="0"/>
              </a:rPr>
              <a:t> in main memory.</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Paging </a:t>
            </a:r>
            <a:r>
              <a:rPr lang="en-US" sz="2600" b="1" dirty="0">
                <a:latin typeface="Times New Roman" panose="02020603050405020304" pitchFamily="18" charset="0"/>
                <a:cs typeface="Times New Roman" panose="02020603050405020304" pitchFamily="18" charset="0"/>
              </a:rPr>
              <a:t>simplifies memory allocation</a:t>
            </a:r>
            <a:r>
              <a:rPr lang="en-US" sz="2600" dirty="0">
                <a:latin typeface="Times New Roman" panose="02020603050405020304" pitchFamily="18" charset="0"/>
                <a:cs typeface="Times New Roman" panose="02020603050405020304" pitchFamily="18" charset="0"/>
              </a:rPr>
              <a:t> because memory is always allocated in </a:t>
            </a:r>
            <a:r>
              <a:rPr lang="en-US" sz="2600" b="1" dirty="0">
                <a:latin typeface="Times New Roman" panose="02020603050405020304" pitchFamily="18" charset="0"/>
                <a:cs typeface="Times New Roman" panose="02020603050405020304" pitchFamily="18" charset="0"/>
              </a:rPr>
              <a:t>fixed-size frames</a:t>
            </a:r>
            <a:r>
              <a:rPr lang="en-US" sz="2600" dirty="0">
                <a:latin typeface="Times New Roman" panose="02020603050405020304" pitchFamily="18" charset="0"/>
                <a:cs typeface="Times New Roman" panose="02020603050405020304" pitchFamily="18" charset="0"/>
              </a:rPr>
              <a:t>, eliminating external fragmentation.</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Paging </a:t>
            </a:r>
            <a:r>
              <a:rPr lang="en-US" sz="2600" b="1" dirty="0">
                <a:latin typeface="Times New Roman" panose="02020603050405020304" pitchFamily="18" charset="0"/>
                <a:cs typeface="Times New Roman" panose="02020603050405020304" pitchFamily="18" charset="0"/>
              </a:rPr>
              <a:t>avoids external fragmentation</a:t>
            </a:r>
            <a:r>
              <a:rPr lang="en-US" sz="2600" dirty="0">
                <a:latin typeface="Times New Roman" panose="02020603050405020304" pitchFamily="18" charset="0"/>
                <a:cs typeface="Times New Roman" panose="02020603050405020304" pitchFamily="18" charset="0"/>
              </a:rPr>
              <a:t>, though it may suffer from </a:t>
            </a:r>
            <a:r>
              <a:rPr lang="en-US" sz="2600" b="1" dirty="0">
                <a:latin typeface="Times New Roman" panose="02020603050405020304" pitchFamily="18" charset="0"/>
                <a:cs typeface="Times New Roman" panose="02020603050405020304" pitchFamily="18" charset="0"/>
              </a:rPr>
              <a:t>internal fragmentation</a:t>
            </a:r>
            <a:r>
              <a:rPr lang="en-US" sz="2600" dirty="0">
                <a:latin typeface="Times New Roman" panose="02020603050405020304" pitchFamily="18" charset="0"/>
                <a:cs typeface="Times New Roman" panose="02020603050405020304" pitchFamily="18" charset="0"/>
              </a:rPr>
              <a:t> if a page is not fully utilized.</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To keep track of where each page is stored in memory, the operating system uses a page table. This table shows the connection between the logical page numbers and the physical page frames (actual locations in RAM).</a:t>
            </a:r>
          </a:p>
        </p:txBody>
      </p:sp>
      <p:pic>
        <p:nvPicPr>
          <p:cNvPr id="5" name="Picture 4">
            <a:extLst>
              <a:ext uri="{FF2B5EF4-FFF2-40B4-BE49-F238E27FC236}">
                <a16:creationId xmlns:a16="http://schemas.microsoft.com/office/drawing/2014/main" id="{82C25DD1-5281-5E63-C00A-0B79EB061A8B}"/>
              </a:ext>
            </a:extLst>
          </p:cNvPr>
          <p:cNvPicPr>
            <a:picLocks noChangeAspect="1"/>
          </p:cNvPicPr>
          <p:nvPr/>
        </p:nvPicPr>
        <p:blipFill>
          <a:blip r:embed="rId3"/>
          <a:stretch>
            <a:fillRect/>
          </a:stretch>
        </p:blipFill>
        <p:spPr>
          <a:xfrm>
            <a:off x="5784665" y="3293939"/>
            <a:ext cx="4429125" cy="571500"/>
          </a:xfrm>
          <a:prstGeom prst="rect">
            <a:avLst/>
          </a:prstGeom>
        </p:spPr>
      </p:pic>
    </p:spTree>
    <p:extLst>
      <p:ext uri="{BB962C8B-B14F-4D97-AF65-F5344CB8AC3E}">
        <p14:creationId xmlns:p14="http://schemas.microsoft.com/office/powerpoint/2010/main" val="785774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C7758-E3E5-C9EE-67A9-BB534A0376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063BE8-B497-5D83-4DE7-73FE063AE61A}"/>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PAGING</a:t>
            </a:r>
          </a:p>
        </p:txBody>
      </p:sp>
      <p:pic>
        <p:nvPicPr>
          <p:cNvPr id="4" name="Picture 3">
            <a:extLst>
              <a:ext uri="{FF2B5EF4-FFF2-40B4-BE49-F238E27FC236}">
                <a16:creationId xmlns:a16="http://schemas.microsoft.com/office/drawing/2014/main" id="{67A5858C-5A28-D741-ACAA-9051A3028842}"/>
              </a:ext>
            </a:extLst>
          </p:cNvPr>
          <p:cNvPicPr>
            <a:picLocks noChangeAspect="1"/>
          </p:cNvPicPr>
          <p:nvPr/>
        </p:nvPicPr>
        <p:blipFill>
          <a:blip r:embed="rId3"/>
          <a:stretch>
            <a:fillRect/>
          </a:stretch>
        </p:blipFill>
        <p:spPr>
          <a:xfrm>
            <a:off x="1262061" y="1023937"/>
            <a:ext cx="9667875" cy="4810125"/>
          </a:xfrm>
          <a:prstGeom prst="rect">
            <a:avLst/>
          </a:prstGeom>
        </p:spPr>
      </p:pic>
      <p:sp>
        <p:nvSpPr>
          <p:cNvPr id="8" name="TextBox 7">
            <a:extLst>
              <a:ext uri="{FF2B5EF4-FFF2-40B4-BE49-F238E27FC236}">
                <a16:creationId xmlns:a16="http://schemas.microsoft.com/office/drawing/2014/main" id="{DB25614B-C481-4CA2-B839-36F396A57421}"/>
              </a:ext>
            </a:extLst>
          </p:cNvPr>
          <p:cNvSpPr txBox="1"/>
          <p:nvPr/>
        </p:nvSpPr>
        <p:spPr>
          <a:xfrm>
            <a:off x="572385" y="6128638"/>
            <a:ext cx="11047228" cy="707886"/>
          </a:xfrm>
          <a:prstGeom prst="rect">
            <a:avLst/>
          </a:prstGeom>
          <a:noFill/>
        </p:spPr>
        <p:txBody>
          <a:bodyPr wrap="square">
            <a:spAutoFit/>
          </a:bodyPr>
          <a:lstStyle/>
          <a:p>
            <a:pPr algn="ctr"/>
            <a:r>
              <a:rPr lang="en-US" sz="2000" b="1" dirty="0">
                <a:solidFill>
                  <a:srgbClr val="273239"/>
                </a:solidFill>
                <a:effectLst/>
                <a:latin typeface="Times New Roman" panose="02020603050405020304" pitchFamily="18" charset="0"/>
                <a:cs typeface="Times New Roman" panose="02020603050405020304" pitchFamily="18" charset="0"/>
              </a:rPr>
              <a:t>The memory management unit (MMU) uses the page table to convert logical addresses into physical addresses, so the program can access the correct data in memory.</a:t>
            </a:r>
            <a:endParaRPr lang="en-PK"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9282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930C0-BEBA-693A-8512-096BF15810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B8F5D-846F-ACEE-8D2B-D6F82C920693}"/>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PAGING - Address Translation Scheme</a:t>
            </a:r>
          </a:p>
        </p:txBody>
      </p:sp>
      <p:sp>
        <p:nvSpPr>
          <p:cNvPr id="4" name="TextBox 3">
            <a:extLst>
              <a:ext uri="{FF2B5EF4-FFF2-40B4-BE49-F238E27FC236}">
                <a16:creationId xmlns:a16="http://schemas.microsoft.com/office/drawing/2014/main" id="{17DBCD20-C9F8-6D41-D4CB-A187EFD851F7}"/>
              </a:ext>
            </a:extLst>
          </p:cNvPr>
          <p:cNvSpPr txBox="1"/>
          <p:nvPr/>
        </p:nvSpPr>
        <p:spPr>
          <a:xfrm>
            <a:off x="808074" y="1302905"/>
            <a:ext cx="10675089" cy="4832092"/>
          </a:xfrm>
          <a:prstGeom prst="rect">
            <a:avLst/>
          </a:prstGeom>
          <a:noFill/>
        </p:spPr>
        <p:txBody>
          <a:bodyPr wrap="square">
            <a:spAutoFit/>
          </a:bodyPr>
          <a:lstStyle/>
          <a:p>
            <a:pPr marL="457200" indent="-457200" algn="just" fontAlgn="base">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Address generated by CPU is divided into: </a:t>
            </a:r>
          </a:p>
          <a:p>
            <a:pPr marL="914400" lvl="1" indent="-457200" algn="just" fontAlgn="base">
              <a:buFont typeface="+mj-lt"/>
              <a:buAutoNum type="arabicPeriod"/>
            </a:pPr>
            <a:r>
              <a:rPr lang="en-US" sz="2800" b="1" dirty="0">
                <a:latin typeface="Times New Roman" panose="02020603050405020304" pitchFamily="18" charset="0"/>
                <a:cs typeface="Times New Roman" panose="02020603050405020304" pitchFamily="18" charset="0"/>
              </a:rPr>
              <a:t>Page number (p)– </a:t>
            </a:r>
            <a:r>
              <a:rPr lang="en-US" sz="2800" dirty="0">
                <a:latin typeface="Times New Roman" panose="02020603050405020304" pitchFamily="18" charset="0"/>
                <a:cs typeface="Times New Roman" panose="02020603050405020304" pitchFamily="18" charset="0"/>
              </a:rPr>
              <a:t>used as an index into a page table which contains base address of each page in physical memory</a:t>
            </a:r>
          </a:p>
          <a:p>
            <a:pPr marL="914400" lvl="1" indent="-457200" algn="just" fontAlgn="base">
              <a:buFont typeface="+mj-lt"/>
              <a:buAutoNum type="arabicPeriod"/>
            </a:pPr>
            <a:r>
              <a:rPr lang="en-US" sz="2800" b="1" dirty="0">
                <a:latin typeface="Times New Roman" panose="02020603050405020304" pitchFamily="18" charset="0"/>
                <a:cs typeface="Times New Roman" panose="02020603050405020304" pitchFamily="18" charset="0"/>
              </a:rPr>
              <a:t>Page offset (d)– </a:t>
            </a:r>
            <a:r>
              <a:rPr lang="en-US" sz="2800" dirty="0">
                <a:latin typeface="Times New Roman" panose="02020603050405020304" pitchFamily="18" charset="0"/>
                <a:cs typeface="Times New Roman" panose="02020603050405020304" pitchFamily="18" charset="0"/>
              </a:rPr>
              <a:t>combined with base address to define the physical memory address that is sent to the memory unit.</a:t>
            </a:r>
          </a:p>
          <a:p>
            <a:pPr lvl="1" algn="just" fontAlgn="base"/>
            <a:endParaRPr lang="en-US" sz="2800" dirty="0">
              <a:latin typeface="Times New Roman" panose="02020603050405020304" pitchFamily="18" charset="0"/>
              <a:cs typeface="Times New Roman" panose="02020603050405020304" pitchFamily="18" charset="0"/>
            </a:endParaRPr>
          </a:p>
          <a:p>
            <a:pPr lvl="1" algn="just" fontAlgn="base"/>
            <a:endParaRPr lang="en-US" sz="2800" dirty="0">
              <a:latin typeface="Times New Roman" panose="02020603050405020304" pitchFamily="18" charset="0"/>
              <a:cs typeface="Times New Roman" panose="02020603050405020304" pitchFamily="18" charset="0"/>
            </a:endParaRPr>
          </a:p>
          <a:p>
            <a:pPr lvl="1" algn="just" fontAlgn="base"/>
            <a:endParaRPr lang="en-US" sz="2800" dirty="0">
              <a:latin typeface="Times New Roman" panose="02020603050405020304" pitchFamily="18" charset="0"/>
              <a:cs typeface="Times New Roman" panose="02020603050405020304" pitchFamily="18" charset="0"/>
            </a:endParaRPr>
          </a:p>
          <a:p>
            <a:pPr lvl="1" algn="just" fontAlgn="base"/>
            <a:endParaRPr lang="en-US" sz="2800" dirty="0">
              <a:latin typeface="Times New Roman" panose="02020603050405020304" pitchFamily="18" charset="0"/>
              <a:cs typeface="Times New Roman" panose="02020603050405020304" pitchFamily="18" charset="0"/>
            </a:endParaRPr>
          </a:p>
          <a:p>
            <a:pPr lvl="1" algn="just" fontAlgn="base"/>
            <a:endParaRPr lang="en-US" sz="2800" dirty="0">
              <a:latin typeface="Times New Roman" panose="02020603050405020304" pitchFamily="18" charset="0"/>
              <a:cs typeface="Times New Roman" panose="02020603050405020304" pitchFamily="18" charset="0"/>
            </a:endParaRPr>
          </a:p>
          <a:p>
            <a:pPr marL="800100" lvl="1" indent="-342900" algn="just" fontAlgn="base">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For given logical address space 2m and page size2n</a:t>
            </a:r>
            <a:endParaRPr lang="en-US" sz="2800" b="0" i="0" dirty="0">
              <a:solidFill>
                <a:srgbClr val="273239"/>
              </a:solidFill>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2736343-D11F-7A2D-FE9A-E5D7BDF02150}"/>
              </a:ext>
            </a:extLst>
          </p:cNvPr>
          <p:cNvPicPr>
            <a:picLocks noChangeAspect="1"/>
          </p:cNvPicPr>
          <p:nvPr/>
        </p:nvPicPr>
        <p:blipFill>
          <a:blip r:embed="rId3"/>
          <a:stretch>
            <a:fillRect/>
          </a:stretch>
        </p:blipFill>
        <p:spPr>
          <a:xfrm>
            <a:off x="4014677" y="3827057"/>
            <a:ext cx="4800600" cy="1543050"/>
          </a:xfrm>
          <a:prstGeom prst="rect">
            <a:avLst/>
          </a:prstGeom>
        </p:spPr>
      </p:pic>
    </p:spTree>
    <p:extLst>
      <p:ext uri="{BB962C8B-B14F-4D97-AF65-F5344CB8AC3E}">
        <p14:creationId xmlns:p14="http://schemas.microsoft.com/office/powerpoint/2010/main" val="2619266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479D6-2479-CC9D-CE09-AB3361097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961536-7583-5955-986F-354E59B11E7B}"/>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PAGING HARDWARE</a:t>
            </a:r>
          </a:p>
        </p:txBody>
      </p:sp>
      <p:pic>
        <p:nvPicPr>
          <p:cNvPr id="8" name="Picture 7">
            <a:extLst>
              <a:ext uri="{FF2B5EF4-FFF2-40B4-BE49-F238E27FC236}">
                <a16:creationId xmlns:a16="http://schemas.microsoft.com/office/drawing/2014/main" id="{A5968A84-FF74-6F28-CF5B-AFFDDDFD52E7}"/>
              </a:ext>
            </a:extLst>
          </p:cNvPr>
          <p:cNvPicPr>
            <a:picLocks noChangeAspect="1"/>
          </p:cNvPicPr>
          <p:nvPr/>
        </p:nvPicPr>
        <p:blipFill>
          <a:blip r:embed="rId3"/>
          <a:stretch>
            <a:fillRect/>
          </a:stretch>
        </p:blipFill>
        <p:spPr>
          <a:xfrm>
            <a:off x="4014677" y="3827057"/>
            <a:ext cx="4800600" cy="1543050"/>
          </a:xfrm>
          <a:prstGeom prst="rect">
            <a:avLst/>
          </a:prstGeom>
        </p:spPr>
      </p:pic>
      <p:pic>
        <p:nvPicPr>
          <p:cNvPr id="5" name="Picture 4">
            <a:extLst>
              <a:ext uri="{FF2B5EF4-FFF2-40B4-BE49-F238E27FC236}">
                <a16:creationId xmlns:a16="http://schemas.microsoft.com/office/drawing/2014/main" id="{0E584D85-2998-469C-4196-47492C9FC067}"/>
              </a:ext>
            </a:extLst>
          </p:cNvPr>
          <p:cNvPicPr>
            <a:picLocks noChangeAspect="1"/>
          </p:cNvPicPr>
          <p:nvPr/>
        </p:nvPicPr>
        <p:blipFill>
          <a:blip r:embed="rId4"/>
          <a:stretch>
            <a:fillRect/>
          </a:stretch>
        </p:blipFill>
        <p:spPr>
          <a:xfrm>
            <a:off x="1546813" y="942013"/>
            <a:ext cx="9949933" cy="5862150"/>
          </a:xfrm>
          <a:prstGeom prst="rect">
            <a:avLst/>
          </a:prstGeom>
        </p:spPr>
      </p:pic>
    </p:spTree>
    <p:extLst>
      <p:ext uri="{BB962C8B-B14F-4D97-AF65-F5344CB8AC3E}">
        <p14:creationId xmlns:p14="http://schemas.microsoft.com/office/powerpoint/2010/main" val="26467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5A629-501D-62C9-BB04-812CA6EE55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9B53A-FB68-274A-6AD2-A929B683CCA3}"/>
              </a:ext>
            </a:extLst>
          </p:cNvPr>
          <p:cNvSpPr txBox="1">
            <a:spLocks/>
          </p:cNvSpPr>
          <p:nvPr/>
        </p:nvSpPr>
        <p:spPr>
          <a:xfrm>
            <a:off x="803009" y="45358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Paging Model of Logical and Physical Memory</a:t>
            </a:r>
          </a:p>
        </p:txBody>
      </p:sp>
      <p:pic>
        <p:nvPicPr>
          <p:cNvPr id="4" name="Picture 3">
            <a:extLst>
              <a:ext uri="{FF2B5EF4-FFF2-40B4-BE49-F238E27FC236}">
                <a16:creationId xmlns:a16="http://schemas.microsoft.com/office/drawing/2014/main" id="{C7C839FE-5EC8-1634-3AB9-5B0FE1682904}"/>
              </a:ext>
            </a:extLst>
          </p:cNvPr>
          <p:cNvPicPr>
            <a:picLocks noChangeAspect="1"/>
          </p:cNvPicPr>
          <p:nvPr/>
        </p:nvPicPr>
        <p:blipFill>
          <a:blip r:embed="rId3"/>
          <a:stretch>
            <a:fillRect/>
          </a:stretch>
        </p:blipFill>
        <p:spPr>
          <a:xfrm>
            <a:off x="2434856" y="1308711"/>
            <a:ext cx="7696753" cy="5549289"/>
          </a:xfrm>
          <a:prstGeom prst="rect">
            <a:avLst/>
          </a:prstGeom>
        </p:spPr>
      </p:pic>
    </p:spTree>
    <p:extLst>
      <p:ext uri="{BB962C8B-B14F-4D97-AF65-F5344CB8AC3E}">
        <p14:creationId xmlns:p14="http://schemas.microsoft.com/office/powerpoint/2010/main" val="183948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5A181-72B2-DF29-1DFD-6ACFA4781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7A438-8B39-7332-9A37-D2C342AC56E3}"/>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IMPORTANT FEATURES OF PAGING</a:t>
            </a:r>
          </a:p>
        </p:txBody>
      </p:sp>
      <p:sp>
        <p:nvSpPr>
          <p:cNvPr id="4" name="TextBox 3">
            <a:extLst>
              <a:ext uri="{FF2B5EF4-FFF2-40B4-BE49-F238E27FC236}">
                <a16:creationId xmlns:a16="http://schemas.microsoft.com/office/drawing/2014/main" id="{CEBFD1DE-8B2F-E651-C609-B01862D23B63}"/>
              </a:ext>
            </a:extLst>
          </p:cNvPr>
          <p:cNvSpPr txBox="1"/>
          <p:nvPr/>
        </p:nvSpPr>
        <p:spPr>
          <a:xfrm>
            <a:off x="808074" y="1302905"/>
            <a:ext cx="10675089" cy="4893647"/>
          </a:xfrm>
          <a:prstGeom prst="rect">
            <a:avLst/>
          </a:prstGeom>
          <a:noFill/>
        </p:spPr>
        <p:txBody>
          <a:bodyPr wrap="square">
            <a:spAutoFit/>
          </a:bodyPr>
          <a:lstStyle/>
          <a:p>
            <a:pPr marL="342900" indent="-342900" algn="just" fontAlgn="base">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Logical to physical address mapping:</a:t>
            </a:r>
            <a:r>
              <a:rPr lang="en-US" sz="2600" dirty="0">
                <a:latin typeface="Times New Roman" panose="02020603050405020304" pitchFamily="18" charset="0"/>
                <a:cs typeface="Times New Roman" panose="02020603050405020304" pitchFamily="18" charset="0"/>
              </a:rPr>
              <a:t> Paging divides a process's logical address space into fixed-size pages. Each page maps to a frame in physical memory, enabling flexible </a:t>
            </a:r>
            <a:r>
              <a:rPr lang="en-US" sz="2600" u="sng" dirty="0">
                <a:latin typeface="Times New Roman" panose="02020603050405020304" pitchFamily="18" charset="0"/>
                <a:cs typeface="Times New Roman" panose="02020603050405020304" pitchFamily="18" charset="0"/>
                <a:hlinkClick r:id="rId3"/>
              </a:rPr>
              <a:t>memory management</a:t>
            </a:r>
            <a:r>
              <a:rPr lang="en-US" sz="2600" dirty="0">
                <a:latin typeface="Times New Roman" panose="02020603050405020304" pitchFamily="18" charset="0"/>
                <a:cs typeface="Times New Roman" panose="02020603050405020304" pitchFamily="18" charset="0"/>
              </a:rPr>
              <a:t>.</a:t>
            </a:r>
          </a:p>
          <a:p>
            <a:pPr marL="342900" indent="-342900" algn="just" fontAlgn="base">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Fixed page and frame size: </a:t>
            </a:r>
            <a:r>
              <a:rPr lang="en-US" sz="2600" dirty="0">
                <a:latin typeface="Times New Roman" panose="02020603050405020304" pitchFamily="18" charset="0"/>
                <a:cs typeface="Times New Roman" panose="02020603050405020304" pitchFamily="18" charset="0"/>
              </a:rPr>
              <a:t>Pages and frames have the same fixed size. This simplifies memory management and improves system performance.</a:t>
            </a:r>
          </a:p>
          <a:p>
            <a:pPr marL="342900" indent="-342900" algn="just" fontAlgn="base">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Page table entries:</a:t>
            </a:r>
            <a:r>
              <a:rPr lang="en-US" sz="2600" dirty="0">
                <a:latin typeface="Times New Roman" panose="02020603050405020304" pitchFamily="18" charset="0"/>
                <a:cs typeface="Times New Roman" panose="02020603050405020304" pitchFamily="18" charset="0"/>
              </a:rPr>
              <a:t> Each logical page is represented by a page table entry (PTE). A PTE stores the corresponding frame number and control bits.</a:t>
            </a:r>
          </a:p>
          <a:p>
            <a:pPr marL="342900" indent="-342900" algn="just" fontAlgn="base">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Number of page table entries:</a:t>
            </a:r>
            <a:r>
              <a:rPr lang="en-US" sz="2600" dirty="0">
                <a:latin typeface="Times New Roman" panose="02020603050405020304" pitchFamily="18" charset="0"/>
                <a:cs typeface="Times New Roman" panose="02020603050405020304" pitchFamily="18" charset="0"/>
              </a:rPr>
              <a:t> The page table has one entry per logical page. Thus, its size equals the number of pages in the process's address space.</a:t>
            </a:r>
          </a:p>
          <a:p>
            <a:pPr marL="342900" indent="-342900" algn="just" fontAlgn="base">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Page table stored in main memory: </a:t>
            </a:r>
            <a:r>
              <a:rPr lang="en-US" sz="2600" dirty="0">
                <a:latin typeface="Times New Roman" panose="02020603050405020304" pitchFamily="18" charset="0"/>
                <a:cs typeface="Times New Roman" panose="02020603050405020304" pitchFamily="18" charset="0"/>
              </a:rPr>
              <a:t>The page table is kept in main memory. This can add overhead when processes are swapped in or out.</a:t>
            </a:r>
          </a:p>
        </p:txBody>
      </p:sp>
    </p:spTree>
    <p:extLst>
      <p:ext uri="{BB962C8B-B14F-4D97-AF65-F5344CB8AC3E}">
        <p14:creationId xmlns:p14="http://schemas.microsoft.com/office/powerpoint/2010/main" val="603675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DDA31-C96B-0912-6314-DA1D3F177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C91977-2E8E-AB96-6289-087D15E5A986}"/>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Working OF PAGING</a:t>
            </a:r>
          </a:p>
        </p:txBody>
      </p:sp>
      <p:sp>
        <p:nvSpPr>
          <p:cNvPr id="4" name="TextBox 3">
            <a:extLst>
              <a:ext uri="{FF2B5EF4-FFF2-40B4-BE49-F238E27FC236}">
                <a16:creationId xmlns:a16="http://schemas.microsoft.com/office/drawing/2014/main" id="{35310F99-025A-8737-F366-E3C1DF48F0D0}"/>
              </a:ext>
            </a:extLst>
          </p:cNvPr>
          <p:cNvSpPr txBox="1"/>
          <p:nvPr/>
        </p:nvSpPr>
        <p:spPr>
          <a:xfrm>
            <a:off x="758455" y="1154049"/>
            <a:ext cx="10675089" cy="4893647"/>
          </a:xfrm>
          <a:prstGeom prst="rect">
            <a:avLst/>
          </a:prstGeom>
          <a:noFill/>
        </p:spPr>
        <p:txBody>
          <a:bodyPr wrap="square">
            <a:spAutoFit/>
          </a:bodyPr>
          <a:lstStyle/>
          <a:p>
            <a:pPr marL="342900" indent="-342900" algn="just" fontAlgn="base">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When a process requests memory, the operating system allocates one or more page frames to the process and maps the process's logical pages to the physical page frames. </a:t>
            </a:r>
          </a:p>
          <a:p>
            <a:pPr marL="342900" indent="-342900" algn="just" fontAlgn="base">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When a program runs, its pages are loaded into any available frames in the physical memory.</a:t>
            </a:r>
          </a:p>
          <a:p>
            <a:pPr marL="342900" indent="-342900" algn="just" fontAlgn="base">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Each program has a page table, which the operating system uses to keep track of where each page is stored in physical memory. </a:t>
            </a:r>
          </a:p>
          <a:p>
            <a:pPr marL="342900" indent="-342900" algn="just" fontAlgn="base">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When a program accesses data, the system uses this table to convert the program's address into a physical memory address.</a:t>
            </a:r>
          </a:p>
          <a:p>
            <a:pPr marL="342900" indent="-342900" algn="just" fontAlgn="base">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mapping from virtual to physical address is done by the </a:t>
            </a:r>
            <a:r>
              <a:rPr lang="en-US" sz="2600" u="sng" dirty="0">
                <a:latin typeface="Times New Roman" panose="02020603050405020304" pitchFamily="18" charset="0"/>
                <a:cs typeface="Times New Roman" panose="02020603050405020304" pitchFamily="18" charset="0"/>
                <a:hlinkClick r:id="rId3"/>
              </a:rPr>
              <a:t>Memory Management Unit (MMU)</a:t>
            </a:r>
            <a:r>
              <a:rPr lang="en-US" sz="2600" dirty="0">
                <a:latin typeface="Times New Roman" panose="02020603050405020304" pitchFamily="18" charset="0"/>
                <a:cs typeface="Times New Roman" panose="02020603050405020304" pitchFamily="18" charset="0"/>
              </a:rPr>
              <a:t> which is a hardware device and this mapping is known as the paging technique.</a:t>
            </a:r>
          </a:p>
        </p:txBody>
      </p:sp>
    </p:spTree>
    <p:extLst>
      <p:ext uri="{BB962C8B-B14F-4D97-AF65-F5344CB8AC3E}">
        <p14:creationId xmlns:p14="http://schemas.microsoft.com/office/powerpoint/2010/main" val="3740908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19588-D5BF-0C2F-259B-18C4C39B0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D79A7A-3E2D-A320-B28F-DCD8495357BD}"/>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Working OF PAGING</a:t>
            </a:r>
          </a:p>
        </p:txBody>
      </p:sp>
      <p:sp>
        <p:nvSpPr>
          <p:cNvPr id="4" name="TextBox 3">
            <a:extLst>
              <a:ext uri="{FF2B5EF4-FFF2-40B4-BE49-F238E27FC236}">
                <a16:creationId xmlns:a16="http://schemas.microsoft.com/office/drawing/2014/main" id="{3AF80C7F-A526-3D68-0530-A646839F1B7A}"/>
              </a:ext>
            </a:extLst>
          </p:cNvPr>
          <p:cNvSpPr txBox="1"/>
          <p:nvPr/>
        </p:nvSpPr>
        <p:spPr>
          <a:xfrm>
            <a:off x="758455" y="942013"/>
            <a:ext cx="10675089" cy="4893647"/>
          </a:xfrm>
          <a:prstGeom prst="rect">
            <a:avLst/>
          </a:prstGeom>
          <a:noFill/>
        </p:spPr>
        <p:txBody>
          <a:bodyPr wrap="square">
            <a:spAutoFit/>
          </a:bodyPr>
          <a:lstStyle/>
          <a:p>
            <a:pPr marL="342900" indent="-34290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Physical Address Space is conceptually divided into a number of fixed-size blocks, called frames.</a:t>
            </a:r>
          </a:p>
          <a:p>
            <a:pPr marL="342900" indent="-34290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Logical Address Space is also split into fixed-size blocks, called pages.</a:t>
            </a:r>
          </a:p>
          <a:p>
            <a:pPr marL="342900" indent="-34290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Page Size = Frame Size</a:t>
            </a:r>
          </a:p>
          <a:p>
            <a:pPr marL="342900" indent="-342900" fontAlgn="base">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Steps :</a:t>
            </a:r>
          </a:p>
          <a:p>
            <a:pPr lvl="1" fontAlgn="base"/>
            <a:r>
              <a:rPr lang="en-US" sz="2400" b="1" dirty="0">
                <a:latin typeface="Times New Roman" panose="02020603050405020304" pitchFamily="18" charset="0"/>
                <a:cs typeface="Times New Roman" panose="02020603050405020304" pitchFamily="18" charset="0"/>
              </a:rPr>
              <a:t>Step 1 Divide Memory :</a:t>
            </a:r>
            <a:r>
              <a:rPr lang="en-US" sz="2400" dirty="0">
                <a:latin typeface="Times New Roman" panose="02020603050405020304" pitchFamily="18" charset="0"/>
                <a:cs typeface="Times New Roman" panose="02020603050405020304" pitchFamily="18" charset="0"/>
              </a:rPr>
              <a:t> Logical -&gt; Pages, Physical -&gt; Frames .</a:t>
            </a:r>
          </a:p>
          <a:p>
            <a:pPr lvl="1" fontAlgn="base"/>
            <a:r>
              <a:rPr lang="en-US" sz="2400" b="1" dirty="0">
                <a:latin typeface="Times New Roman" panose="02020603050405020304" pitchFamily="18" charset="0"/>
                <a:cs typeface="Times New Roman" panose="02020603050405020304" pitchFamily="18" charset="0"/>
              </a:rPr>
              <a:t>Step 2 Allocate Pages :</a:t>
            </a:r>
            <a:r>
              <a:rPr lang="en-US" sz="2400" dirty="0">
                <a:latin typeface="Times New Roman" panose="02020603050405020304" pitchFamily="18" charset="0"/>
                <a:cs typeface="Times New Roman" panose="02020603050405020304" pitchFamily="18" charset="0"/>
              </a:rPr>
              <a:t> Load pages into available frames.</a:t>
            </a:r>
          </a:p>
          <a:p>
            <a:pPr lvl="1" fontAlgn="base"/>
            <a:r>
              <a:rPr lang="en-US" sz="2400" b="1" dirty="0">
                <a:latin typeface="Times New Roman" panose="02020603050405020304" pitchFamily="18" charset="0"/>
                <a:cs typeface="Times New Roman" panose="02020603050405020304" pitchFamily="18" charset="0"/>
              </a:rPr>
              <a:t>Step 3 Page Table :</a:t>
            </a:r>
            <a:r>
              <a:rPr lang="en-US" sz="2400" dirty="0">
                <a:latin typeface="Times New Roman" panose="02020603050405020304" pitchFamily="18" charset="0"/>
                <a:cs typeface="Times New Roman" panose="02020603050405020304" pitchFamily="18" charset="0"/>
              </a:rPr>
              <a:t> Map logical pages to physical frames.</a:t>
            </a:r>
          </a:p>
          <a:p>
            <a:pPr lvl="1" fontAlgn="base"/>
            <a:r>
              <a:rPr lang="en-US" sz="2400" b="1" dirty="0">
                <a:latin typeface="Times New Roman" panose="02020603050405020304" pitchFamily="18" charset="0"/>
                <a:cs typeface="Times New Roman" panose="02020603050405020304" pitchFamily="18" charset="0"/>
              </a:rPr>
              <a:t>Step 4 Translate Address :</a:t>
            </a:r>
            <a:r>
              <a:rPr lang="en-US" sz="2400" dirty="0">
                <a:latin typeface="Times New Roman" panose="02020603050405020304" pitchFamily="18" charset="0"/>
                <a:cs typeface="Times New Roman" panose="02020603050405020304" pitchFamily="18" charset="0"/>
              </a:rPr>
              <a:t> Convert logical to physical address.</a:t>
            </a:r>
          </a:p>
          <a:p>
            <a:pPr lvl="1" fontAlgn="base"/>
            <a:r>
              <a:rPr lang="en-US" sz="2400" b="1" dirty="0">
                <a:latin typeface="Times New Roman" panose="02020603050405020304" pitchFamily="18" charset="0"/>
                <a:cs typeface="Times New Roman" panose="02020603050405020304" pitchFamily="18" charset="0"/>
              </a:rPr>
              <a:t>Step 5 Handle Page Fault :</a:t>
            </a:r>
            <a:r>
              <a:rPr lang="en-US" sz="2400" dirty="0">
                <a:latin typeface="Times New Roman" panose="02020603050405020304" pitchFamily="18" charset="0"/>
                <a:cs typeface="Times New Roman" panose="02020603050405020304" pitchFamily="18" charset="0"/>
              </a:rPr>
              <a:t> Load missing pages from disk.</a:t>
            </a:r>
          </a:p>
          <a:p>
            <a:pPr lvl="1" fontAlgn="base"/>
            <a:r>
              <a:rPr lang="en-US" sz="2400" b="1" dirty="0">
                <a:latin typeface="Times New Roman" panose="02020603050405020304" pitchFamily="18" charset="0"/>
                <a:cs typeface="Times New Roman" panose="02020603050405020304" pitchFamily="18" charset="0"/>
              </a:rPr>
              <a:t>Step 6 Run Program : </a:t>
            </a:r>
            <a:r>
              <a:rPr lang="en-US" sz="2400" dirty="0">
                <a:latin typeface="Times New Roman" panose="02020603050405020304" pitchFamily="18" charset="0"/>
                <a:cs typeface="Times New Roman" panose="02020603050405020304" pitchFamily="18" charset="0"/>
              </a:rPr>
              <a:t>CPU uses page table during execution.</a:t>
            </a:r>
          </a:p>
          <a:p>
            <a:pPr marL="342900" indent="-342900" fontAlgn="base">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fontAlgn="base"/>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6792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5B85B-6866-398A-EAF1-AD609AA823B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FF1E2CF-96C1-F499-221B-25F948AB4B2C}"/>
              </a:ext>
            </a:extLst>
          </p:cNvPr>
          <p:cNvPicPr>
            <a:picLocks noChangeAspect="1"/>
          </p:cNvPicPr>
          <p:nvPr/>
        </p:nvPicPr>
        <p:blipFill>
          <a:blip r:embed="rId2"/>
          <a:stretch>
            <a:fillRect/>
          </a:stretch>
        </p:blipFill>
        <p:spPr>
          <a:xfrm>
            <a:off x="0" y="1"/>
            <a:ext cx="12277060" cy="6858000"/>
          </a:xfrm>
          <a:prstGeom prst="rect">
            <a:avLst/>
          </a:prstGeom>
        </p:spPr>
      </p:pic>
    </p:spTree>
    <p:extLst>
      <p:ext uri="{BB962C8B-B14F-4D97-AF65-F5344CB8AC3E}">
        <p14:creationId xmlns:p14="http://schemas.microsoft.com/office/powerpoint/2010/main" val="697351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71A87-7DC7-97C5-AB0A-1818C344F3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FEE1BB-E9AC-10B5-5E48-3165D9AE6074}"/>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Working OF PAGING</a:t>
            </a:r>
          </a:p>
        </p:txBody>
      </p:sp>
      <p:sp>
        <p:nvSpPr>
          <p:cNvPr id="4" name="TextBox 3">
            <a:extLst>
              <a:ext uri="{FF2B5EF4-FFF2-40B4-BE49-F238E27FC236}">
                <a16:creationId xmlns:a16="http://schemas.microsoft.com/office/drawing/2014/main" id="{17E5B729-E65D-1757-5BFD-F69C18E27A8C}"/>
              </a:ext>
            </a:extLst>
          </p:cNvPr>
          <p:cNvSpPr txBox="1"/>
          <p:nvPr/>
        </p:nvSpPr>
        <p:spPr>
          <a:xfrm>
            <a:off x="758455" y="1090869"/>
            <a:ext cx="10675089" cy="4893647"/>
          </a:xfrm>
          <a:prstGeom prst="rect">
            <a:avLst/>
          </a:prstGeom>
          <a:noFill/>
        </p:spPr>
        <p:txBody>
          <a:bodyPr wrap="square">
            <a:spAutoFit/>
          </a:bodyPr>
          <a:lstStyle/>
          <a:p>
            <a:pPr algn="just" fontAlgn="base"/>
            <a:r>
              <a:rPr lang="en-US" sz="2600" b="1" dirty="0">
                <a:latin typeface="Times New Roman" panose="02020603050405020304" pitchFamily="18" charset="0"/>
                <a:cs typeface="Times New Roman" panose="02020603050405020304" pitchFamily="18" charset="0"/>
              </a:rPr>
              <a:t>The address generated by the CPU is divided into:</a:t>
            </a:r>
            <a:endParaRPr lang="en-US" sz="2600" dirty="0">
              <a:latin typeface="Times New Roman" panose="02020603050405020304" pitchFamily="18" charset="0"/>
              <a:cs typeface="Times New Roman" panose="02020603050405020304" pitchFamily="18" charset="0"/>
            </a:endParaRPr>
          </a:p>
          <a:p>
            <a:pPr marL="971550" lvl="1" indent="-514350" algn="just" fontAlgn="base">
              <a:buFont typeface="+mj-lt"/>
              <a:buAutoNum type="arabicPeriod"/>
            </a:pPr>
            <a:r>
              <a:rPr lang="en-US" sz="2600" b="1" dirty="0">
                <a:latin typeface="Times New Roman" panose="02020603050405020304" pitchFamily="18" charset="0"/>
                <a:cs typeface="Times New Roman" panose="02020603050405020304" pitchFamily="18" charset="0"/>
              </a:rPr>
              <a:t>Page number(p): </a:t>
            </a:r>
            <a:r>
              <a:rPr lang="en-US" sz="2600" dirty="0">
                <a:latin typeface="Times New Roman" panose="02020603050405020304" pitchFamily="18" charset="0"/>
                <a:cs typeface="Times New Roman" panose="02020603050405020304" pitchFamily="18" charset="0"/>
              </a:rPr>
              <a:t>Number of bits required to represent the pages in </a:t>
            </a:r>
            <a:r>
              <a:rPr lang="en-US" sz="2600" u="sng" dirty="0">
                <a:latin typeface="Times New Roman" panose="02020603050405020304" pitchFamily="18" charset="0"/>
                <a:cs typeface="Times New Roman" panose="02020603050405020304" pitchFamily="18" charset="0"/>
                <a:hlinkClick r:id="rId3"/>
              </a:rPr>
              <a:t>Logical Address Space </a:t>
            </a:r>
            <a:r>
              <a:rPr lang="en-US" sz="2600" dirty="0">
                <a:latin typeface="Times New Roman" panose="02020603050405020304" pitchFamily="18" charset="0"/>
                <a:cs typeface="Times New Roman" panose="02020603050405020304" pitchFamily="18" charset="0"/>
              </a:rPr>
              <a:t>or Page number</a:t>
            </a:r>
          </a:p>
          <a:p>
            <a:pPr marL="971550" lvl="1" indent="-514350" algn="just" fontAlgn="base">
              <a:buFont typeface="+mj-lt"/>
              <a:buAutoNum type="arabicPeriod"/>
            </a:pPr>
            <a:r>
              <a:rPr lang="en-US" sz="2600" b="1" dirty="0">
                <a:latin typeface="Times New Roman" panose="02020603050405020304" pitchFamily="18" charset="0"/>
                <a:cs typeface="Times New Roman" panose="02020603050405020304" pitchFamily="18" charset="0"/>
              </a:rPr>
              <a:t>Page offset(d):</a:t>
            </a:r>
            <a:r>
              <a:rPr lang="en-US" sz="2600" dirty="0">
                <a:latin typeface="Times New Roman" panose="02020603050405020304" pitchFamily="18" charset="0"/>
                <a:cs typeface="Times New Roman" panose="02020603050405020304" pitchFamily="18" charset="0"/>
              </a:rPr>
              <a:t> Number of bits required to represent a particular word in a page or page size of Logical Address Space or word number of a page or page offset.</a:t>
            </a:r>
          </a:p>
          <a:p>
            <a:pPr algn="just" fontAlgn="base"/>
            <a:r>
              <a:rPr lang="en-US" sz="2600" b="1" dirty="0">
                <a:latin typeface="Times New Roman" panose="02020603050405020304" pitchFamily="18" charset="0"/>
                <a:cs typeface="Times New Roman" panose="02020603050405020304" pitchFamily="18" charset="0"/>
              </a:rPr>
              <a:t>A Physical Address is divided into two main parts:</a:t>
            </a:r>
            <a:endParaRPr lang="en-US" sz="2600" dirty="0">
              <a:latin typeface="Times New Roman" panose="02020603050405020304" pitchFamily="18" charset="0"/>
              <a:cs typeface="Times New Roman" panose="02020603050405020304" pitchFamily="18" charset="0"/>
            </a:endParaRPr>
          </a:p>
          <a:p>
            <a:pPr marL="971550" lvl="1" indent="-514350" algn="just" fontAlgn="base">
              <a:buFont typeface="+mj-lt"/>
              <a:buAutoNum type="arabicPeriod"/>
            </a:pPr>
            <a:r>
              <a:rPr lang="en-US" sz="2600" b="1" dirty="0">
                <a:latin typeface="Times New Roman" panose="02020603050405020304" pitchFamily="18" charset="0"/>
                <a:cs typeface="Times New Roman" panose="02020603050405020304" pitchFamily="18" charset="0"/>
              </a:rPr>
              <a:t>Frame Number(f):</a:t>
            </a:r>
            <a:r>
              <a:rPr lang="en-US" sz="2600" dirty="0">
                <a:latin typeface="Times New Roman" panose="02020603050405020304" pitchFamily="18" charset="0"/>
                <a:cs typeface="Times New Roman" panose="02020603050405020304" pitchFamily="18" charset="0"/>
              </a:rPr>
              <a:t> Number of bits required to represent the frame of Physical Address Space or Frame number frame</a:t>
            </a:r>
          </a:p>
          <a:p>
            <a:pPr marL="971550" lvl="1" indent="-514350" algn="just" fontAlgn="base">
              <a:buFont typeface="+mj-lt"/>
              <a:buAutoNum type="arabicPeriod"/>
            </a:pPr>
            <a:r>
              <a:rPr lang="en-US" sz="2600" b="1" dirty="0">
                <a:latin typeface="Times New Roman" panose="02020603050405020304" pitchFamily="18" charset="0"/>
                <a:cs typeface="Times New Roman" panose="02020603050405020304" pitchFamily="18" charset="0"/>
              </a:rPr>
              <a:t>Frame Offset(d):</a:t>
            </a:r>
            <a:r>
              <a:rPr lang="en-US" sz="2600" dirty="0">
                <a:latin typeface="Times New Roman" panose="02020603050405020304" pitchFamily="18" charset="0"/>
                <a:cs typeface="Times New Roman" panose="02020603050405020304" pitchFamily="18" charset="0"/>
              </a:rPr>
              <a:t> Number of bits required to represent a particular word in a frame or frame size of Physical Address Space or word number of a frame or frame offset.</a:t>
            </a:r>
          </a:p>
        </p:txBody>
      </p:sp>
    </p:spTree>
    <p:extLst>
      <p:ext uri="{BB962C8B-B14F-4D97-AF65-F5344CB8AC3E}">
        <p14:creationId xmlns:p14="http://schemas.microsoft.com/office/powerpoint/2010/main" val="3699774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5F230-0B49-73A3-E281-5082B7B652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27695-1CC6-7D6D-6198-977B03AFD50D}"/>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Example - PAGING</a:t>
            </a:r>
          </a:p>
        </p:txBody>
      </p:sp>
      <p:sp>
        <p:nvSpPr>
          <p:cNvPr id="4" name="TextBox 3">
            <a:extLst>
              <a:ext uri="{FF2B5EF4-FFF2-40B4-BE49-F238E27FC236}">
                <a16:creationId xmlns:a16="http://schemas.microsoft.com/office/drawing/2014/main" id="{EBE91E5F-4C80-66BC-5588-01B974D100B6}"/>
              </a:ext>
            </a:extLst>
          </p:cNvPr>
          <p:cNvSpPr txBox="1"/>
          <p:nvPr/>
        </p:nvSpPr>
        <p:spPr>
          <a:xfrm>
            <a:off x="758455" y="1090869"/>
            <a:ext cx="10675089" cy="4893647"/>
          </a:xfrm>
          <a:prstGeom prst="rect">
            <a:avLst/>
          </a:prstGeom>
          <a:noFill/>
        </p:spPr>
        <p:txBody>
          <a:bodyPr wrap="square">
            <a:spAutoFit/>
          </a:bodyPr>
          <a:lstStyle/>
          <a:p>
            <a:pPr algn="just" fontAlgn="base"/>
            <a:r>
              <a:rPr lang="en-US" sz="2600" b="1" dirty="0">
                <a:latin typeface="Times New Roman" panose="02020603050405020304" pitchFamily="18" charset="0"/>
                <a:cs typeface="Times New Roman" panose="02020603050405020304" pitchFamily="18" charset="0"/>
              </a:rPr>
              <a:t>Q: Consider a system which has LA = 7 bits, PA = 6 bits, Page size = 8 words then calculate the no: of page? And no of frames?</a:t>
            </a:r>
          </a:p>
          <a:p>
            <a:pPr algn="just" fontAlgn="base"/>
            <a:endParaRPr lang="en-US" sz="2600" b="1" dirty="0">
              <a:latin typeface="Times New Roman" panose="02020603050405020304" pitchFamily="18" charset="0"/>
              <a:cs typeface="Times New Roman" panose="02020603050405020304" pitchFamily="18" charset="0"/>
            </a:endParaRPr>
          </a:p>
          <a:p>
            <a:pPr algn="just" fontAlgn="base"/>
            <a:r>
              <a:rPr lang="en-US" sz="2600" dirty="0">
                <a:latin typeface="Times New Roman" panose="02020603050405020304" pitchFamily="18" charset="0"/>
                <a:cs typeface="Times New Roman" panose="02020603050405020304" pitchFamily="18" charset="0"/>
              </a:rPr>
              <a:t>Solution:</a:t>
            </a:r>
          </a:p>
          <a:p>
            <a:pPr algn="just" fontAlgn="base"/>
            <a:r>
              <a:rPr lang="en-US" sz="2600" dirty="0">
                <a:latin typeface="Times New Roman" panose="02020603050405020304" pitchFamily="18" charset="0"/>
                <a:cs typeface="Times New Roman" panose="02020603050405020304" pitchFamily="18" charset="0"/>
              </a:rPr>
              <a:t> </a:t>
            </a:r>
          </a:p>
          <a:p>
            <a:pPr marL="1371600" lvl="2" indent="-457200" algn="just" fontAlgn="base">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No of pages: 2^4 = 16</a:t>
            </a:r>
          </a:p>
          <a:p>
            <a:pPr marL="1371600" lvl="2" indent="-457200" algn="just" fontAlgn="base">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No of frames: 2^3 = 8</a:t>
            </a:r>
          </a:p>
          <a:p>
            <a:pPr marL="1371600" lvl="2" indent="-457200" algn="just" fontAlgn="base">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Number of Entries in Pg Table = 16</a:t>
            </a:r>
          </a:p>
          <a:p>
            <a:pPr algn="just" fontAlgn="base"/>
            <a:endParaRPr lang="en-US" sz="2600" b="1" dirty="0">
              <a:latin typeface="Times New Roman" panose="02020603050405020304" pitchFamily="18" charset="0"/>
              <a:cs typeface="Times New Roman" panose="02020603050405020304" pitchFamily="18" charset="0"/>
            </a:endParaRPr>
          </a:p>
          <a:p>
            <a:pPr algn="just" fontAlgn="base"/>
            <a:r>
              <a:rPr lang="en-US" sz="2600" b="1" dirty="0">
                <a:latin typeface="Times New Roman" panose="02020603050405020304" pitchFamily="18" charset="0"/>
                <a:cs typeface="Times New Roman" panose="02020603050405020304" pitchFamily="18" charset="0"/>
              </a:rPr>
              <a:t>Note: </a:t>
            </a:r>
            <a:r>
              <a:rPr lang="en-US" sz="2600" dirty="0">
                <a:latin typeface="Times New Roman" panose="02020603050405020304" pitchFamily="18" charset="0"/>
                <a:cs typeface="Times New Roman" panose="02020603050405020304" pitchFamily="18" charset="0"/>
              </a:rPr>
              <a:t>No. of entries in Pg table = No. of pages in process</a:t>
            </a:r>
          </a:p>
          <a:p>
            <a:pPr lvl="2" algn="just" fontAlgn="base"/>
            <a:endParaRPr lang="en-US" sz="2600" dirty="0">
              <a:latin typeface="Times New Roman" panose="02020603050405020304" pitchFamily="18" charset="0"/>
              <a:cs typeface="Times New Roman" panose="02020603050405020304" pitchFamily="18" charset="0"/>
            </a:endParaRPr>
          </a:p>
          <a:p>
            <a:pPr algn="just" fontAlgn="base"/>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8565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A1293-AD7E-9D71-510E-78F49EE90F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C5ED13-7B26-4CEF-DA37-BC61F733207D}"/>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FORMAT OF PAGE TABLE Entry (PTE)</a:t>
            </a:r>
          </a:p>
        </p:txBody>
      </p:sp>
      <p:graphicFrame>
        <p:nvGraphicFramePr>
          <p:cNvPr id="3" name="Table 2">
            <a:extLst>
              <a:ext uri="{FF2B5EF4-FFF2-40B4-BE49-F238E27FC236}">
                <a16:creationId xmlns:a16="http://schemas.microsoft.com/office/drawing/2014/main" id="{D938014E-5260-A8FE-2B4C-4D8385852EFB}"/>
              </a:ext>
            </a:extLst>
          </p:cNvPr>
          <p:cNvGraphicFramePr>
            <a:graphicFrameLocks noGrp="1"/>
          </p:cNvGraphicFramePr>
          <p:nvPr>
            <p:extLst>
              <p:ext uri="{D42A27DB-BD31-4B8C-83A1-F6EECF244321}">
                <p14:modId xmlns:p14="http://schemas.microsoft.com/office/powerpoint/2010/main" val="3959933416"/>
              </p:ext>
            </p:extLst>
          </p:nvPr>
        </p:nvGraphicFramePr>
        <p:xfrm>
          <a:off x="2127693" y="3073482"/>
          <a:ext cx="8128002" cy="1121736"/>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924170299"/>
                    </a:ext>
                  </a:extLst>
                </a:gridCol>
                <a:gridCol w="1354667">
                  <a:extLst>
                    <a:ext uri="{9D8B030D-6E8A-4147-A177-3AD203B41FA5}">
                      <a16:colId xmlns:a16="http://schemas.microsoft.com/office/drawing/2014/main" val="717802845"/>
                    </a:ext>
                  </a:extLst>
                </a:gridCol>
                <a:gridCol w="1354667">
                  <a:extLst>
                    <a:ext uri="{9D8B030D-6E8A-4147-A177-3AD203B41FA5}">
                      <a16:colId xmlns:a16="http://schemas.microsoft.com/office/drawing/2014/main" val="2581820451"/>
                    </a:ext>
                  </a:extLst>
                </a:gridCol>
                <a:gridCol w="1354667">
                  <a:extLst>
                    <a:ext uri="{9D8B030D-6E8A-4147-A177-3AD203B41FA5}">
                      <a16:colId xmlns:a16="http://schemas.microsoft.com/office/drawing/2014/main" val="3679902985"/>
                    </a:ext>
                  </a:extLst>
                </a:gridCol>
                <a:gridCol w="1354667">
                  <a:extLst>
                    <a:ext uri="{9D8B030D-6E8A-4147-A177-3AD203B41FA5}">
                      <a16:colId xmlns:a16="http://schemas.microsoft.com/office/drawing/2014/main" val="580600796"/>
                    </a:ext>
                  </a:extLst>
                </a:gridCol>
                <a:gridCol w="1354667">
                  <a:extLst>
                    <a:ext uri="{9D8B030D-6E8A-4147-A177-3AD203B41FA5}">
                      <a16:colId xmlns:a16="http://schemas.microsoft.com/office/drawing/2014/main" val="2480521012"/>
                    </a:ext>
                  </a:extLst>
                </a:gridCol>
              </a:tblGrid>
              <a:tr h="1121736">
                <a:tc>
                  <a:txBody>
                    <a:bodyPr/>
                    <a:lstStyle/>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Frame </a:t>
                      </a:r>
                    </a:p>
                    <a:p>
                      <a:pPr algn="ctr"/>
                      <a:r>
                        <a:rPr lang="en-US" sz="2000" b="1" dirty="0">
                          <a:latin typeface="Times New Roman" panose="02020603050405020304" pitchFamily="18" charset="0"/>
                          <a:cs typeface="Times New Roman" panose="02020603050405020304" pitchFamily="18" charset="0"/>
                        </a:rPr>
                        <a:t>No.</a:t>
                      </a:r>
                      <a:endParaRPr lang="en-PK" sz="2000" b="1" dirty="0">
                        <a:latin typeface="Times New Roman" panose="02020603050405020304" pitchFamily="18" charset="0"/>
                        <a:cs typeface="Times New Roman" panose="02020603050405020304" pitchFamily="18" charset="0"/>
                      </a:endParaRPr>
                    </a:p>
                  </a:txBody>
                  <a:tcPr/>
                </a:tc>
                <a:tc>
                  <a:txBody>
                    <a:bodyPr/>
                    <a:lstStyle/>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Valid (1) /</a:t>
                      </a:r>
                    </a:p>
                    <a:p>
                      <a:pPr algn="ctr"/>
                      <a:r>
                        <a:rPr lang="en-US" sz="2000" b="1" dirty="0">
                          <a:latin typeface="Times New Roman" panose="02020603050405020304" pitchFamily="18" charset="0"/>
                          <a:cs typeface="Times New Roman" panose="02020603050405020304" pitchFamily="18" charset="0"/>
                        </a:rPr>
                        <a:t>Invalid (0)</a:t>
                      </a:r>
                      <a:endParaRPr lang="en-PK" sz="2000" b="1" dirty="0">
                        <a:latin typeface="Times New Roman" panose="02020603050405020304" pitchFamily="18" charset="0"/>
                        <a:cs typeface="Times New Roman" panose="02020603050405020304" pitchFamily="18" charset="0"/>
                      </a:endParaRPr>
                    </a:p>
                  </a:txBody>
                  <a:tcPr/>
                </a:tc>
                <a:tc>
                  <a:txBody>
                    <a:bodyPr/>
                    <a:lstStyle/>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Protection (R W X)</a:t>
                      </a:r>
                      <a:endParaRPr lang="en-PK" sz="2000" b="1" dirty="0">
                        <a:latin typeface="Times New Roman" panose="02020603050405020304" pitchFamily="18" charset="0"/>
                        <a:cs typeface="Times New Roman" panose="02020603050405020304" pitchFamily="18" charset="0"/>
                      </a:endParaRPr>
                    </a:p>
                  </a:txBody>
                  <a:tcPr/>
                </a:tc>
                <a:tc>
                  <a:txBody>
                    <a:bodyPr/>
                    <a:lstStyle/>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Reference 0/1</a:t>
                      </a:r>
                      <a:endParaRPr lang="en-PK" sz="2000" b="1" dirty="0">
                        <a:latin typeface="Times New Roman" panose="02020603050405020304" pitchFamily="18" charset="0"/>
                        <a:cs typeface="Times New Roman" panose="02020603050405020304" pitchFamily="18" charset="0"/>
                      </a:endParaRPr>
                    </a:p>
                  </a:txBody>
                  <a:tcPr/>
                </a:tc>
                <a:tc>
                  <a:txBody>
                    <a:bodyPr/>
                    <a:lstStyle/>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Caching </a:t>
                      </a:r>
                      <a:endParaRPr lang="en-PK" sz="2000" b="1" dirty="0">
                        <a:latin typeface="Times New Roman" panose="02020603050405020304" pitchFamily="18" charset="0"/>
                        <a:cs typeface="Times New Roman" panose="02020603050405020304" pitchFamily="18" charset="0"/>
                      </a:endParaRPr>
                    </a:p>
                  </a:txBody>
                  <a:tcPr/>
                </a:tc>
                <a:tc>
                  <a:txBody>
                    <a:bodyPr/>
                    <a:lstStyle/>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Dirty / Modified</a:t>
                      </a:r>
                      <a:endParaRPr lang="en-PK"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88945798"/>
                  </a:ext>
                </a:extLst>
              </a:tr>
            </a:tbl>
          </a:graphicData>
        </a:graphic>
      </p:graphicFrame>
      <p:cxnSp>
        <p:nvCxnSpPr>
          <p:cNvPr id="6" name="Straight Arrow Connector 5">
            <a:extLst>
              <a:ext uri="{FF2B5EF4-FFF2-40B4-BE49-F238E27FC236}">
                <a16:creationId xmlns:a16="http://schemas.microsoft.com/office/drawing/2014/main" id="{7A6AAC4B-162B-E010-0CDD-D8784AC18BDC}"/>
              </a:ext>
            </a:extLst>
          </p:cNvPr>
          <p:cNvCxnSpPr/>
          <p:nvPr/>
        </p:nvCxnSpPr>
        <p:spPr>
          <a:xfrm>
            <a:off x="2286000" y="4635795"/>
            <a:ext cx="78468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D58A0D1B-8A26-3CF1-A7DB-3EFE605FF38C}"/>
              </a:ext>
            </a:extLst>
          </p:cNvPr>
          <p:cNvCxnSpPr/>
          <p:nvPr/>
        </p:nvCxnSpPr>
        <p:spPr>
          <a:xfrm>
            <a:off x="3040912" y="4561367"/>
            <a:ext cx="0" cy="712382"/>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BEF27D4D-986C-0491-5AF6-40639318ED20}"/>
              </a:ext>
            </a:extLst>
          </p:cNvPr>
          <p:cNvCxnSpPr/>
          <p:nvPr/>
        </p:nvCxnSpPr>
        <p:spPr>
          <a:xfrm>
            <a:off x="9781954" y="4561367"/>
            <a:ext cx="0" cy="712382"/>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5C3E632-370D-ABED-133D-9C26657BAAE6}"/>
              </a:ext>
            </a:extLst>
          </p:cNvPr>
          <p:cNvCxnSpPr/>
          <p:nvPr/>
        </p:nvCxnSpPr>
        <p:spPr>
          <a:xfrm>
            <a:off x="4274288" y="4561367"/>
            <a:ext cx="0" cy="712382"/>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72C7735B-5CAB-6FBA-8C7A-72DF1E68B214}"/>
              </a:ext>
            </a:extLst>
          </p:cNvPr>
          <p:cNvSpPr txBox="1"/>
          <p:nvPr/>
        </p:nvSpPr>
        <p:spPr>
          <a:xfrm>
            <a:off x="2495993" y="5394262"/>
            <a:ext cx="1395521" cy="707886"/>
          </a:xfrm>
          <a:prstGeom prst="rect">
            <a:avLst/>
          </a:prstGeom>
          <a:noFill/>
        </p:spPr>
        <p:txBody>
          <a:bodyPr wrap="square">
            <a:spAutoFit/>
          </a:bodyPr>
          <a:lstStyle/>
          <a:p>
            <a:pPr fontAlgn="base"/>
            <a:r>
              <a:rPr lang="en-US" sz="2000" dirty="0">
                <a:latin typeface="Times New Roman" panose="02020603050405020304" pitchFamily="18" charset="0"/>
                <a:cs typeface="Times New Roman" panose="02020603050405020304" pitchFamily="18" charset="0"/>
              </a:rPr>
              <a:t>Mandatory</a:t>
            </a:r>
          </a:p>
          <a:p>
            <a:pPr algn="ctr" fontAlgn="base"/>
            <a:r>
              <a:rPr lang="en-US" sz="2000" dirty="0">
                <a:latin typeface="Times New Roman" panose="02020603050405020304" pitchFamily="18" charset="0"/>
                <a:cs typeface="Times New Roman" panose="02020603050405020304" pitchFamily="18" charset="0"/>
              </a:rPr>
              <a:t>Field</a:t>
            </a:r>
          </a:p>
        </p:txBody>
      </p:sp>
      <p:sp>
        <p:nvSpPr>
          <p:cNvPr id="13" name="TextBox 12">
            <a:extLst>
              <a:ext uri="{FF2B5EF4-FFF2-40B4-BE49-F238E27FC236}">
                <a16:creationId xmlns:a16="http://schemas.microsoft.com/office/drawing/2014/main" id="{694C626E-06D0-73B1-EB17-C23E35DB3662}"/>
              </a:ext>
            </a:extLst>
          </p:cNvPr>
          <p:cNvSpPr txBox="1"/>
          <p:nvPr/>
        </p:nvSpPr>
        <p:spPr>
          <a:xfrm>
            <a:off x="6191694" y="4754717"/>
            <a:ext cx="2692692" cy="400110"/>
          </a:xfrm>
          <a:prstGeom prst="rect">
            <a:avLst/>
          </a:prstGeom>
          <a:noFill/>
        </p:spPr>
        <p:txBody>
          <a:bodyPr wrap="square">
            <a:spAutoFit/>
          </a:bodyPr>
          <a:lstStyle/>
          <a:p>
            <a:pPr fontAlgn="base"/>
            <a:r>
              <a:rPr lang="en-US" sz="2000" dirty="0">
                <a:latin typeface="Times New Roman" panose="02020603050405020304" pitchFamily="18" charset="0"/>
                <a:cs typeface="Times New Roman" panose="02020603050405020304" pitchFamily="18" charset="0"/>
              </a:rPr>
              <a:t>Optional Fields</a:t>
            </a:r>
          </a:p>
        </p:txBody>
      </p:sp>
      <p:cxnSp>
        <p:nvCxnSpPr>
          <p:cNvPr id="14" name="Straight Connector 13">
            <a:extLst>
              <a:ext uri="{FF2B5EF4-FFF2-40B4-BE49-F238E27FC236}">
                <a16:creationId xmlns:a16="http://schemas.microsoft.com/office/drawing/2014/main" id="{D86C8B16-372E-6E5D-FB2E-73BB58A985BC}"/>
              </a:ext>
            </a:extLst>
          </p:cNvPr>
          <p:cNvCxnSpPr/>
          <p:nvPr/>
        </p:nvCxnSpPr>
        <p:spPr>
          <a:xfrm>
            <a:off x="4128977" y="2555358"/>
            <a:ext cx="0" cy="712382"/>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59B1EFBF-6F84-DDE4-B6E2-4FC21161C8EC}"/>
              </a:ext>
            </a:extLst>
          </p:cNvPr>
          <p:cNvCxnSpPr/>
          <p:nvPr/>
        </p:nvCxnSpPr>
        <p:spPr>
          <a:xfrm>
            <a:off x="5450958" y="2525233"/>
            <a:ext cx="0" cy="712382"/>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2F2073-0607-327C-9D64-67DE5481DDF8}"/>
              </a:ext>
            </a:extLst>
          </p:cNvPr>
          <p:cNvCxnSpPr/>
          <p:nvPr/>
        </p:nvCxnSpPr>
        <p:spPr>
          <a:xfrm>
            <a:off x="8183526" y="2555358"/>
            <a:ext cx="0" cy="712382"/>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90F42E1-57BE-44CF-A257-C1B478EB0E3C}"/>
              </a:ext>
            </a:extLst>
          </p:cNvPr>
          <p:cNvCxnSpPr/>
          <p:nvPr/>
        </p:nvCxnSpPr>
        <p:spPr>
          <a:xfrm>
            <a:off x="6939516" y="2495108"/>
            <a:ext cx="0" cy="712382"/>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65FBFAA1-90B6-CE19-AA4B-CFE67E503A64}"/>
              </a:ext>
            </a:extLst>
          </p:cNvPr>
          <p:cNvSpPr txBox="1"/>
          <p:nvPr/>
        </p:nvSpPr>
        <p:spPr>
          <a:xfrm>
            <a:off x="3431216" y="1722581"/>
            <a:ext cx="1395521" cy="707886"/>
          </a:xfrm>
          <a:prstGeom prst="rect">
            <a:avLst/>
          </a:prstGeom>
          <a:noFill/>
        </p:spPr>
        <p:txBody>
          <a:bodyPr wrap="square">
            <a:spAutoFit/>
          </a:bodyPr>
          <a:lstStyle/>
          <a:p>
            <a:pPr algn="ctr" fontAlgn="base"/>
            <a:r>
              <a:rPr lang="en-US" sz="2000" dirty="0">
                <a:latin typeface="Times New Roman" panose="02020603050405020304" pitchFamily="18" charset="0"/>
                <a:cs typeface="Times New Roman" panose="02020603050405020304" pitchFamily="18" charset="0"/>
              </a:rPr>
              <a:t>Present /</a:t>
            </a:r>
          </a:p>
          <a:p>
            <a:pPr algn="ctr" fontAlgn="base"/>
            <a:r>
              <a:rPr lang="en-US" sz="2000" dirty="0">
                <a:latin typeface="Times New Roman" panose="02020603050405020304" pitchFamily="18" charset="0"/>
                <a:cs typeface="Times New Roman" panose="02020603050405020304" pitchFamily="18" charset="0"/>
              </a:rPr>
              <a:t>Absent</a:t>
            </a:r>
          </a:p>
        </p:txBody>
      </p:sp>
      <p:sp>
        <p:nvSpPr>
          <p:cNvPr id="20" name="TextBox 19">
            <a:extLst>
              <a:ext uri="{FF2B5EF4-FFF2-40B4-BE49-F238E27FC236}">
                <a16:creationId xmlns:a16="http://schemas.microsoft.com/office/drawing/2014/main" id="{BCEA802F-B9F2-849C-B313-527525671398}"/>
              </a:ext>
            </a:extLst>
          </p:cNvPr>
          <p:cNvSpPr txBox="1"/>
          <p:nvPr/>
        </p:nvSpPr>
        <p:spPr>
          <a:xfrm>
            <a:off x="4721745" y="1419866"/>
            <a:ext cx="1395521" cy="1015663"/>
          </a:xfrm>
          <a:prstGeom prst="rect">
            <a:avLst/>
          </a:prstGeom>
          <a:noFill/>
        </p:spPr>
        <p:txBody>
          <a:bodyPr wrap="square">
            <a:spAutoFit/>
          </a:bodyPr>
          <a:lstStyle/>
          <a:p>
            <a:pPr algn="ctr" fontAlgn="base"/>
            <a:r>
              <a:rPr lang="en-US" sz="2000" dirty="0">
                <a:latin typeface="Times New Roman" panose="02020603050405020304" pitchFamily="18" charset="0"/>
                <a:cs typeface="Times New Roman" panose="02020603050405020304" pitchFamily="18" charset="0"/>
              </a:rPr>
              <a:t>Read, Write, Execute</a:t>
            </a:r>
          </a:p>
        </p:txBody>
      </p:sp>
      <p:sp>
        <p:nvSpPr>
          <p:cNvPr id="21" name="TextBox 20">
            <a:extLst>
              <a:ext uri="{FF2B5EF4-FFF2-40B4-BE49-F238E27FC236}">
                <a16:creationId xmlns:a16="http://schemas.microsoft.com/office/drawing/2014/main" id="{C51AEE85-32CF-53FD-5673-D811CBEA5FE7}"/>
              </a:ext>
            </a:extLst>
          </p:cNvPr>
          <p:cNvSpPr txBox="1"/>
          <p:nvPr/>
        </p:nvSpPr>
        <p:spPr>
          <a:xfrm>
            <a:off x="6241755" y="2005866"/>
            <a:ext cx="1395521" cy="400110"/>
          </a:xfrm>
          <a:prstGeom prst="rect">
            <a:avLst/>
          </a:prstGeom>
          <a:noFill/>
        </p:spPr>
        <p:txBody>
          <a:bodyPr wrap="square">
            <a:spAutoFit/>
          </a:bodyPr>
          <a:lstStyle/>
          <a:p>
            <a:pPr algn="ctr" fontAlgn="base"/>
            <a:r>
              <a:rPr lang="en-US" sz="2000" dirty="0">
                <a:latin typeface="Times New Roman" panose="02020603050405020304" pitchFamily="18" charset="0"/>
                <a:cs typeface="Times New Roman" panose="02020603050405020304" pitchFamily="18" charset="0"/>
              </a:rPr>
              <a:t>LRU</a:t>
            </a:r>
          </a:p>
        </p:txBody>
      </p:sp>
      <p:sp>
        <p:nvSpPr>
          <p:cNvPr id="22" name="TextBox 21">
            <a:extLst>
              <a:ext uri="{FF2B5EF4-FFF2-40B4-BE49-F238E27FC236}">
                <a16:creationId xmlns:a16="http://schemas.microsoft.com/office/drawing/2014/main" id="{15DD644E-B15A-0018-FA85-8EC2C8DF6671}"/>
              </a:ext>
            </a:extLst>
          </p:cNvPr>
          <p:cNvSpPr txBox="1"/>
          <p:nvPr/>
        </p:nvSpPr>
        <p:spPr>
          <a:xfrm>
            <a:off x="7407795" y="1881124"/>
            <a:ext cx="1395521" cy="707886"/>
          </a:xfrm>
          <a:prstGeom prst="rect">
            <a:avLst/>
          </a:prstGeom>
          <a:noFill/>
        </p:spPr>
        <p:txBody>
          <a:bodyPr wrap="square">
            <a:spAutoFit/>
          </a:bodyPr>
          <a:lstStyle/>
          <a:p>
            <a:pPr algn="ctr" fontAlgn="base"/>
            <a:r>
              <a:rPr lang="en-US" sz="2000" dirty="0">
                <a:latin typeface="Times New Roman" panose="02020603050405020304" pitchFamily="18" charset="0"/>
                <a:cs typeface="Times New Roman" panose="02020603050405020304" pitchFamily="18" charset="0"/>
              </a:rPr>
              <a:t>Enable / Disable</a:t>
            </a:r>
          </a:p>
        </p:txBody>
      </p:sp>
      <p:sp>
        <p:nvSpPr>
          <p:cNvPr id="23" name="TextBox 22">
            <a:extLst>
              <a:ext uri="{FF2B5EF4-FFF2-40B4-BE49-F238E27FC236}">
                <a16:creationId xmlns:a16="http://schemas.microsoft.com/office/drawing/2014/main" id="{76B5E77C-C710-793A-617E-B2803C448A18}"/>
              </a:ext>
            </a:extLst>
          </p:cNvPr>
          <p:cNvSpPr txBox="1"/>
          <p:nvPr/>
        </p:nvSpPr>
        <p:spPr>
          <a:xfrm>
            <a:off x="8803316" y="1382590"/>
            <a:ext cx="1395521" cy="1015663"/>
          </a:xfrm>
          <a:prstGeom prst="rect">
            <a:avLst/>
          </a:prstGeom>
          <a:noFill/>
        </p:spPr>
        <p:txBody>
          <a:bodyPr wrap="square">
            <a:spAutoFit/>
          </a:bodyPr>
          <a:lstStyle/>
          <a:p>
            <a:pPr algn="ctr" fontAlgn="base"/>
            <a:r>
              <a:rPr lang="en-US" sz="2000" dirty="0">
                <a:latin typeface="Times New Roman" panose="02020603050405020304" pitchFamily="18" charset="0"/>
                <a:cs typeface="Times New Roman" panose="02020603050405020304" pitchFamily="18" charset="0"/>
              </a:rPr>
              <a:t>User Modified Data</a:t>
            </a:r>
          </a:p>
        </p:txBody>
      </p:sp>
      <p:cxnSp>
        <p:nvCxnSpPr>
          <p:cNvPr id="24" name="Straight Connector 23">
            <a:extLst>
              <a:ext uri="{FF2B5EF4-FFF2-40B4-BE49-F238E27FC236}">
                <a16:creationId xmlns:a16="http://schemas.microsoft.com/office/drawing/2014/main" id="{F6956E55-C017-6363-B908-69901FC539C8}"/>
              </a:ext>
            </a:extLst>
          </p:cNvPr>
          <p:cNvCxnSpPr/>
          <p:nvPr/>
        </p:nvCxnSpPr>
        <p:spPr>
          <a:xfrm>
            <a:off x="9516140" y="2536491"/>
            <a:ext cx="0" cy="712382"/>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45982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E8E98-E050-02F1-2B27-AC7915C20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3FCA3B-C38A-4496-32C3-D46E34E08843}"/>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FORMAT OF PAGE TABLE</a:t>
            </a:r>
          </a:p>
        </p:txBody>
      </p:sp>
      <p:sp>
        <p:nvSpPr>
          <p:cNvPr id="4" name="TextBox 3">
            <a:extLst>
              <a:ext uri="{FF2B5EF4-FFF2-40B4-BE49-F238E27FC236}">
                <a16:creationId xmlns:a16="http://schemas.microsoft.com/office/drawing/2014/main" id="{209B4A36-A53A-8B12-861F-25CE1B610CDF}"/>
              </a:ext>
            </a:extLst>
          </p:cNvPr>
          <p:cNvSpPr txBox="1"/>
          <p:nvPr/>
        </p:nvSpPr>
        <p:spPr>
          <a:xfrm>
            <a:off x="758455" y="1175929"/>
            <a:ext cx="10675089" cy="5293757"/>
          </a:xfrm>
          <a:prstGeom prst="rect">
            <a:avLst/>
          </a:prstGeom>
          <a:noFill/>
        </p:spPr>
        <p:txBody>
          <a:bodyPr wrap="square">
            <a:spAutoFit/>
          </a:bodyPr>
          <a:lstStyle/>
          <a:p>
            <a:pPr algn="just"/>
            <a:r>
              <a:rPr lang="en-US" sz="2600" dirty="0">
                <a:latin typeface="Times New Roman" panose="02020603050405020304" pitchFamily="18" charset="0"/>
                <a:cs typeface="Times New Roman" panose="02020603050405020304" pitchFamily="18" charset="0"/>
              </a:rPr>
              <a:t>The </a:t>
            </a:r>
            <a:r>
              <a:rPr lang="en-US" sz="2600" b="1" dirty="0">
                <a:latin typeface="Times New Roman" panose="02020603050405020304" pitchFamily="18" charset="0"/>
                <a:cs typeface="Times New Roman" panose="02020603050405020304" pitchFamily="18" charset="0"/>
              </a:rPr>
              <a:t>page table</a:t>
            </a:r>
            <a:r>
              <a:rPr lang="en-US" sz="2600" dirty="0">
                <a:latin typeface="Times New Roman" panose="02020603050405020304" pitchFamily="18" charset="0"/>
                <a:cs typeface="Times New Roman" panose="02020603050405020304" pitchFamily="18" charset="0"/>
              </a:rPr>
              <a:t> is a data structure inside the operating system that maps logical addresses and physical addresses. Each entry in the page table contains the following information:</a:t>
            </a:r>
          </a:p>
          <a:p>
            <a:pPr marL="342900" indent="-342900" algn="just">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Frame Number</a:t>
            </a:r>
            <a:r>
              <a:rPr lang="en-US" sz="2600" dirty="0">
                <a:latin typeface="Times New Roman" panose="02020603050405020304" pitchFamily="18" charset="0"/>
                <a:cs typeface="Times New Roman" panose="02020603050405020304" pitchFamily="18" charset="0"/>
              </a:rPr>
              <a:t> − The frame number refer to the location of the page in physical memory.</a:t>
            </a:r>
          </a:p>
          <a:p>
            <a:pPr marL="342900" indent="-342900" algn="just">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Valid/Invalid Bit</a:t>
            </a:r>
            <a:r>
              <a:rPr lang="en-US" sz="2600" dirty="0">
                <a:latin typeface="Times New Roman" panose="02020603050405020304" pitchFamily="18" charset="0"/>
                <a:cs typeface="Times New Roman" panose="02020603050405020304" pitchFamily="18" charset="0"/>
              </a:rPr>
              <a:t> − This bit is used to know if the page is in memory (valid) or not (invalid).</a:t>
            </a:r>
          </a:p>
          <a:p>
            <a:pPr marL="342900" indent="-342900" algn="just">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Protection Bits</a:t>
            </a:r>
            <a:r>
              <a:rPr lang="en-US" sz="2600" dirty="0">
                <a:latin typeface="Times New Roman" panose="02020603050405020304" pitchFamily="18" charset="0"/>
                <a:cs typeface="Times New Roman" panose="02020603050405020304" pitchFamily="18" charset="0"/>
              </a:rPr>
              <a:t> − Bits that is used to indicate the permission of accessing the page (e.g., read, write, execute).</a:t>
            </a:r>
          </a:p>
          <a:p>
            <a:pPr marL="342900" indent="-342900" algn="just">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Dirty Bit</a:t>
            </a:r>
            <a:r>
              <a:rPr lang="en-US" sz="2600" dirty="0">
                <a:latin typeface="Times New Roman" panose="02020603050405020304" pitchFamily="18" charset="0"/>
                <a:cs typeface="Times New Roman" panose="02020603050405020304" pitchFamily="18" charset="0"/>
              </a:rPr>
              <a:t> − A bit that is used to indicate if the page has been modified since it was loaded into memory.</a:t>
            </a:r>
          </a:p>
          <a:p>
            <a:pPr marL="342900" indent="-342900" algn="just">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Reference Bit</a:t>
            </a:r>
            <a:r>
              <a:rPr lang="en-US" sz="2600" dirty="0">
                <a:latin typeface="Times New Roman" panose="02020603050405020304" pitchFamily="18" charset="0"/>
                <a:cs typeface="Times New Roman" panose="02020603050405020304" pitchFamily="18" charset="0"/>
              </a:rPr>
              <a:t> − A bit that is used to indicate whether the page has been accessed recently.</a:t>
            </a:r>
          </a:p>
        </p:txBody>
      </p:sp>
    </p:spTree>
    <p:extLst>
      <p:ext uri="{BB962C8B-B14F-4D97-AF65-F5344CB8AC3E}">
        <p14:creationId xmlns:p14="http://schemas.microsoft.com/office/powerpoint/2010/main" val="893827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E03F1-BA7C-3F9C-59F3-D1CAA71CB2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BB3D4-E0ED-3A53-F282-44225DAC4C80}"/>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IMPLEMENTATION OF PAGE TABLE</a:t>
            </a:r>
          </a:p>
        </p:txBody>
      </p:sp>
      <p:sp>
        <p:nvSpPr>
          <p:cNvPr id="4" name="TextBox 3">
            <a:extLst>
              <a:ext uri="{FF2B5EF4-FFF2-40B4-BE49-F238E27FC236}">
                <a16:creationId xmlns:a16="http://schemas.microsoft.com/office/drawing/2014/main" id="{429E4A94-B4A4-AADF-86D3-20D106FA1E13}"/>
              </a:ext>
            </a:extLst>
          </p:cNvPr>
          <p:cNvSpPr txBox="1"/>
          <p:nvPr/>
        </p:nvSpPr>
        <p:spPr>
          <a:xfrm>
            <a:off x="758455" y="1175929"/>
            <a:ext cx="10675089" cy="5016758"/>
          </a:xfrm>
          <a:prstGeom prst="rect">
            <a:avLst/>
          </a:prstGeom>
          <a:noFill/>
        </p:spPr>
        <p:txBody>
          <a:bodyPr wrap="square">
            <a:spAutoFit/>
          </a:bodyPr>
          <a:lstStyle/>
          <a:p>
            <a:pPr marL="457200" indent="-457200" algn="just" fontAlgn="base">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Page table is kept in main memory</a:t>
            </a:r>
          </a:p>
          <a:p>
            <a:pPr marL="457200" indent="-457200" algn="just" fontAlgn="base">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Page-table base register </a:t>
            </a:r>
            <a:r>
              <a:rPr lang="en-US" sz="3200" dirty="0">
                <a:latin typeface="Times New Roman" panose="02020603050405020304" pitchFamily="18" charset="0"/>
                <a:cs typeface="Times New Roman" panose="02020603050405020304" pitchFamily="18" charset="0"/>
              </a:rPr>
              <a:t>(PTBR) points to the page table</a:t>
            </a:r>
          </a:p>
          <a:p>
            <a:pPr marL="457200" indent="-457200" algn="just" fontAlgn="base">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Page-table length register</a:t>
            </a:r>
            <a:r>
              <a:rPr lang="en-US" sz="3200" dirty="0">
                <a:latin typeface="Times New Roman" panose="02020603050405020304" pitchFamily="18" charset="0"/>
                <a:cs typeface="Times New Roman" panose="02020603050405020304" pitchFamily="18" charset="0"/>
              </a:rPr>
              <a:t> (PTLR) indicates size of the page table</a:t>
            </a:r>
          </a:p>
          <a:p>
            <a:pPr marL="457200" indent="-457200" algn="just" fontAlgn="base">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In this scheme every data/instruction access requires two memory accesses </a:t>
            </a:r>
          </a:p>
          <a:p>
            <a:pPr marL="914400" lvl="1" indent="-457200" algn="just" fontAlgn="base">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One for the page table and one for the data/ instruction</a:t>
            </a:r>
          </a:p>
          <a:p>
            <a:pPr marL="457200" indent="-457200" algn="just" fontAlgn="base">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The two-memory access problem </a:t>
            </a:r>
            <a:r>
              <a:rPr lang="en-US" sz="3200" dirty="0">
                <a:latin typeface="Times New Roman" panose="02020603050405020304" pitchFamily="18" charset="0"/>
                <a:cs typeface="Times New Roman" panose="02020603050405020304" pitchFamily="18" charset="0"/>
              </a:rPr>
              <a:t>can be solved using a special fast-lookup hardware cache called </a:t>
            </a:r>
            <a:r>
              <a:rPr lang="en-US" sz="3200" b="1" dirty="0">
                <a:latin typeface="Times New Roman" panose="02020603050405020304" pitchFamily="18" charset="0"/>
                <a:cs typeface="Times New Roman" panose="02020603050405020304" pitchFamily="18" charset="0"/>
              </a:rPr>
              <a:t>associative memory or translation look-aside buffers (TLBs).</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768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1769C-EDA4-9324-3F5D-B25B45CB8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85C5A-912F-9C75-A508-D3B1064489CD}"/>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ASSOCIATIVE MEMORY</a:t>
            </a:r>
          </a:p>
        </p:txBody>
      </p:sp>
      <p:sp>
        <p:nvSpPr>
          <p:cNvPr id="4" name="TextBox 3">
            <a:extLst>
              <a:ext uri="{FF2B5EF4-FFF2-40B4-BE49-F238E27FC236}">
                <a16:creationId xmlns:a16="http://schemas.microsoft.com/office/drawing/2014/main" id="{599515B4-4BED-F9B0-1AA7-EECFDAC8939C}"/>
              </a:ext>
            </a:extLst>
          </p:cNvPr>
          <p:cNvSpPr txBox="1"/>
          <p:nvPr/>
        </p:nvSpPr>
        <p:spPr>
          <a:xfrm>
            <a:off x="758455" y="1484274"/>
            <a:ext cx="10675089" cy="4524315"/>
          </a:xfrm>
          <a:prstGeom prst="rect">
            <a:avLst/>
          </a:prstGeom>
          <a:noFill/>
        </p:spPr>
        <p:txBody>
          <a:bodyPr wrap="square">
            <a:spAutoFit/>
          </a:bodyPr>
          <a:lstStyle/>
          <a:p>
            <a:pPr marL="457200" indent="-457200" algn="just" fontAlgn="base">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Associative memory – parallel search</a:t>
            </a:r>
          </a:p>
          <a:p>
            <a:pPr algn="ctr" fontAlgn="base"/>
            <a:endParaRPr lang="en-US" sz="3200" dirty="0">
              <a:latin typeface="Times New Roman" panose="02020603050405020304" pitchFamily="18" charset="0"/>
              <a:cs typeface="Times New Roman" panose="02020603050405020304" pitchFamily="18" charset="0"/>
            </a:endParaRPr>
          </a:p>
          <a:p>
            <a:pPr algn="ctr" fontAlgn="base"/>
            <a:endParaRPr lang="en-US" sz="3200" dirty="0">
              <a:latin typeface="Times New Roman" panose="02020603050405020304" pitchFamily="18" charset="0"/>
              <a:cs typeface="Times New Roman" panose="02020603050405020304" pitchFamily="18" charset="0"/>
            </a:endParaRPr>
          </a:p>
          <a:p>
            <a:pPr algn="ctr" fontAlgn="base"/>
            <a:endParaRPr lang="en-US" sz="3200" dirty="0">
              <a:latin typeface="Times New Roman" panose="02020603050405020304" pitchFamily="18" charset="0"/>
              <a:cs typeface="Times New Roman" panose="02020603050405020304" pitchFamily="18" charset="0"/>
            </a:endParaRPr>
          </a:p>
          <a:p>
            <a:pPr algn="ctr" fontAlgn="base"/>
            <a:endParaRPr lang="en-US" sz="3200" dirty="0">
              <a:latin typeface="Times New Roman" panose="02020603050405020304" pitchFamily="18" charset="0"/>
              <a:cs typeface="Times New Roman" panose="02020603050405020304" pitchFamily="18" charset="0"/>
            </a:endParaRPr>
          </a:p>
          <a:p>
            <a:pPr algn="ctr" fontAlgn="base"/>
            <a:endParaRPr lang="en-US" sz="3200" dirty="0">
              <a:latin typeface="Times New Roman" panose="02020603050405020304" pitchFamily="18" charset="0"/>
              <a:cs typeface="Times New Roman" panose="02020603050405020304" pitchFamily="18" charset="0"/>
            </a:endParaRPr>
          </a:p>
          <a:p>
            <a:pPr marL="457200" indent="-457200" algn="just" fontAlgn="base">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Address translation (p, d)</a:t>
            </a:r>
          </a:p>
          <a:p>
            <a:pPr marL="914400" lvl="1" indent="-457200" algn="just" fontAlgn="base">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If p is in associative register, get frame # out </a:t>
            </a:r>
          </a:p>
          <a:p>
            <a:pPr marL="914400" lvl="1" indent="-457200" algn="just" fontAlgn="base">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Otherwise get frame # from page table in memory </a:t>
            </a:r>
            <a:endParaRPr lang="en-US"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F3598E3-857C-C88B-57B0-C4E46B3426D9}"/>
              </a:ext>
            </a:extLst>
          </p:cNvPr>
          <p:cNvPicPr>
            <a:picLocks noChangeAspect="1"/>
          </p:cNvPicPr>
          <p:nvPr/>
        </p:nvPicPr>
        <p:blipFill>
          <a:blip r:embed="rId3"/>
          <a:stretch>
            <a:fillRect/>
          </a:stretch>
        </p:blipFill>
        <p:spPr>
          <a:xfrm>
            <a:off x="3314811" y="2177460"/>
            <a:ext cx="4924425" cy="2247900"/>
          </a:xfrm>
          <a:prstGeom prst="rect">
            <a:avLst/>
          </a:prstGeom>
        </p:spPr>
      </p:pic>
    </p:spTree>
    <p:extLst>
      <p:ext uri="{BB962C8B-B14F-4D97-AF65-F5344CB8AC3E}">
        <p14:creationId xmlns:p14="http://schemas.microsoft.com/office/powerpoint/2010/main" val="3863411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374D4-D7C8-CAF5-0857-B37AEF4D1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F97950-AD01-29B5-448D-7A078A9045E3}"/>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Paging hardware with </a:t>
            </a:r>
            <a:r>
              <a:rPr lang="en-US" sz="3600" b="1" dirty="0" err="1">
                <a:solidFill>
                  <a:srgbClr val="0070C0"/>
                </a:solidFill>
                <a:latin typeface="Times New Roman" panose="02020603050405020304" pitchFamily="18" charset="0"/>
                <a:cs typeface="Times New Roman" panose="02020603050405020304" pitchFamily="18" charset="0"/>
              </a:rPr>
              <a:t>tlb</a:t>
            </a:r>
            <a:endParaRPr lang="en-US" sz="3600" b="1" dirty="0">
              <a:solidFill>
                <a:srgbClr val="0070C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5CEF0E3-948E-4EB8-6DAD-1BD382A5B95C}"/>
              </a:ext>
            </a:extLst>
          </p:cNvPr>
          <p:cNvPicPr>
            <a:picLocks noChangeAspect="1"/>
          </p:cNvPicPr>
          <p:nvPr/>
        </p:nvPicPr>
        <p:blipFill>
          <a:blip r:embed="rId3"/>
          <a:stretch>
            <a:fillRect/>
          </a:stretch>
        </p:blipFill>
        <p:spPr>
          <a:xfrm>
            <a:off x="1624012" y="1156070"/>
            <a:ext cx="8943975" cy="5162550"/>
          </a:xfrm>
          <a:prstGeom prst="rect">
            <a:avLst/>
          </a:prstGeom>
        </p:spPr>
      </p:pic>
    </p:spTree>
    <p:extLst>
      <p:ext uri="{BB962C8B-B14F-4D97-AF65-F5344CB8AC3E}">
        <p14:creationId xmlns:p14="http://schemas.microsoft.com/office/powerpoint/2010/main" val="1140720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CC86E-849C-B25F-A1FC-D38A12737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E8E73-2DEF-617A-78C4-01E1BB186EAF}"/>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IMPLEMENTATION OF PAGE TABLE</a:t>
            </a:r>
          </a:p>
        </p:txBody>
      </p:sp>
      <p:sp>
        <p:nvSpPr>
          <p:cNvPr id="4" name="TextBox 3">
            <a:extLst>
              <a:ext uri="{FF2B5EF4-FFF2-40B4-BE49-F238E27FC236}">
                <a16:creationId xmlns:a16="http://schemas.microsoft.com/office/drawing/2014/main" id="{7E48EF95-784E-92F4-947C-584FD4A0BD10}"/>
              </a:ext>
            </a:extLst>
          </p:cNvPr>
          <p:cNvSpPr txBox="1"/>
          <p:nvPr/>
        </p:nvSpPr>
        <p:spPr>
          <a:xfrm>
            <a:off x="758455" y="1175929"/>
            <a:ext cx="10675089" cy="5016758"/>
          </a:xfrm>
          <a:prstGeom prst="rect">
            <a:avLst/>
          </a:prstGeom>
          <a:noFill/>
        </p:spPr>
        <p:txBody>
          <a:bodyPr wrap="square">
            <a:spAutoFit/>
          </a:bodyPr>
          <a:lstStyle/>
          <a:p>
            <a:pPr marL="457200" indent="-457200" algn="just" fontAlgn="base">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Some </a:t>
            </a:r>
            <a:r>
              <a:rPr lang="en-US" sz="3200" b="1" dirty="0">
                <a:latin typeface="Times New Roman" panose="02020603050405020304" pitchFamily="18" charset="0"/>
                <a:cs typeface="Times New Roman" panose="02020603050405020304" pitchFamily="18" charset="0"/>
              </a:rPr>
              <a:t>TLBs</a:t>
            </a:r>
            <a:r>
              <a:rPr lang="en-US" sz="3200" dirty="0">
                <a:latin typeface="Times New Roman" panose="02020603050405020304" pitchFamily="18" charset="0"/>
                <a:cs typeface="Times New Roman" panose="02020603050405020304" pitchFamily="18" charset="0"/>
              </a:rPr>
              <a:t> store </a:t>
            </a:r>
            <a:r>
              <a:rPr lang="en-US" sz="3200" b="1" dirty="0">
                <a:latin typeface="Times New Roman" panose="02020603050405020304" pitchFamily="18" charset="0"/>
                <a:cs typeface="Times New Roman" panose="02020603050405020304" pitchFamily="18" charset="0"/>
              </a:rPr>
              <a:t>address-space identifiers (ASIDs)</a:t>
            </a:r>
            <a:r>
              <a:rPr lang="en-US" sz="3200" dirty="0">
                <a:latin typeface="Times New Roman" panose="02020603050405020304" pitchFamily="18" charset="0"/>
                <a:cs typeface="Times New Roman" panose="02020603050405020304" pitchFamily="18" charset="0"/>
              </a:rPr>
              <a:t> in each TLB entry uniquely identifies each process to provide address-space protection for that process.</a:t>
            </a:r>
          </a:p>
          <a:p>
            <a:pPr marL="914400" lvl="1" indent="-457200" algn="just" fontAlgn="base">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Otherwise need to flush at every context switch</a:t>
            </a:r>
          </a:p>
          <a:p>
            <a:pPr marL="457200" indent="-457200" algn="just" fontAlgn="base">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TLBs typically small (64 to 1,024 entries)</a:t>
            </a:r>
          </a:p>
          <a:p>
            <a:pPr marL="457200" indent="-457200" algn="just" fontAlgn="base">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On a TLB miss, </a:t>
            </a:r>
            <a:r>
              <a:rPr lang="en-US" sz="3200" dirty="0">
                <a:latin typeface="Times New Roman" panose="02020603050405020304" pitchFamily="18" charset="0"/>
                <a:cs typeface="Times New Roman" panose="02020603050405020304" pitchFamily="18" charset="0"/>
              </a:rPr>
              <a:t>value is loaded into the TLB for faster access next time</a:t>
            </a:r>
          </a:p>
          <a:p>
            <a:pPr marL="914400" lvl="1" indent="-457200" algn="just" fontAlgn="base">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Replacement policies must be considered</a:t>
            </a:r>
          </a:p>
          <a:p>
            <a:pPr marL="914400" lvl="1" indent="-457200" algn="just" fontAlgn="base">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 Some entries can be </a:t>
            </a:r>
            <a:r>
              <a:rPr lang="en-US" sz="3200" b="1" dirty="0">
                <a:latin typeface="Times New Roman" panose="02020603050405020304" pitchFamily="18" charset="0"/>
                <a:cs typeface="Times New Roman" panose="02020603050405020304" pitchFamily="18" charset="0"/>
              </a:rPr>
              <a:t>wired down </a:t>
            </a:r>
            <a:r>
              <a:rPr lang="en-US" sz="3200" dirty="0">
                <a:latin typeface="Times New Roman" panose="02020603050405020304" pitchFamily="18" charset="0"/>
                <a:cs typeface="Times New Roman" panose="02020603050405020304" pitchFamily="18" charset="0"/>
              </a:rPr>
              <a:t>for permanent fast access.</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1497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1C9C4-F1A8-730F-58CC-67CA1FBA6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77145C-35E3-2E6C-2334-1BFACE6EE65B}"/>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200" b="1" dirty="0">
                <a:solidFill>
                  <a:srgbClr val="0070C0"/>
                </a:solidFill>
                <a:latin typeface="Times New Roman" panose="02020603050405020304" pitchFamily="18" charset="0"/>
                <a:cs typeface="Times New Roman" panose="02020603050405020304" pitchFamily="18" charset="0"/>
              </a:rPr>
              <a:t>Two possible cases during memory access</a:t>
            </a:r>
          </a:p>
        </p:txBody>
      </p:sp>
      <p:pic>
        <p:nvPicPr>
          <p:cNvPr id="5" name="Picture 4">
            <a:extLst>
              <a:ext uri="{FF2B5EF4-FFF2-40B4-BE49-F238E27FC236}">
                <a16:creationId xmlns:a16="http://schemas.microsoft.com/office/drawing/2014/main" id="{4969A894-5C99-51F4-2283-64039D0FD7FD}"/>
              </a:ext>
            </a:extLst>
          </p:cNvPr>
          <p:cNvPicPr>
            <a:picLocks noChangeAspect="1"/>
          </p:cNvPicPr>
          <p:nvPr/>
        </p:nvPicPr>
        <p:blipFill>
          <a:blip r:embed="rId3"/>
          <a:stretch>
            <a:fillRect/>
          </a:stretch>
        </p:blipFill>
        <p:spPr>
          <a:xfrm>
            <a:off x="824273" y="1142779"/>
            <a:ext cx="5571212" cy="2918858"/>
          </a:xfrm>
          <a:prstGeom prst="rect">
            <a:avLst/>
          </a:prstGeom>
        </p:spPr>
      </p:pic>
      <p:pic>
        <p:nvPicPr>
          <p:cNvPr id="7" name="Picture 6">
            <a:extLst>
              <a:ext uri="{FF2B5EF4-FFF2-40B4-BE49-F238E27FC236}">
                <a16:creationId xmlns:a16="http://schemas.microsoft.com/office/drawing/2014/main" id="{A2FDD3D5-BFA2-8220-AE0B-C5F1703D97C7}"/>
              </a:ext>
            </a:extLst>
          </p:cNvPr>
          <p:cNvPicPr>
            <a:picLocks noChangeAspect="1"/>
          </p:cNvPicPr>
          <p:nvPr/>
        </p:nvPicPr>
        <p:blipFill>
          <a:blip r:embed="rId4"/>
          <a:stretch>
            <a:fillRect/>
          </a:stretch>
        </p:blipFill>
        <p:spPr>
          <a:xfrm>
            <a:off x="5947919" y="1261917"/>
            <a:ext cx="5559391" cy="3000486"/>
          </a:xfrm>
          <a:prstGeom prst="rect">
            <a:avLst/>
          </a:prstGeom>
        </p:spPr>
      </p:pic>
      <p:sp>
        <p:nvSpPr>
          <p:cNvPr id="9" name="TextBox 8">
            <a:extLst>
              <a:ext uri="{FF2B5EF4-FFF2-40B4-BE49-F238E27FC236}">
                <a16:creationId xmlns:a16="http://schemas.microsoft.com/office/drawing/2014/main" id="{9B4632AB-DE5A-34DC-EAB4-1A76A483E132}"/>
              </a:ext>
            </a:extLst>
          </p:cNvPr>
          <p:cNvSpPr txBox="1"/>
          <p:nvPr/>
        </p:nvSpPr>
        <p:spPr>
          <a:xfrm>
            <a:off x="951865" y="4262403"/>
            <a:ext cx="10829009" cy="1323439"/>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So, we use:</a:t>
            </a:r>
          </a:p>
          <a:p>
            <a:pPr marL="285750" indent="-28575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Hit ratio (h)</a:t>
            </a:r>
            <a:r>
              <a:rPr lang="en-US" sz="2000" dirty="0">
                <a:latin typeface="Times New Roman" panose="02020603050405020304" pitchFamily="18" charset="0"/>
                <a:cs typeface="Times New Roman" panose="02020603050405020304" pitchFamily="18" charset="0"/>
              </a:rPr>
              <a:t> → probability of TLB hit</a:t>
            </a:r>
          </a:p>
          <a:p>
            <a:pPr marL="285750" indent="-28575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Miss ratio (1 − h)</a:t>
            </a:r>
            <a:r>
              <a:rPr lang="en-US" sz="2000" dirty="0">
                <a:latin typeface="Times New Roman" panose="02020603050405020304" pitchFamily="18" charset="0"/>
                <a:cs typeface="Times New Roman" panose="02020603050405020304" pitchFamily="18" charset="0"/>
              </a:rPr>
              <a:t> → probability of TLB miss</a:t>
            </a:r>
          </a:p>
          <a:p>
            <a:pPr>
              <a:buNone/>
            </a:pPr>
            <a:r>
              <a:rPr lang="en-US" sz="2000" dirty="0">
                <a:latin typeface="Times New Roman" panose="02020603050405020304" pitchFamily="18" charset="0"/>
                <a:cs typeface="Times New Roman" panose="02020603050405020304" pitchFamily="18" charset="0"/>
              </a:rPr>
              <a:t>This leads to a </a:t>
            </a:r>
            <a:r>
              <a:rPr lang="en-US" sz="2000" b="1" dirty="0">
                <a:latin typeface="Times New Roman" panose="02020603050405020304" pitchFamily="18" charset="0"/>
                <a:cs typeface="Times New Roman" panose="02020603050405020304" pitchFamily="18" charset="0"/>
              </a:rPr>
              <a:t>weighted average</a:t>
            </a:r>
            <a:r>
              <a:rPr lang="en-US" sz="2000" dirty="0">
                <a:latin typeface="Times New Roman" panose="02020603050405020304" pitchFamily="18" charset="0"/>
                <a:cs typeface="Times New Roman" panose="02020603050405020304" pitchFamily="18" charset="0"/>
              </a:rPr>
              <a:t>, which reflects </a:t>
            </a:r>
            <a:r>
              <a:rPr lang="en-US" sz="2000" b="1" dirty="0">
                <a:latin typeface="Times New Roman" panose="02020603050405020304" pitchFamily="18" charset="0"/>
                <a:cs typeface="Times New Roman" panose="02020603050405020304" pitchFamily="18" charset="0"/>
              </a:rPr>
              <a:t>real system behavior</a:t>
            </a:r>
            <a:r>
              <a:rPr lang="en-US" sz="2000" dirty="0">
                <a:latin typeface="Times New Roman" panose="02020603050405020304" pitchFamily="18" charset="0"/>
                <a:cs typeface="Times New Roman" panose="02020603050405020304" pitchFamily="18" charset="0"/>
              </a:rPr>
              <a:t>, not best-case or worst-case.</a:t>
            </a:r>
          </a:p>
        </p:txBody>
      </p:sp>
    </p:spTree>
    <p:extLst>
      <p:ext uri="{BB962C8B-B14F-4D97-AF65-F5344CB8AC3E}">
        <p14:creationId xmlns:p14="http://schemas.microsoft.com/office/powerpoint/2010/main" val="8685962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7292F-3A18-20D0-0D43-8F4AE9C4D3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474F89-BEEF-6C30-846C-8FAEA9201A56}"/>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Effective access time (eat)</a:t>
            </a:r>
          </a:p>
        </p:txBody>
      </p:sp>
      <p:pic>
        <p:nvPicPr>
          <p:cNvPr id="7" name="Picture 6">
            <a:extLst>
              <a:ext uri="{FF2B5EF4-FFF2-40B4-BE49-F238E27FC236}">
                <a16:creationId xmlns:a16="http://schemas.microsoft.com/office/drawing/2014/main" id="{625069BA-5375-1EA2-31EA-918341FE63D7}"/>
              </a:ext>
            </a:extLst>
          </p:cNvPr>
          <p:cNvPicPr>
            <a:picLocks noChangeAspect="1"/>
          </p:cNvPicPr>
          <p:nvPr/>
        </p:nvPicPr>
        <p:blipFill>
          <a:blip r:embed="rId3"/>
          <a:stretch>
            <a:fillRect/>
          </a:stretch>
        </p:blipFill>
        <p:spPr>
          <a:xfrm>
            <a:off x="1365546" y="3193245"/>
            <a:ext cx="10585449" cy="3442624"/>
          </a:xfrm>
          <a:prstGeom prst="rect">
            <a:avLst/>
          </a:prstGeom>
        </p:spPr>
      </p:pic>
      <p:pic>
        <p:nvPicPr>
          <p:cNvPr id="15" name="Picture 14">
            <a:extLst>
              <a:ext uri="{FF2B5EF4-FFF2-40B4-BE49-F238E27FC236}">
                <a16:creationId xmlns:a16="http://schemas.microsoft.com/office/drawing/2014/main" id="{E759BEA1-0452-22FC-D0C6-2F23AF1D848E}"/>
              </a:ext>
            </a:extLst>
          </p:cNvPr>
          <p:cNvPicPr>
            <a:picLocks noChangeAspect="1"/>
          </p:cNvPicPr>
          <p:nvPr/>
        </p:nvPicPr>
        <p:blipFill>
          <a:blip r:embed="rId4"/>
          <a:stretch>
            <a:fillRect/>
          </a:stretch>
        </p:blipFill>
        <p:spPr>
          <a:xfrm>
            <a:off x="1609613" y="145245"/>
            <a:ext cx="8591550" cy="3048000"/>
          </a:xfrm>
          <a:prstGeom prst="rect">
            <a:avLst/>
          </a:prstGeom>
        </p:spPr>
      </p:pic>
    </p:spTree>
    <p:extLst>
      <p:ext uri="{BB962C8B-B14F-4D97-AF65-F5344CB8AC3E}">
        <p14:creationId xmlns:p14="http://schemas.microsoft.com/office/powerpoint/2010/main" val="4017105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DD9BF-F107-8C8A-FBC4-59BE726C29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620EF-ECAE-2C2C-5FE7-24096B6ECB38}"/>
              </a:ext>
            </a:extLst>
          </p:cNvPr>
          <p:cNvSpPr txBox="1">
            <a:spLocks/>
          </p:cNvSpPr>
          <p:nvPr/>
        </p:nvSpPr>
        <p:spPr>
          <a:xfrm>
            <a:off x="866803" y="177143"/>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Effective access time (eat)</a:t>
            </a:r>
          </a:p>
        </p:txBody>
      </p:sp>
      <p:pic>
        <p:nvPicPr>
          <p:cNvPr id="9" name="Picture 8">
            <a:extLst>
              <a:ext uri="{FF2B5EF4-FFF2-40B4-BE49-F238E27FC236}">
                <a16:creationId xmlns:a16="http://schemas.microsoft.com/office/drawing/2014/main" id="{8A00AE58-4DFC-5D28-5492-047781CFD57B}"/>
              </a:ext>
            </a:extLst>
          </p:cNvPr>
          <p:cNvPicPr>
            <a:picLocks noChangeAspect="1"/>
          </p:cNvPicPr>
          <p:nvPr/>
        </p:nvPicPr>
        <p:blipFill>
          <a:blip r:embed="rId3"/>
          <a:stretch>
            <a:fillRect/>
          </a:stretch>
        </p:blipFill>
        <p:spPr>
          <a:xfrm>
            <a:off x="1558000" y="822982"/>
            <a:ext cx="8905875" cy="5857875"/>
          </a:xfrm>
          <a:prstGeom prst="rect">
            <a:avLst/>
          </a:prstGeom>
        </p:spPr>
      </p:pic>
    </p:spTree>
    <p:extLst>
      <p:ext uri="{BB962C8B-B14F-4D97-AF65-F5344CB8AC3E}">
        <p14:creationId xmlns:p14="http://schemas.microsoft.com/office/powerpoint/2010/main" val="24392806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5C728-5F23-7D5F-5E0E-D9082BF318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417E93-017C-C635-BB37-B19476D4CA3E}"/>
              </a:ext>
            </a:extLst>
          </p:cNvPr>
          <p:cNvSpPr txBox="1">
            <a:spLocks/>
          </p:cNvSpPr>
          <p:nvPr/>
        </p:nvSpPr>
        <p:spPr>
          <a:xfrm>
            <a:off x="866803" y="177143"/>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Effective access time (eat)</a:t>
            </a:r>
          </a:p>
        </p:txBody>
      </p:sp>
      <p:sp>
        <p:nvSpPr>
          <p:cNvPr id="4" name="TextBox 3">
            <a:extLst>
              <a:ext uri="{FF2B5EF4-FFF2-40B4-BE49-F238E27FC236}">
                <a16:creationId xmlns:a16="http://schemas.microsoft.com/office/drawing/2014/main" id="{28A521A2-2EB2-3F07-2262-7FE32070552F}"/>
              </a:ext>
            </a:extLst>
          </p:cNvPr>
          <p:cNvSpPr txBox="1"/>
          <p:nvPr/>
        </p:nvSpPr>
        <p:spPr>
          <a:xfrm>
            <a:off x="2028160" y="830743"/>
            <a:ext cx="6097772" cy="369332"/>
          </a:xfrm>
          <a:prstGeom prst="rect">
            <a:avLst/>
          </a:prstGeom>
          <a:noFill/>
        </p:spPr>
        <p:txBody>
          <a:bodyPr wrap="square">
            <a:spAutoFit/>
          </a:bodyPr>
          <a:lstStyle/>
          <a:p>
            <a:r>
              <a:rPr lang="en-US" dirty="0"/>
              <a:t>🔹 Case 2: More Realistic Hit Ratio = 99%</a:t>
            </a:r>
            <a:endParaRPr lang="en-PK" dirty="0"/>
          </a:p>
        </p:txBody>
      </p:sp>
      <p:pic>
        <p:nvPicPr>
          <p:cNvPr id="6" name="Picture 5">
            <a:extLst>
              <a:ext uri="{FF2B5EF4-FFF2-40B4-BE49-F238E27FC236}">
                <a16:creationId xmlns:a16="http://schemas.microsoft.com/office/drawing/2014/main" id="{EB811CA8-670A-B001-0F32-45B89BAFC3AC}"/>
              </a:ext>
            </a:extLst>
          </p:cNvPr>
          <p:cNvPicPr>
            <a:picLocks noChangeAspect="1"/>
          </p:cNvPicPr>
          <p:nvPr/>
        </p:nvPicPr>
        <p:blipFill>
          <a:blip r:embed="rId3"/>
          <a:stretch>
            <a:fillRect/>
          </a:stretch>
        </p:blipFill>
        <p:spPr>
          <a:xfrm>
            <a:off x="1843198" y="1280191"/>
            <a:ext cx="8782050" cy="5324475"/>
          </a:xfrm>
          <a:prstGeom prst="rect">
            <a:avLst/>
          </a:prstGeom>
        </p:spPr>
      </p:pic>
    </p:spTree>
    <p:extLst>
      <p:ext uri="{BB962C8B-B14F-4D97-AF65-F5344CB8AC3E}">
        <p14:creationId xmlns:p14="http://schemas.microsoft.com/office/powerpoint/2010/main" val="33782819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3E599-0446-5423-6ED3-9B4882EEE0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E7B12B-7EC7-7AF6-BAD1-822CD93DD21C}"/>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Example - Effective access time (eat)</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2D76168-5D91-7B57-CC93-96E61C081A2D}"/>
                  </a:ext>
                </a:extLst>
              </p:cNvPr>
              <p:cNvSpPr txBox="1"/>
              <p:nvPr/>
            </p:nvSpPr>
            <p:spPr>
              <a:xfrm>
                <a:off x="616689" y="1137983"/>
                <a:ext cx="11142921" cy="5596532"/>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percentage of times that a page number is not found in the associative registers is 33%. If it takes 150 nanoseconds to access primary memory, and takes 23 nanoseconds to search the associative registers, then what is the effective reference time?</a:t>
                </a:r>
              </a:p>
              <a:p>
                <a:pPr algn="just"/>
                <a:r>
                  <a:rPr lang="en-US" sz="2400" b="1" dirty="0">
                    <a:latin typeface="Times New Roman" panose="02020603050405020304" pitchFamily="18" charset="0"/>
                    <a:cs typeface="Times New Roman" panose="02020603050405020304" pitchFamily="18" charset="0"/>
                  </a:rPr>
                  <a:t>Solution: Given </a:t>
                </a:r>
              </a:p>
              <a:p>
                <a:r>
                  <a:rPr lang="en-US" sz="2400" dirty="0">
                    <a:latin typeface="Times New Roman" panose="02020603050405020304" pitchFamily="18" charset="0"/>
                    <a:cs typeface="Times New Roman" panose="02020603050405020304" pitchFamily="18" charset="0"/>
                  </a:rPr>
                  <a:t>Miss ratio = 33% = 0.33</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Hit ratio = 67% = 0.67</a:t>
                </a:r>
              </a:p>
              <a:p>
                <a:r>
                  <a:rPr lang="en-US" sz="2400" dirty="0">
                    <a:latin typeface="Times New Roman" panose="02020603050405020304" pitchFamily="18" charset="0"/>
                    <a:cs typeface="Times New Roman" panose="02020603050405020304" pitchFamily="18" charset="0"/>
                  </a:rPr>
                  <a:t>TLB access time (c) = 23 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Memory access time (m) = 150 ns</a:t>
                </a:r>
              </a:p>
              <a:p>
                <a:endParaRPr lang="en-US" sz="24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nor/>
                        </m:rPr>
                        <a:rPr lang="en-US" sz="2400" b="0">
                          <a:latin typeface="Times New Roman" panose="02020603050405020304" pitchFamily="18" charset="0"/>
                          <a:cs typeface="Times New Roman" panose="02020603050405020304" pitchFamily="18" charset="0"/>
                        </a:rPr>
                        <m:t>EAT</m:t>
                      </m:r>
                      <m:r>
                        <a:rPr lang="en-US">
                          <a:latin typeface="Cambria Math" panose="02040503050406030204" pitchFamily="18" charset="0"/>
                        </a:rPr>
                        <m:t>=</m:t>
                      </m:r>
                      <m:r>
                        <a:rPr lang="en-US" i="1">
                          <a:latin typeface="Cambria Math" panose="02040503050406030204" pitchFamily="18" charset="0"/>
                        </a:rPr>
                        <m:t>h</m:t>
                      </m:r>
                      <m:d>
                        <m:dPr>
                          <m:ctrlPr>
                            <a:rPr lang="ar-AE" i="1">
                              <a:latin typeface="Cambria Math" panose="02040503050406030204" pitchFamily="18" charset="0"/>
                            </a:rPr>
                          </m:ctrlPr>
                        </m:dPr>
                        <m:e>
                          <m:r>
                            <a:rPr lang="ar-AE" i="1">
                              <a:latin typeface="Cambria Math" panose="02040503050406030204" pitchFamily="18" charset="0"/>
                            </a:rPr>
                            <m:t>𝑐</m:t>
                          </m:r>
                          <m:r>
                            <a:rPr lang="ar-AE">
                              <a:latin typeface="Cambria Math" panose="02040503050406030204" pitchFamily="18" charset="0"/>
                            </a:rPr>
                            <m:t>+</m:t>
                          </m:r>
                          <m:r>
                            <a:rPr lang="ar-AE" i="1">
                              <a:latin typeface="Cambria Math" panose="02040503050406030204" pitchFamily="18" charset="0"/>
                            </a:rPr>
                            <m:t>𝑚</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h</m:t>
                          </m:r>
                        </m:e>
                      </m:d>
                      <m:d>
                        <m:dPr>
                          <m:ctrlPr>
                            <a:rPr lang="ar-AE" i="1">
                              <a:latin typeface="Cambria Math" panose="02040503050406030204" pitchFamily="18" charset="0"/>
                            </a:rPr>
                          </m:ctrlPr>
                        </m:dPr>
                        <m:e>
                          <m:r>
                            <a:rPr lang="ar-AE" i="1">
                              <a:latin typeface="Cambria Math" panose="02040503050406030204" pitchFamily="18" charset="0"/>
                            </a:rPr>
                            <m:t>𝑐</m:t>
                          </m:r>
                          <m:r>
                            <a:rPr lang="ar-AE">
                              <a:latin typeface="Cambria Math" panose="02040503050406030204" pitchFamily="18" charset="0"/>
                            </a:rPr>
                            <m:t>+</m:t>
                          </m:r>
                          <m:r>
                            <a:rPr lang="ar-AE">
                              <a:latin typeface="Cambria Math" panose="02040503050406030204" pitchFamily="18" charset="0"/>
                            </a:rPr>
                            <m:t>2</m:t>
                          </m:r>
                          <m:r>
                            <a:rPr lang="ar-AE" i="1">
                              <a:latin typeface="Cambria Math" panose="02040503050406030204" pitchFamily="18" charset="0"/>
                            </a:rPr>
                            <m:t>𝑚</m:t>
                          </m:r>
                        </m:e>
                      </m:d>
                    </m:oMath>
                  </m:oMathPara>
                </a14:m>
                <a:endParaRPr lang="ar-AE" sz="2400" b="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nor/>
                        </m:rPr>
                        <a:rPr lang="en-US" sz="2400" b="0">
                          <a:latin typeface="Times New Roman" panose="02020603050405020304" pitchFamily="18" charset="0"/>
                          <a:cs typeface="Times New Roman" panose="02020603050405020304" pitchFamily="18" charset="0"/>
                        </a:rPr>
                        <m:t>EAT</m:t>
                      </m:r>
                      <m:r>
                        <a:rPr lang="en-US">
                          <a:latin typeface="Cambria Math" panose="02040503050406030204" pitchFamily="18" charset="0"/>
                        </a:rPr>
                        <m:t>=</m:t>
                      </m:r>
                      <m:r>
                        <a:rPr lang="en-US">
                          <a:latin typeface="Cambria Math" panose="02040503050406030204" pitchFamily="18" charset="0"/>
                        </a:rPr>
                        <m:t>0</m:t>
                      </m:r>
                      <m:r>
                        <a:rPr lang="en-US">
                          <a:latin typeface="Cambria Math" panose="02040503050406030204" pitchFamily="18" charset="0"/>
                        </a:rPr>
                        <m:t>.</m:t>
                      </m:r>
                      <m:r>
                        <a:rPr lang="en-US">
                          <a:latin typeface="Cambria Math" panose="02040503050406030204" pitchFamily="18" charset="0"/>
                        </a:rPr>
                        <m:t>67</m:t>
                      </m:r>
                      <m:d>
                        <m:dPr>
                          <m:ctrlPr>
                            <a:rPr lang="ar-AE" i="1">
                              <a:latin typeface="Cambria Math" panose="02040503050406030204" pitchFamily="18" charset="0"/>
                            </a:rPr>
                          </m:ctrlPr>
                        </m:dPr>
                        <m:e>
                          <m:r>
                            <a:rPr lang="ar-AE">
                              <a:latin typeface="Cambria Math" panose="02040503050406030204" pitchFamily="18" charset="0"/>
                            </a:rPr>
                            <m:t>23</m:t>
                          </m:r>
                          <m:r>
                            <a:rPr lang="ar-AE">
                              <a:latin typeface="Cambria Math" panose="02040503050406030204" pitchFamily="18" charset="0"/>
                            </a:rPr>
                            <m:t>+</m:t>
                          </m:r>
                          <m:r>
                            <a:rPr lang="ar-AE">
                              <a:latin typeface="Cambria Math" panose="02040503050406030204" pitchFamily="18" charset="0"/>
                            </a:rPr>
                            <m:t>150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33</m:t>
                      </m:r>
                      <m:d>
                        <m:dPr>
                          <m:ctrlPr>
                            <a:rPr lang="ar-AE" i="1">
                              <a:latin typeface="Cambria Math" panose="02040503050406030204" pitchFamily="18" charset="0"/>
                            </a:rPr>
                          </m:ctrlPr>
                        </m:dPr>
                        <m:e>
                          <m:r>
                            <a:rPr lang="ar-AE">
                              <a:latin typeface="Cambria Math" panose="02040503050406030204" pitchFamily="18" charset="0"/>
                            </a:rPr>
                            <m:t>23</m:t>
                          </m:r>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150</m:t>
                          </m:r>
                        </m:e>
                      </m:d>
                    </m:oMath>
                  </m:oMathPara>
                </a14:m>
                <a:endParaRPr lang="ar-AE" sz="2400" b="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nor/>
                        </m:rPr>
                        <a:rPr lang="en-US" sz="2400" b="0">
                          <a:latin typeface="Times New Roman" panose="02020603050405020304" pitchFamily="18" charset="0"/>
                          <a:cs typeface="Times New Roman" panose="02020603050405020304" pitchFamily="18" charset="0"/>
                        </a:rPr>
                        <m:t>EAT</m:t>
                      </m:r>
                      <m:r>
                        <a:rPr lang="en-US">
                          <a:latin typeface="Cambria Math" panose="02040503050406030204" pitchFamily="18" charset="0"/>
                        </a:rPr>
                        <m:t>=</m:t>
                      </m:r>
                      <m:r>
                        <a:rPr lang="en-US">
                          <a:latin typeface="Cambria Math" panose="02040503050406030204" pitchFamily="18" charset="0"/>
                        </a:rPr>
                        <m:t>0</m:t>
                      </m:r>
                      <m:r>
                        <a:rPr lang="en-US">
                          <a:latin typeface="Cambria Math" panose="02040503050406030204" pitchFamily="18" charset="0"/>
                        </a:rPr>
                        <m:t>.</m:t>
                      </m:r>
                      <m:r>
                        <a:rPr lang="en-US">
                          <a:latin typeface="Cambria Math" panose="02040503050406030204" pitchFamily="18" charset="0"/>
                        </a:rPr>
                        <m:t>67</m:t>
                      </m:r>
                      <m:d>
                        <m:dPr>
                          <m:ctrlPr>
                            <a:rPr lang="ar-AE" i="1">
                              <a:latin typeface="Cambria Math" panose="02040503050406030204" pitchFamily="18" charset="0"/>
                            </a:rPr>
                          </m:ctrlPr>
                        </m:dPr>
                        <m:e>
                          <m:r>
                            <a:rPr lang="ar-AE">
                              <a:latin typeface="Cambria Math" panose="02040503050406030204" pitchFamily="18" charset="0"/>
                            </a:rPr>
                            <m:t>173</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33</m:t>
                      </m:r>
                      <m:d>
                        <m:dPr>
                          <m:ctrlPr>
                            <a:rPr lang="ar-AE" i="1">
                              <a:latin typeface="Cambria Math" panose="02040503050406030204" pitchFamily="18" charset="0"/>
                            </a:rPr>
                          </m:ctrlPr>
                        </m:dPr>
                        <m:e>
                          <m:r>
                            <a:rPr lang="ar-AE">
                              <a:latin typeface="Cambria Math" panose="02040503050406030204" pitchFamily="18" charset="0"/>
                            </a:rPr>
                            <m:t>323</m:t>
                          </m:r>
                        </m:e>
                      </m:d>
                    </m:oMath>
                  </m:oMathPara>
                </a14:m>
                <a:endParaRPr lang="ar-AE" sz="2400" b="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nor/>
                        </m:rPr>
                        <a:rPr lang="en-US" sz="2400" b="0">
                          <a:latin typeface="Times New Roman" panose="02020603050405020304" pitchFamily="18" charset="0"/>
                          <a:cs typeface="Times New Roman" panose="02020603050405020304" pitchFamily="18" charset="0"/>
                        </a:rPr>
                        <m:t>EAT</m:t>
                      </m:r>
                      <m:r>
                        <a:rPr lang="en-US">
                          <a:latin typeface="Cambria Math" panose="02040503050406030204" pitchFamily="18" charset="0"/>
                        </a:rPr>
                        <m:t>=</m:t>
                      </m:r>
                      <m:r>
                        <a:rPr lang="en-US">
                          <a:latin typeface="Cambria Math" panose="02040503050406030204" pitchFamily="18" charset="0"/>
                        </a:rPr>
                        <m:t>115</m:t>
                      </m:r>
                      <m:r>
                        <a:rPr lang="en-US">
                          <a:latin typeface="Cambria Math" panose="02040503050406030204" pitchFamily="18" charset="0"/>
                        </a:rPr>
                        <m:t>.</m:t>
                      </m:r>
                      <m:r>
                        <a:rPr lang="en-US">
                          <a:latin typeface="Cambria Math" panose="02040503050406030204" pitchFamily="18" charset="0"/>
                        </a:rPr>
                        <m:t>91</m:t>
                      </m:r>
                      <m:r>
                        <a:rPr lang="en-US">
                          <a:latin typeface="Cambria Math" panose="02040503050406030204" pitchFamily="18" charset="0"/>
                        </a:rPr>
                        <m:t>+</m:t>
                      </m:r>
                      <m:r>
                        <a:rPr lang="en-US">
                          <a:latin typeface="Cambria Math" panose="02040503050406030204" pitchFamily="18" charset="0"/>
                        </a:rPr>
                        <m:t>106</m:t>
                      </m:r>
                      <m:r>
                        <a:rPr lang="en-US">
                          <a:latin typeface="Cambria Math" panose="02040503050406030204" pitchFamily="18" charset="0"/>
                        </a:rPr>
                        <m:t>.</m:t>
                      </m:r>
                      <m:r>
                        <a:rPr lang="en-US">
                          <a:latin typeface="Cambria Math" panose="02040503050406030204" pitchFamily="18" charset="0"/>
                        </a:rPr>
                        <m:t>59</m:t>
                      </m:r>
                    </m:oMath>
                  </m:oMathPara>
                </a14:m>
                <a:endParaRPr lang="en-US" sz="2400" b="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borderBox>
                        <m:borderBoxPr>
                          <m:ctrlPr>
                            <a:rPr lang="ar-AE" i="1">
                              <a:latin typeface="Cambria Math" panose="02040503050406030204" pitchFamily="18" charset="0"/>
                            </a:rPr>
                          </m:ctrlPr>
                        </m:borderBoxPr>
                        <m:e>
                          <m:r>
                            <m:rPr>
                              <m:nor/>
                            </m:rPr>
                            <a:rPr lang="en-US" sz="2400" b="0">
                              <a:latin typeface="Times New Roman" panose="02020603050405020304" pitchFamily="18" charset="0"/>
                              <a:cs typeface="Times New Roman" panose="02020603050405020304" pitchFamily="18" charset="0"/>
                            </a:rPr>
                            <m:t>EAT</m:t>
                          </m:r>
                          <m:r>
                            <a:rPr lang="en-US">
                              <a:latin typeface="Cambria Math" panose="02040503050406030204" pitchFamily="18" charset="0"/>
                            </a:rPr>
                            <m:t>=</m:t>
                          </m:r>
                          <m:r>
                            <a:rPr lang="en-US">
                              <a:latin typeface="Cambria Math" panose="02040503050406030204" pitchFamily="18" charset="0"/>
                            </a:rPr>
                            <m:t>222</m:t>
                          </m:r>
                          <m:r>
                            <a:rPr lang="en-US">
                              <a:latin typeface="Cambria Math" panose="02040503050406030204" pitchFamily="18" charset="0"/>
                            </a:rPr>
                            <m:t>.</m:t>
                          </m:r>
                          <m:r>
                            <a:rPr lang="en-US">
                              <a:latin typeface="Cambria Math" panose="02040503050406030204" pitchFamily="18" charset="0"/>
                            </a:rPr>
                            <m:t>5</m:t>
                          </m:r>
                          <m:r>
                            <m:rPr>
                              <m:nor/>
                            </m:rPr>
                            <a:rPr lang="en-US" i="1">
                              <a:latin typeface="Times New Roman" panose="02020603050405020304" pitchFamily="18" charset="0"/>
                              <a:cs typeface="Times New Roman" panose="02020603050405020304" pitchFamily="18" charset="0"/>
                            </a:rPr>
                            <m:t> </m:t>
                          </m:r>
                          <m:r>
                            <m:rPr>
                              <m:nor/>
                            </m:rPr>
                            <a:rPr lang="en-US" i="1">
                              <a:latin typeface="Times New Roman" panose="02020603050405020304" pitchFamily="18" charset="0"/>
                              <a:cs typeface="Times New Roman" panose="02020603050405020304" pitchFamily="18" charset="0"/>
                            </a:rPr>
                            <m:t>nanoseconds</m:t>
                          </m:r>
                        </m:e>
                      </m:borderBox>
                    </m:oMath>
                  </m:oMathPara>
                </a14:m>
                <a:endParaRPr lang="ar-AE" sz="2400" b="0" dirty="0">
                  <a:latin typeface="Times New Roman" panose="02020603050405020304" pitchFamily="18" charset="0"/>
                  <a:cs typeface="Times New Roman" panose="02020603050405020304" pitchFamily="18" charset="0"/>
                </a:endParaRPr>
              </a:p>
              <a:p>
                <a:pPr algn="just"/>
                <a:endParaRPr lang="en-PK" sz="2400"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B2D76168-5D91-7B57-CC93-96E61C081A2D}"/>
                  </a:ext>
                </a:extLst>
              </p:cNvPr>
              <p:cNvSpPr txBox="1">
                <a:spLocks noRot="1" noChangeAspect="1" noMove="1" noResize="1" noEditPoints="1" noAdjustHandles="1" noChangeArrowheads="1" noChangeShapeType="1" noTextEdit="1"/>
              </p:cNvSpPr>
              <p:nvPr/>
            </p:nvSpPr>
            <p:spPr>
              <a:xfrm>
                <a:off x="616689" y="1137983"/>
                <a:ext cx="11142921" cy="5596532"/>
              </a:xfrm>
              <a:prstGeom prst="rect">
                <a:avLst/>
              </a:prstGeom>
              <a:blipFill>
                <a:blip r:embed="rId3"/>
                <a:stretch>
                  <a:fillRect l="-821" t="-871" r="-875"/>
                </a:stretch>
              </a:blipFill>
            </p:spPr>
            <p:txBody>
              <a:bodyPr/>
              <a:lstStyle/>
              <a:p>
                <a:r>
                  <a:rPr lang="en-PK">
                    <a:noFill/>
                  </a:rPr>
                  <a:t> </a:t>
                </a:r>
              </a:p>
            </p:txBody>
          </p:sp>
        </mc:Fallback>
      </mc:AlternateContent>
    </p:spTree>
    <p:extLst>
      <p:ext uri="{BB962C8B-B14F-4D97-AF65-F5344CB8AC3E}">
        <p14:creationId xmlns:p14="http://schemas.microsoft.com/office/powerpoint/2010/main" val="39228072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E82D2-93D5-8E73-53B5-8E6A47CDA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35B330-39E1-4266-89C2-0D2133637540}"/>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2 level paging / multilevel paging </a:t>
            </a:r>
          </a:p>
        </p:txBody>
      </p:sp>
      <p:sp>
        <p:nvSpPr>
          <p:cNvPr id="7" name="TextBox 6">
            <a:extLst>
              <a:ext uri="{FF2B5EF4-FFF2-40B4-BE49-F238E27FC236}">
                <a16:creationId xmlns:a16="http://schemas.microsoft.com/office/drawing/2014/main" id="{3F8CD3B6-FA9F-97A5-7A53-12FD61C91C8E}"/>
              </a:ext>
            </a:extLst>
          </p:cNvPr>
          <p:cNvSpPr txBox="1"/>
          <p:nvPr/>
        </p:nvSpPr>
        <p:spPr>
          <a:xfrm>
            <a:off x="616689" y="1137983"/>
            <a:ext cx="11142921" cy="5262979"/>
          </a:xfrm>
          <a:prstGeom prst="rect">
            <a:avLst/>
          </a:prstGeom>
          <a:noFill/>
        </p:spPr>
        <p:txBody>
          <a:bodyPr wrap="square">
            <a:spAutoFit/>
          </a:bodyPr>
          <a:lstStyle/>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Paging</a:t>
            </a:r>
            <a:r>
              <a:rPr lang="en-US" sz="2400" dirty="0">
                <a:latin typeface="Times New Roman" panose="02020603050405020304" pitchFamily="18" charset="0"/>
                <a:cs typeface="Times New Roman" panose="02020603050405020304" pitchFamily="18" charset="0"/>
              </a:rPr>
              <a:t> divides a process into fixed-size pages, which are mapped to fixed-size frames in main memory using a </a:t>
            </a:r>
            <a:r>
              <a:rPr lang="en-US" sz="2400" b="1" dirty="0">
                <a:latin typeface="Times New Roman" panose="02020603050405020304" pitchFamily="18" charset="0"/>
                <a:cs typeface="Times New Roman" panose="02020603050405020304" pitchFamily="18" charset="0"/>
              </a:rPr>
              <a:t>page table</a:t>
            </a:r>
            <a:r>
              <a:rPr lang="en-US" sz="24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the </a:t>
            </a:r>
            <a:r>
              <a:rPr lang="en-US" sz="2400" b="1" dirty="0">
                <a:latin typeface="Times New Roman" panose="02020603050405020304" pitchFamily="18" charset="0"/>
                <a:cs typeface="Times New Roman" panose="02020603050405020304" pitchFamily="18" charset="0"/>
              </a:rPr>
              <a:t>page table is small</a:t>
            </a:r>
            <a:r>
              <a:rPr lang="en-US" sz="2400" dirty="0">
                <a:latin typeface="Times New Roman" panose="02020603050405020304" pitchFamily="18" charset="0"/>
                <a:cs typeface="Times New Roman" panose="02020603050405020304" pitchFamily="18" charset="0"/>
              </a:rPr>
              <a:t>, it fits into </a:t>
            </a:r>
            <a:r>
              <a:rPr lang="en-US" sz="2400" b="1" dirty="0">
                <a:latin typeface="Times New Roman" panose="02020603050405020304" pitchFamily="18" charset="0"/>
                <a:cs typeface="Times New Roman" panose="02020603050405020304" pitchFamily="18" charset="0"/>
              </a:rPr>
              <a:t>one frame</a:t>
            </a:r>
            <a:r>
              <a:rPr lang="en-US" sz="2400" dirty="0">
                <a:latin typeface="Times New Roman" panose="02020603050405020304" pitchFamily="18" charset="0"/>
                <a:cs typeface="Times New Roman" panose="02020603050405020304" pitchFamily="18" charset="0"/>
              </a:rPr>
              <a:t> → simple paging.</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the </a:t>
            </a:r>
            <a:r>
              <a:rPr lang="en-US" sz="2400" b="1" dirty="0">
                <a:latin typeface="Times New Roman" panose="02020603050405020304" pitchFamily="18" charset="0"/>
                <a:cs typeface="Times New Roman" panose="02020603050405020304" pitchFamily="18" charset="0"/>
              </a:rPr>
              <a:t>page table is too large to fit in one frame</a:t>
            </a:r>
            <a:r>
              <a:rPr lang="en-US" sz="2400" dirty="0">
                <a:latin typeface="Times New Roman" panose="02020603050405020304" pitchFamily="18" charset="0"/>
                <a:cs typeface="Times New Roman" panose="02020603050405020304" pitchFamily="18" charset="0"/>
              </a:rPr>
              <a:t>, we </a:t>
            </a:r>
            <a:r>
              <a:rPr lang="en-US" sz="2400" b="1" dirty="0">
                <a:latin typeface="Times New Roman" panose="02020603050405020304" pitchFamily="18" charset="0"/>
                <a:cs typeface="Times New Roman" panose="02020603050405020304" pitchFamily="18" charset="0"/>
              </a:rPr>
              <a:t>divide the page table itself into pages</a:t>
            </a:r>
            <a:r>
              <a:rPr lang="en-US" sz="2400" dirty="0">
                <a:latin typeface="Times New Roman" panose="02020603050405020304" pitchFamily="18" charset="0"/>
                <a:cs typeface="Times New Roman" panose="02020603050405020304" pitchFamily="18" charset="0"/>
              </a:rPr>
              <a:t>.</a:t>
            </a:r>
          </a:p>
          <a:p>
            <a:pPr algn="just"/>
            <a:r>
              <a:rPr lang="en-US" sz="2400" b="1" dirty="0">
                <a:latin typeface="Times New Roman" panose="02020603050405020304" pitchFamily="18" charset="0"/>
                <a:cs typeface="Times New Roman" panose="02020603050405020304" pitchFamily="18" charset="0"/>
              </a:rPr>
              <a:t>Two-Level Paging</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page table is split into </a:t>
            </a:r>
            <a:r>
              <a:rPr lang="en-US" sz="2400" b="1" dirty="0">
                <a:latin typeface="Times New Roman" panose="02020603050405020304" pitchFamily="18" charset="0"/>
                <a:cs typeface="Times New Roman" panose="02020603050405020304" pitchFamily="18" charset="0"/>
              </a:rPr>
              <a:t>two levels</a:t>
            </a:r>
            <a:r>
              <a:rPr lang="en-US" sz="2400" dirty="0">
                <a:latin typeface="Times New Roman" panose="02020603050405020304" pitchFamily="18" charset="0"/>
                <a:cs typeface="Times New Roman" panose="02020603050405020304" pitchFamily="18" charset="0"/>
              </a:rPr>
              <a:t>:</a:t>
            </a:r>
          </a:p>
          <a:p>
            <a:pPr marL="800100" lvl="1" indent="-342900" algn="just">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Outer Page Table</a:t>
            </a:r>
            <a:r>
              <a:rPr lang="en-US" sz="2400" dirty="0">
                <a:latin typeface="Times New Roman" panose="02020603050405020304" pitchFamily="18" charset="0"/>
                <a:cs typeface="Times New Roman" panose="02020603050405020304" pitchFamily="18" charset="0"/>
              </a:rPr>
              <a:t> → points to pages of the inner page table</a:t>
            </a:r>
          </a:p>
          <a:p>
            <a:pPr marL="800100" lvl="1" indent="-342900" algn="just">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Inner Page Table</a:t>
            </a:r>
            <a:r>
              <a:rPr lang="en-US" sz="2400" dirty="0">
                <a:latin typeface="Times New Roman" panose="02020603050405020304" pitchFamily="18" charset="0"/>
                <a:cs typeface="Times New Roman" panose="02020603050405020304" pitchFamily="18" charset="0"/>
              </a:rPr>
              <a:t> → maps pages to frames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when the </a:t>
            </a:r>
            <a:r>
              <a:rPr lang="en-US" sz="2400" b="1" dirty="0">
                <a:latin typeface="Times New Roman" panose="02020603050405020304" pitchFamily="18" charset="0"/>
                <a:cs typeface="Times New Roman" panose="02020603050405020304" pitchFamily="18" charset="0"/>
              </a:rPr>
              <a:t>outer page table fits in one frame</a:t>
            </a:r>
            <a:r>
              <a:rPr lang="en-US" sz="2400" dirty="0">
                <a:latin typeface="Times New Roman" panose="02020603050405020304" pitchFamily="18" charset="0"/>
                <a:cs typeface="Times New Roman" panose="02020603050405020304" pitchFamily="18" charset="0"/>
              </a:rPr>
              <a:t>.</a:t>
            </a:r>
          </a:p>
          <a:p>
            <a:pPr algn="just"/>
            <a:r>
              <a:rPr lang="en-US" sz="2400" b="1" dirty="0">
                <a:latin typeface="Times New Roman" panose="02020603050405020304" pitchFamily="18" charset="0"/>
                <a:cs typeface="Times New Roman" panose="02020603050405020304" pitchFamily="18" charset="0"/>
              </a:rPr>
              <a:t>Multilevel Paging</a:t>
            </a:r>
            <a:endParaRPr lang="en-US" sz="24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If the </a:t>
            </a:r>
            <a:r>
              <a:rPr lang="en-US" sz="2400" b="1" dirty="0">
                <a:latin typeface="Times New Roman" panose="02020603050405020304" pitchFamily="18" charset="0"/>
                <a:cs typeface="Times New Roman" panose="02020603050405020304" pitchFamily="18" charset="0"/>
              </a:rPr>
              <a:t>outer page table is still too large</a:t>
            </a:r>
            <a:r>
              <a:rPr lang="en-US" sz="2400" dirty="0">
                <a:latin typeface="Times New Roman" panose="02020603050405020304" pitchFamily="18" charset="0"/>
                <a:cs typeface="Times New Roman" panose="02020603050405020304" pitchFamily="18" charset="0"/>
              </a:rPr>
              <a:t>, it is divided again.</a:t>
            </a:r>
          </a:p>
          <a:p>
            <a:pPr marL="800100" lvl="1"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This creates </a:t>
            </a:r>
            <a:r>
              <a:rPr lang="en-US" sz="2400" b="1" dirty="0">
                <a:latin typeface="Times New Roman" panose="02020603050405020304" pitchFamily="18" charset="0"/>
                <a:cs typeface="Times New Roman" panose="02020603050405020304" pitchFamily="18" charset="0"/>
              </a:rPr>
              <a:t>three or more levels</a:t>
            </a:r>
            <a:r>
              <a:rPr lang="en-US" sz="2400" dirty="0">
                <a:latin typeface="Times New Roman" panose="02020603050405020304" pitchFamily="18" charset="0"/>
                <a:cs typeface="Times New Roman" panose="02020603050405020304" pitchFamily="18" charset="0"/>
              </a:rPr>
              <a:t> of page tables.</a:t>
            </a:r>
          </a:p>
          <a:p>
            <a:pPr marL="800100" lvl="1"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Used for </a:t>
            </a:r>
            <a:r>
              <a:rPr lang="en-US" sz="2400" b="1" dirty="0">
                <a:latin typeface="Times New Roman" panose="02020603050405020304" pitchFamily="18" charset="0"/>
                <a:cs typeface="Times New Roman" panose="02020603050405020304" pitchFamily="18" charset="0"/>
              </a:rPr>
              <a:t>very large address spaces</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315044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1AFA3-7010-95E4-4722-33F6805D6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3ED21D-279F-57B0-B5BF-BF964F0EFDA1}"/>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2 level paging / multilevel paging </a:t>
            </a:r>
          </a:p>
        </p:txBody>
      </p:sp>
      <p:pic>
        <p:nvPicPr>
          <p:cNvPr id="4" name="Picture 3">
            <a:extLst>
              <a:ext uri="{FF2B5EF4-FFF2-40B4-BE49-F238E27FC236}">
                <a16:creationId xmlns:a16="http://schemas.microsoft.com/office/drawing/2014/main" id="{BB6FD792-513A-0E3E-0511-26DD86E431FD}"/>
              </a:ext>
            </a:extLst>
          </p:cNvPr>
          <p:cNvPicPr>
            <a:picLocks noChangeAspect="1"/>
          </p:cNvPicPr>
          <p:nvPr/>
        </p:nvPicPr>
        <p:blipFill>
          <a:blip r:embed="rId3"/>
          <a:stretch>
            <a:fillRect/>
          </a:stretch>
        </p:blipFill>
        <p:spPr>
          <a:xfrm>
            <a:off x="2247900" y="1078762"/>
            <a:ext cx="7696200" cy="5295900"/>
          </a:xfrm>
          <a:prstGeom prst="rect">
            <a:avLst/>
          </a:prstGeom>
        </p:spPr>
      </p:pic>
    </p:spTree>
    <p:extLst>
      <p:ext uri="{BB962C8B-B14F-4D97-AF65-F5344CB8AC3E}">
        <p14:creationId xmlns:p14="http://schemas.microsoft.com/office/powerpoint/2010/main" val="26980305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AA60F-3F2C-CDF5-C69C-27023EB56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BB0419-DBEC-03BD-4E36-D517135A6211}"/>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2 level paging Example</a:t>
            </a:r>
          </a:p>
        </p:txBody>
      </p:sp>
      <p:sp>
        <p:nvSpPr>
          <p:cNvPr id="5" name="TextBox 4">
            <a:extLst>
              <a:ext uri="{FF2B5EF4-FFF2-40B4-BE49-F238E27FC236}">
                <a16:creationId xmlns:a16="http://schemas.microsoft.com/office/drawing/2014/main" id="{BD279DCA-679A-BE71-F092-114CCFD1A080}"/>
              </a:ext>
            </a:extLst>
          </p:cNvPr>
          <p:cNvSpPr txBox="1"/>
          <p:nvPr/>
        </p:nvSpPr>
        <p:spPr>
          <a:xfrm>
            <a:off x="951865" y="1056236"/>
            <a:ext cx="10084730" cy="6001643"/>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logical address (on 32-bit machine with 1K page size) is divided into: </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page number </a:t>
            </a:r>
            <a:r>
              <a:rPr lang="en-US" sz="2400" dirty="0">
                <a:latin typeface="Times New Roman" panose="02020603050405020304" pitchFamily="18" charset="0"/>
                <a:cs typeface="Times New Roman" panose="02020603050405020304" pitchFamily="18" charset="0"/>
              </a:rPr>
              <a:t>consisting of  </a:t>
            </a:r>
            <a:r>
              <a:rPr lang="en-US" sz="2400" b="1" dirty="0">
                <a:latin typeface="Times New Roman" panose="02020603050405020304" pitchFamily="18" charset="0"/>
                <a:cs typeface="Times New Roman" panose="02020603050405020304" pitchFamily="18" charset="0"/>
              </a:rPr>
              <a:t>22 bits</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page offset </a:t>
            </a:r>
            <a:r>
              <a:rPr lang="en-US" sz="2400" dirty="0">
                <a:latin typeface="Times New Roman" panose="02020603050405020304" pitchFamily="18" charset="0"/>
                <a:cs typeface="Times New Roman" panose="02020603050405020304" pitchFamily="18" charset="0"/>
              </a:rPr>
              <a:t>consisting of </a:t>
            </a:r>
            <a:r>
              <a:rPr lang="en-US" sz="2400" b="1" dirty="0">
                <a:latin typeface="Times New Roman" panose="02020603050405020304" pitchFamily="18" charset="0"/>
                <a:cs typeface="Times New Roman" panose="02020603050405020304" pitchFamily="18" charset="0"/>
              </a:rPr>
              <a:t>10 bits</a:t>
            </a:r>
          </a:p>
          <a:p>
            <a:pPr lvl="1"/>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Page Number    Page Offset</a:t>
            </a:r>
          </a:p>
          <a:p>
            <a:pPr lvl="1"/>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pPr lvl="1"/>
            <a:r>
              <a:rPr lang="en-US" sz="2400" b="1" dirty="0">
                <a:latin typeface="Times New Roman" panose="02020603050405020304" pitchFamily="18" charset="0"/>
                <a:cs typeface="Times New Roman" panose="02020603050405020304" pitchFamily="18" charset="0"/>
              </a:rPr>
              <a:t>                                             22               10</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Since the page table is paged, the page number is further divided into:</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Thus, a logical address is as follows:</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12-bit page number </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10-bit page offset</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Thus, a logical address is as follows: </a:t>
            </a:r>
          </a:p>
          <a:p>
            <a:pPr marL="34290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where </a:t>
            </a:r>
            <a:r>
              <a:rPr lang="en-US" sz="2400" b="1" dirty="0">
                <a:latin typeface="Times New Roman" panose="02020603050405020304" pitchFamily="18" charset="0"/>
                <a:cs typeface="Times New Roman" panose="02020603050405020304" pitchFamily="18" charset="0"/>
              </a:rPr>
              <a:t>p1</a:t>
            </a:r>
            <a:r>
              <a:rPr lang="en-US" sz="2400" dirty="0">
                <a:latin typeface="Times New Roman" panose="02020603050405020304" pitchFamily="18" charset="0"/>
                <a:cs typeface="Times New Roman" panose="02020603050405020304" pitchFamily="18" charset="0"/>
              </a:rPr>
              <a:t> is an index into the outer page table, and </a:t>
            </a:r>
            <a:r>
              <a:rPr lang="en-US" sz="2400" b="1" dirty="0">
                <a:latin typeface="Times New Roman" panose="02020603050405020304" pitchFamily="18" charset="0"/>
                <a:cs typeface="Times New Roman" panose="02020603050405020304" pitchFamily="18" charset="0"/>
              </a:rPr>
              <a:t>p2</a:t>
            </a:r>
            <a:r>
              <a:rPr lang="en-US" sz="2400" dirty="0">
                <a:latin typeface="Times New Roman" panose="02020603050405020304" pitchFamily="18" charset="0"/>
                <a:cs typeface="Times New Roman" panose="02020603050405020304" pitchFamily="18" charset="0"/>
              </a:rPr>
              <a:t> is the displacement within the page of the inner page table.</a:t>
            </a:r>
          </a:p>
          <a:p>
            <a:pPr marL="34290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is known as </a:t>
            </a:r>
            <a:r>
              <a:rPr lang="en-US" sz="2400" b="1" dirty="0">
                <a:latin typeface="Times New Roman" panose="02020603050405020304" pitchFamily="18" charset="0"/>
                <a:cs typeface="Times New Roman" panose="02020603050405020304" pitchFamily="18" charset="0"/>
              </a:rPr>
              <a:t>forward-mapped page table.</a:t>
            </a:r>
          </a:p>
          <a:p>
            <a:pPr lvl="1"/>
            <a:endParaRPr lang="en-PK" sz="2400"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0915A3A6-E38F-0140-A80E-C8B59116CAC9}"/>
              </a:ext>
            </a:extLst>
          </p:cNvPr>
          <p:cNvGraphicFramePr>
            <a:graphicFrameLocks noGrp="1"/>
          </p:cNvGraphicFramePr>
          <p:nvPr>
            <p:extLst>
              <p:ext uri="{D42A27DB-BD31-4B8C-83A1-F6EECF244321}">
                <p14:modId xmlns:p14="http://schemas.microsoft.com/office/powerpoint/2010/main" val="834985474"/>
              </p:ext>
            </p:extLst>
          </p:nvPr>
        </p:nvGraphicFramePr>
        <p:xfrm>
          <a:off x="4316817" y="2636520"/>
          <a:ext cx="2849526" cy="792480"/>
        </p:xfrm>
        <a:graphic>
          <a:graphicData uri="http://schemas.openxmlformats.org/drawingml/2006/table">
            <a:tbl>
              <a:tblPr firstRow="1" bandRow="1">
                <a:tableStyleId>{5940675A-B579-460E-94D1-54222C63F5DA}</a:tableStyleId>
              </a:tblPr>
              <a:tblGrid>
                <a:gridCol w="1424763">
                  <a:extLst>
                    <a:ext uri="{9D8B030D-6E8A-4147-A177-3AD203B41FA5}">
                      <a16:colId xmlns:a16="http://schemas.microsoft.com/office/drawing/2014/main" val="2268864181"/>
                    </a:ext>
                  </a:extLst>
                </a:gridCol>
                <a:gridCol w="1424763">
                  <a:extLst>
                    <a:ext uri="{9D8B030D-6E8A-4147-A177-3AD203B41FA5}">
                      <a16:colId xmlns:a16="http://schemas.microsoft.com/office/drawing/2014/main" val="555030124"/>
                    </a:ext>
                  </a:extLst>
                </a:gridCol>
              </a:tblGrid>
              <a:tr h="485908">
                <a:tc>
                  <a:txBody>
                    <a:bodyPr/>
                    <a:lstStyle/>
                    <a:p>
                      <a:pPr algn="ctr"/>
                      <a:r>
                        <a:rPr lang="en-US" sz="2800" dirty="0">
                          <a:solidFill>
                            <a:schemeClr val="tx1"/>
                          </a:solidFill>
                          <a:latin typeface="Times New Roman" panose="02020603050405020304" pitchFamily="18" charset="0"/>
                          <a:cs typeface="Times New Roman" panose="02020603050405020304" pitchFamily="18" charset="0"/>
                        </a:rPr>
                        <a:t>p</a:t>
                      </a:r>
                      <a:endParaRPr lang="en-PK" sz="2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algn="ctr" defTabSz="914400" rtl="0" eaLnBrk="1" latinLnBrk="0" hangingPunct="1"/>
                      <a:r>
                        <a:rPr lang="en-US" sz="2800" kern="1200" dirty="0">
                          <a:solidFill>
                            <a:schemeClr val="tx1"/>
                          </a:solidFill>
                          <a:latin typeface="Times New Roman" panose="02020603050405020304" pitchFamily="18" charset="0"/>
                          <a:ea typeface="+mn-ea"/>
                          <a:cs typeface="Times New Roman" panose="02020603050405020304" pitchFamily="18" charset="0"/>
                        </a:rPr>
                        <a:t>d </a:t>
                      </a:r>
                    </a:p>
                    <a:p>
                      <a:endParaRPr lang="en-PK" dirty="0">
                        <a:solidFill>
                          <a:schemeClr val="tx1"/>
                        </a:solidFill>
                      </a:endParaRPr>
                    </a:p>
                  </a:txBody>
                  <a:tcPr/>
                </a:tc>
                <a:extLst>
                  <a:ext uri="{0D108BD9-81ED-4DB2-BD59-A6C34878D82A}">
                    <a16:rowId xmlns:a16="http://schemas.microsoft.com/office/drawing/2014/main" val="2658413834"/>
                  </a:ext>
                </a:extLst>
              </a:tr>
            </a:tbl>
          </a:graphicData>
        </a:graphic>
      </p:graphicFrame>
      <p:pic>
        <p:nvPicPr>
          <p:cNvPr id="8" name="Picture 7">
            <a:extLst>
              <a:ext uri="{FF2B5EF4-FFF2-40B4-BE49-F238E27FC236}">
                <a16:creationId xmlns:a16="http://schemas.microsoft.com/office/drawing/2014/main" id="{383A0AF2-86E3-9BE8-73A2-38967F896943}"/>
              </a:ext>
            </a:extLst>
          </p:cNvPr>
          <p:cNvPicPr>
            <a:picLocks noChangeAspect="1"/>
          </p:cNvPicPr>
          <p:nvPr/>
        </p:nvPicPr>
        <p:blipFill>
          <a:blip r:embed="rId3"/>
          <a:stretch>
            <a:fillRect/>
          </a:stretch>
        </p:blipFill>
        <p:spPr>
          <a:xfrm>
            <a:off x="6733731" y="4144674"/>
            <a:ext cx="4019550" cy="1228725"/>
          </a:xfrm>
          <a:prstGeom prst="rect">
            <a:avLst/>
          </a:prstGeom>
        </p:spPr>
      </p:pic>
    </p:spTree>
    <p:extLst>
      <p:ext uri="{BB962C8B-B14F-4D97-AF65-F5344CB8AC3E}">
        <p14:creationId xmlns:p14="http://schemas.microsoft.com/office/powerpoint/2010/main" val="28899990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9FC7B-2CFC-DDA3-44A6-5559B25B1C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574917-FD59-27BD-7D3F-2F62DF89E8A8}"/>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Address translation scheme</a:t>
            </a:r>
          </a:p>
        </p:txBody>
      </p:sp>
      <p:pic>
        <p:nvPicPr>
          <p:cNvPr id="4" name="Picture 3">
            <a:extLst>
              <a:ext uri="{FF2B5EF4-FFF2-40B4-BE49-F238E27FC236}">
                <a16:creationId xmlns:a16="http://schemas.microsoft.com/office/drawing/2014/main" id="{82E4207C-C375-4388-AE97-7FF2E48256B8}"/>
              </a:ext>
            </a:extLst>
          </p:cNvPr>
          <p:cNvPicPr>
            <a:picLocks noChangeAspect="1"/>
          </p:cNvPicPr>
          <p:nvPr/>
        </p:nvPicPr>
        <p:blipFill>
          <a:blip r:embed="rId3"/>
          <a:stretch>
            <a:fillRect/>
          </a:stretch>
        </p:blipFill>
        <p:spPr>
          <a:xfrm>
            <a:off x="1193283" y="1214216"/>
            <a:ext cx="10172922" cy="5341315"/>
          </a:xfrm>
          <a:prstGeom prst="rect">
            <a:avLst/>
          </a:prstGeom>
        </p:spPr>
      </p:pic>
    </p:spTree>
    <p:extLst>
      <p:ext uri="{BB962C8B-B14F-4D97-AF65-F5344CB8AC3E}">
        <p14:creationId xmlns:p14="http://schemas.microsoft.com/office/powerpoint/2010/main" val="5155396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DDF3C-7F39-1249-623B-CDC4D5D453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B0C249-7A99-E979-B6A9-F1C1522FA576}"/>
              </a:ext>
            </a:extLst>
          </p:cNvPr>
          <p:cNvSpPr txBox="1">
            <a:spLocks/>
          </p:cNvSpPr>
          <p:nvPr/>
        </p:nvSpPr>
        <p:spPr>
          <a:xfrm>
            <a:off x="-611121" y="226464"/>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Inverted paging</a:t>
            </a:r>
          </a:p>
        </p:txBody>
      </p:sp>
      <p:sp>
        <p:nvSpPr>
          <p:cNvPr id="5" name="TextBox 4">
            <a:extLst>
              <a:ext uri="{FF2B5EF4-FFF2-40B4-BE49-F238E27FC236}">
                <a16:creationId xmlns:a16="http://schemas.microsoft.com/office/drawing/2014/main" id="{B1F1D35C-B681-E9E2-D5E2-1256414A03D9}"/>
              </a:ext>
            </a:extLst>
          </p:cNvPr>
          <p:cNvSpPr txBox="1"/>
          <p:nvPr/>
        </p:nvSpPr>
        <p:spPr>
          <a:xfrm>
            <a:off x="584561" y="919580"/>
            <a:ext cx="8494402" cy="3416320"/>
          </a:xfrm>
          <a:prstGeom prst="rect">
            <a:avLst/>
          </a:prstGeom>
          <a:noFill/>
        </p:spPr>
        <p:txBody>
          <a:bodyPr wrap="square">
            <a:spAutoFit/>
          </a:bodyPr>
          <a:lstStyle/>
          <a:p>
            <a:pPr algn="ctr"/>
            <a:r>
              <a:rPr lang="en-US" sz="2400" b="1" i="0" dirty="0">
                <a:solidFill>
                  <a:srgbClr val="0A0A0A"/>
                </a:solidFill>
                <a:effectLst/>
                <a:latin typeface="Times New Roman" panose="02020603050405020304" pitchFamily="18" charset="0"/>
                <a:cs typeface="Times New Roman" panose="02020603050405020304" pitchFamily="18" charset="0"/>
              </a:rPr>
              <a:t>Inverted paging </a:t>
            </a:r>
            <a:r>
              <a:rPr lang="en-US" sz="2400" b="0" i="0" dirty="0">
                <a:solidFill>
                  <a:srgbClr val="0A0A0A"/>
                </a:solidFill>
                <a:effectLst/>
                <a:latin typeface="Times New Roman" panose="02020603050405020304" pitchFamily="18" charset="0"/>
                <a:cs typeface="Times New Roman" panose="02020603050405020304" pitchFamily="18" charset="0"/>
              </a:rPr>
              <a:t>in an OS is </a:t>
            </a:r>
            <a:r>
              <a:rPr lang="en-US" sz="2400" dirty="0">
                <a:latin typeface="Times New Roman" panose="02020603050405020304" pitchFamily="18" charset="0"/>
                <a:cs typeface="Times New Roman" panose="02020603050405020304" pitchFamily="18" charset="0"/>
              </a:rPr>
              <a:t>a memory management technique using a single, </a:t>
            </a:r>
            <a:r>
              <a:rPr lang="en-US" sz="2400" b="1" dirty="0">
                <a:latin typeface="Times New Roman" panose="02020603050405020304" pitchFamily="18" charset="0"/>
                <a:cs typeface="Times New Roman" panose="02020603050405020304" pitchFamily="18" charset="0"/>
              </a:rPr>
              <a:t>global page table </a:t>
            </a:r>
            <a:r>
              <a:rPr lang="en-US" sz="2400" dirty="0">
                <a:latin typeface="Times New Roman" panose="02020603050405020304" pitchFamily="18" charset="0"/>
                <a:cs typeface="Times New Roman" panose="02020603050405020304" pitchFamily="18" charset="0"/>
              </a:rPr>
              <a:t>indexed by </a:t>
            </a:r>
            <a:r>
              <a:rPr lang="en-US" sz="2400" b="1" dirty="0">
                <a:latin typeface="Times New Roman" panose="02020603050405020304" pitchFamily="18" charset="0"/>
                <a:cs typeface="Times New Roman" panose="02020603050405020304" pitchFamily="18" charset="0"/>
              </a:rPr>
              <a:t>physical frame numbers</a:t>
            </a:r>
            <a:r>
              <a:rPr lang="en-US" sz="2400" dirty="0">
                <a:latin typeface="Times New Roman" panose="02020603050405020304" pitchFamily="18" charset="0"/>
                <a:cs typeface="Times New Roman" panose="02020603050405020304" pitchFamily="18" charset="0"/>
              </a:rPr>
              <a:t>, not per-process logical pages, to map physical frames to virtual pages across </a:t>
            </a:r>
            <a:r>
              <a:rPr lang="en-US" sz="2400" i="1" dirty="0">
                <a:effectLst/>
                <a:latin typeface="Times New Roman" panose="02020603050405020304" pitchFamily="18" charset="0"/>
                <a:cs typeface="Times New Roman" panose="02020603050405020304" pitchFamily="18" charset="0"/>
              </a:rPr>
              <a:t>all</a:t>
            </a:r>
            <a:r>
              <a:rPr lang="en-US" sz="2400" dirty="0">
                <a:latin typeface="Times New Roman" panose="02020603050405020304" pitchFamily="18" charset="0"/>
                <a:cs typeface="Times New Roman" panose="02020603050405020304" pitchFamily="18" charset="0"/>
              </a:rPr>
              <a:t> processes, saving space by only storing entries for frames in main memory</a:t>
            </a:r>
            <a:r>
              <a:rPr lang="en-US" sz="2400" b="0" i="0" dirty="0">
                <a:solidFill>
                  <a:srgbClr val="0A0A0A"/>
                </a:solidFill>
                <a:effectLst/>
                <a:latin typeface="Times New Roman" panose="02020603050405020304" pitchFamily="18" charset="0"/>
                <a:cs typeface="Times New Roman" panose="02020603050405020304" pitchFamily="18" charset="0"/>
              </a:rPr>
              <a:t>, though it requires searching with a </a:t>
            </a:r>
            <a:r>
              <a:rPr lang="en-US" sz="2400" b="1" i="0" dirty="0">
                <a:solidFill>
                  <a:srgbClr val="0A0A0A"/>
                </a:solidFill>
                <a:effectLst/>
                <a:latin typeface="Times New Roman" panose="02020603050405020304" pitchFamily="18" charset="0"/>
                <a:cs typeface="Times New Roman" panose="02020603050405020304" pitchFamily="18" charset="0"/>
              </a:rPr>
              <a:t>Process ID (PID) </a:t>
            </a:r>
            <a:r>
              <a:rPr lang="en-US" sz="2400" b="0" i="0" dirty="0">
                <a:solidFill>
                  <a:srgbClr val="0A0A0A"/>
                </a:solidFill>
                <a:effectLst/>
                <a:latin typeface="Times New Roman" panose="02020603050405020304" pitchFamily="18" charset="0"/>
                <a:cs typeface="Times New Roman" panose="02020603050405020304" pitchFamily="18" charset="0"/>
              </a:rPr>
              <a:t>and page number to find the correct frame, often optimized with hashing. It efficiently manages large memory by reducing table size but can slow lookups, necessitating techniques like hash tables for speed. </a:t>
            </a:r>
            <a:endParaRPr lang="en-PK" sz="2400"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F2D7CE56-1BF6-9948-7CC2-DC75AEF12AE9}"/>
              </a:ext>
            </a:extLst>
          </p:cNvPr>
          <p:cNvGraphicFramePr>
            <a:graphicFrameLocks noGrp="1"/>
          </p:cNvGraphicFramePr>
          <p:nvPr>
            <p:extLst>
              <p:ext uri="{D42A27DB-BD31-4B8C-83A1-F6EECF244321}">
                <p14:modId xmlns:p14="http://schemas.microsoft.com/office/powerpoint/2010/main" val="2946141080"/>
              </p:ext>
            </p:extLst>
          </p:nvPr>
        </p:nvGraphicFramePr>
        <p:xfrm>
          <a:off x="1128234" y="4313469"/>
          <a:ext cx="1295991" cy="1503119"/>
        </p:xfrm>
        <a:graphic>
          <a:graphicData uri="http://schemas.openxmlformats.org/drawingml/2006/table">
            <a:tbl>
              <a:tblPr firstRow="1" bandRow="1">
                <a:tableStyleId>{5940675A-B579-460E-94D1-54222C63F5DA}</a:tableStyleId>
              </a:tblPr>
              <a:tblGrid>
                <a:gridCol w="1295991">
                  <a:extLst>
                    <a:ext uri="{9D8B030D-6E8A-4147-A177-3AD203B41FA5}">
                      <a16:colId xmlns:a16="http://schemas.microsoft.com/office/drawing/2014/main" val="2730424070"/>
                    </a:ext>
                  </a:extLst>
                </a:gridCol>
              </a:tblGrid>
              <a:tr h="596865">
                <a:tc>
                  <a:txBody>
                    <a:bodyPr/>
                    <a:lstStyle/>
                    <a:p>
                      <a:pPr algn="ctr"/>
                      <a:r>
                        <a:rPr lang="en-US" dirty="0">
                          <a:latin typeface="Times New Roman" panose="02020603050405020304" pitchFamily="18" charset="0"/>
                          <a:cs typeface="Times New Roman" panose="02020603050405020304" pitchFamily="18" charset="0"/>
                        </a:rPr>
                        <a:t>X</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62606967"/>
                  </a:ext>
                </a:extLst>
              </a:tr>
              <a:tr h="484124">
                <a:tc>
                  <a:txBody>
                    <a:bodyPr/>
                    <a:lstStyle/>
                    <a:p>
                      <a:pPr algn="ctr"/>
                      <a:r>
                        <a:rPr lang="en-US" dirty="0">
                          <a:latin typeface="Times New Roman" panose="02020603050405020304" pitchFamily="18" charset="0"/>
                          <a:cs typeface="Times New Roman" panose="02020603050405020304" pitchFamily="18" charset="0"/>
                        </a:rPr>
                        <a:t>F3</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75743067"/>
                  </a:ext>
                </a:extLst>
              </a:tr>
              <a:tr h="422130">
                <a:tc>
                  <a:txBody>
                    <a:bodyPr/>
                    <a:lstStyle/>
                    <a:p>
                      <a:pPr algn="ctr"/>
                      <a:r>
                        <a:rPr lang="en-US" dirty="0">
                          <a:latin typeface="Times New Roman" panose="02020603050405020304" pitchFamily="18" charset="0"/>
                          <a:cs typeface="Times New Roman" panose="02020603050405020304" pitchFamily="18" charset="0"/>
                        </a:rPr>
                        <a:t>F5</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2335593"/>
                  </a:ext>
                </a:extLst>
              </a:tr>
            </a:tbl>
          </a:graphicData>
        </a:graphic>
      </p:graphicFrame>
      <p:sp>
        <p:nvSpPr>
          <p:cNvPr id="8" name="TextBox 7">
            <a:extLst>
              <a:ext uri="{FF2B5EF4-FFF2-40B4-BE49-F238E27FC236}">
                <a16:creationId xmlns:a16="http://schemas.microsoft.com/office/drawing/2014/main" id="{0E624A97-65C8-BCF4-E7B9-FA10C10BB3EA}"/>
              </a:ext>
            </a:extLst>
          </p:cNvPr>
          <p:cNvSpPr txBox="1"/>
          <p:nvPr/>
        </p:nvSpPr>
        <p:spPr>
          <a:xfrm>
            <a:off x="844551" y="4269566"/>
            <a:ext cx="567366" cy="2031325"/>
          </a:xfrm>
          <a:prstGeom prst="rect">
            <a:avLst/>
          </a:prstGeom>
          <a:noFill/>
        </p:spPr>
        <p:txBody>
          <a:bodyPr wrap="square">
            <a:spAutoFit/>
          </a:bodyPr>
          <a:lstStyle/>
          <a:p>
            <a:r>
              <a:rPr lang="en-US" dirty="0">
                <a:solidFill>
                  <a:srgbClr val="0A0A0A"/>
                </a:solidFill>
                <a:latin typeface="Times New Roman" panose="02020603050405020304" pitchFamily="18" charset="0"/>
                <a:cs typeface="Times New Roman" panose="02020603050405020304" pitchFamily="18" charset="0"/>
              </a:rPr>
              <a:t>0</a:t>
            </a:r>
            <a:endParaRPr lang="en-US" sz="1800" b="0" i="0" dirty="0">
              <a:solidFill>
                <a:srgbClr val="0A0A0A"/>
              </a:solidFill>
              <a:effectLst/>
              <a:latin typeface="Times New Roman" panose="02020603050405020304" pitchFamily="18" charset="0"/>
              <a:cs typeface="Times New Roman" panose="02020603050405020304" pitchFamily="18" charset="0"/>
            </a:endParaRPr>
          </a:p>
          <a:p>
            <a:endParaRPr lang="en-US" dirty="0">
              <a:solidFill>
                <a:srgbClr val="0A0A0A"/>
              </a:solidFill>
              <a:latin typeface="Times New Roman" panose="02020603050405020304" pitchFamily="18" charset="0"/>
              <a:cs typeface="Times New Roman" panose="02020603050405020304" pitchFamily="18" charset="0"/>
            </a:endParaRPr>
          </a:p>
          <a:p>
            <a:r>
              <a:rPr lang="en-US" dirty="0">
                <a:solidFill>
                  <a:srgbClr val="0A0A0A"/>
                </a:solidFill>
                <a:latin typeface="Times New Roman" panose="02020603050405020304" pitchFamily="18" charset="0"/>
                <a:cs typeface="Times New Roman" panose="02020603050405020304" pitchFamily="18" charset="0"/>
              </a:rPr>
              <a:t>1</a:t>
            </a:r>
          </a:p>
          <a:p>
            <a:endParaRPr lang="en-US" dirty="0">
              <a:solidFill>
                <a:srgbClr val="0A0A0A"/>
              </a:solidFill>
              <a:latin typeface="Times New Roman" panose="02020603050405020304" pitchFamily="18" charset="0"/>
              <a:cs typeface="Times New Roman" panose="02020603050405020304" pitchFamily="18" charset="0"/>
            </a:endParaRPr>
          </a:p>
          <a:p>
            <a:r>
              <a:rPr lang="en-US" dirty="0">
                <a:solidFill>
                  <a:srgbClr val="0A0A0A"/>
                </a:solidFill>
                <a:latin typeface="Times New Roman" panose="02020603050405020304" pitchFamily="18" charset="0"/>
                <a:cs typeface="Times New Roman" panose="02020603050405020304" pitchFamily="18" charset="0"/>
              </a:rPr>
              <a:t>2</a:t>
            </a:r>
          </a:p>
          <a:p>
            <a:endParaRPr lang="en-US" dirty="0">
              <a:solidFill>
                <a:srgbClr val="0A0A0A"/>
              </a:solidFill>
              <a:latin typeface="Times New Roman" panose="02020603050405020304" pitchFamily="18" charset="0"/>
              <a:cs typeface="Times New Roman" panose="02020603050405020304" pitchFamily="18" charset="0"/>
            </a:endParaRPr>
          </a:p>
          <a:p>
            <a:r>
              <a:rPr lang="en-US" dirty="0">
                <a:solidFill>
                  <a:srgbClr val="0A0A0A"/>
                </a:solidFill>
                <a:latin typeface="Times New Roman" panose="02020603050405020304" pitchFamily="18" charset="0"/>
                <a:cs typeface="Times New Roman" panose="02020603050405020304" pitchFamily="18" charset="0"/>
              </a:rPr>
              <a:t>3</a:t>
            </a:r>
            <a:endParaRPr lang="en-PK" dirty="0"/>
          </a:p>
        </p:txBody>
      </p:sp>
      <p:graphicFrame>
        <p:nvGraphicFramePr>
          <p:cNvPr id="9" name="Table 8">
            <a:extLst>
              <a:ext uri="{FF2B5EF4-FFF2-40B4-BE49-F238E27FC236}">
                <a16:creationId xmlns:a16="http://schemas.microsoft.com/office/drawing/2014/main" id="{D3518FA0-D121-163C-FBB3-2E6C6A76A2AC}"/>
              </a:ext>
            </a:extLst>
          </p:cNvPr>
          <p:cNvGraphicFramePr>
            <a:graphicFrameLocks noGrp="1"/>
          </p:cNvGraphicFramePr>
          <p:nvPr>
            <p:extLst>
              <p:ext uri="{D42A27DB-BD31-4B8C-83A1-F6EECF244321}">
                <p14:modId xmlns:p14="http://schemas.microsoft.com/office/powerpoint/2010/main" val="2007893147"/>
              </p:ext>
            </p:extLst>
          </p:nvPr>
        </p:nvGraphicFramePr>
        <p:xfrm>
          <a:off x="1128234" y="5816587"/>
          <a:ext cx="1318437" cy="484303"/>
        </p:xfrm>
        <a:graphic>
          <a:graphicData uri="http://schemas.openxmlformats.org/drawingml/2006/table">
            <a:tbl>
              <a:tblPr/>
              <a:tblGrid>
                <a:gridCol w="1318437">
                  <a:extLst>
                    <a:ext uri="{9D8B030D-6E8A-4147-A177-3AD203B41FA5}">
                      <a16:colId xmlns:a16="http://schemas.microsoft.com/office/drawing/2014/main" val="684658206"/>
                    </a:ext>
                  </a:extLst>
                </a:gridCol>
              </a:tblGrid>
              <a:tr h="484303">
                <a:tc>
                  <a:txBody>
                    <a:bodyPr/>
                    <a:lstStyle/>
                    <a:p>
                      <a:r>
                        <a:rPr lang="en-US" dirty="0"/>
                        <a:t>        X</a:t>
                      </a:r>
                      <a:endParaRPr lang="en-PK"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600593649"/>
                  </a:ext>
                </a:extLst>
              </a:tr>
            </a:tbl>
          </a:graphicData>
        </a:graphic>
      </p:graphicFrame>
      <p:graphicFrame>
        <p:nvGraphicFramePr>
          <p:cNvPr id="10" name="Table 9">
            <a:extLst>
              <a:ext uri="{FF2B5EF4-FFF2-40B4-BE49-F238E27FC236}">
                <a16:creationId xmlns:a16="http://schemas.microsoft.com/office/drawing/2014/main" id="{0843E3A8-F60B-FDAF-6A4C-0572BEF7BAAB}"/>
              </a:ext>
            </a:extLst>
          </p:cNvPr>
          <p:cNvGraphicFramePr>
            <a:graphicFrameLocks noGrp="1"/>
          </p:cNvGraphicFramePr>
          <p:nvPr>
            <p:extLst>
              <p:ext uri="{D42A27DB-BD31-4B8C-83A1-F6EECF244321}">
                <p14:modId xmlns:p14="http://schemas.microsoft.com/office/powerpoint/2010/main" val="2702322986"/>
              </p:ext>
            </p:extLst>
          </p:nvPr>
        </p:nvGraphicFramePr>
        <p:xfrm>
          <a:off x="3127155" y="4357372"/>
          <a:ext cx="1295991" cy="1503119"/>
        </p:xfrm>
        <a:graphic>
          <a:graphicData uri="http://schemas.openxmlformats.org/drawingml/2006/table">
            <a:tbl>
              <a:tblPr firstRow="1" bandRow="1">
                <a:tableStyleId>{5940675A-B579-460E-94D1-54222C63F5DA}</a:tableStyleId>
              </a:tblPr>
              <a:tblGrid>
                <a:gridCol w="1295991">
                  <a:extLst>
                    <a:ext uri="{9D8B030D-6E8A-4147-A177-3AD203B41FA5}">
                      <a16:colId xmlns:a16="http://schemas.microsoft.com/office/drawing/2014/main" val="2730424070"/>
                    </a:ext>
                  </a:extLst>
                </a:gridCol>
              </a:tblGrid>
              <a:tr h="596865">
                <a:tc>
                  <a:txBody>
                    <a:bodyPr/>
                    <a:lstStyle/>
                    <a:p>
                      <a:pPr algn="ctr"/>
                      <a:r>
                        <a:rPr lang="en-US" dirty="0">
                          <a:latin typeface="Times New Roman" panose="02020603050405020304" pitchFamily="18" charset="0"/>
                          <a:cs typeface="Times New Roman" panose="02020603050405020304" pitchFamily="18" charset="0"/>
                        </a:rPr>
                        <a:t>F0</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62606967"/>
                  </a:ext>
                </a:extLst>
              </a:tr>
              <a:tr h="484124">
                <a:tc>
                  <a:txBody>
                    <a:bodyPr/>
                    <a:lstStyle/>
                    <a:p>
                      <a:pPr algn="ctr"/>
                      <a:r>
                        <a:rPr lang="en-US" dirty="0">
                          <a:latin typeface="Times New Roman" panose="02020603050405020304" pitchFamily="18" charset="0"/>
                          <a:cs typeface="Times New Roman" panose="02020603050405020304" pitchFamily="18" charset="0"/>
                        </a:rPr>
                        <a:t>X</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75743067"/>
                  </a:ext>
                </a:extLst>
              </a:tr>
              <a:tr h="422130">
                <a:tc>
                  <a:txBody>
                    <a:bodyPr/>
                    <a:lstStyle/>
                    <a:p>
                      <a:pPr algn="ctr"/>
                      <a:r>
                        <a:rPr lang="en-US" dirty="0">
                          <a:latin typeface="Times New Roman" panose="02020603050405020304" pitchFamily="18" charset="0"/>
                          <a:cs typeface="Times New Roman" panose="02020603050405020304" pitchFamily="18" charset="0"/>
                        </a:rPr>
                        <a:t>F2</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2335593"/>
                  </a:ext>
                </a:extLst>
              </a:tr>
            </a:tbl>
          </a:graphicData>
        </a:graphic>
      </p:graphicFrame>
      <p:sp>
        <p:nvSpPr>
          <p:cNvPr id="11" name="TextBox 10">
            <a:extLst>
              <a:ext uri="{FF2B5EF4-FFF2-40B4-BE49-F238E27FC236}">
                <a16:creationId xmlns:a16="http://schemas.microsoft.com/office/drawing/2014/main" id="{DC373E76-B14D-F71A-FC78-9A21F9C6D372}"/>
              </a:ext>
            </a:extLst>
          </p:cNvPr>
          <p:cNvSpPr txBox="1"/>
          <p:nvPr/>
        </p:nvSpPr>
        <p:spPr>
          <a:xfrm>
            <a:off x="2843472" y="4313469"/>
            <a:ext cx="567366" cy="2031325"/>
          </a:xfrm>
          <a:prstGeom prst="rect">
            <a:avLst/>
          </a:prstGeom>
          <a:noFill/>
        </p:spPr>
        <p:txBody>
          <a:bodyPr wrap="square">
            <a:spAutoFit/>
          </a:bodyPr>
          <a:lstStyle/>
          <a:p>
            <a:r>
              <a:rPr lang="en-US" dirty="0">
                <a:solidFill>
                  <a:srgbClr val="0A0A0A"/>
                </a:solidFill>
                <a:latin typeface="Times New Roman" panose="02020603050405020304" pitchFamily="18" charset="0"/>
                <a:cs typeface="Times New Roman" panose="02020603050405020304" pitchFamily="18" charset="0"/>
              </a:rPr>
              <a:t>0</a:t>
            </a:r>
            <a:endParaRPr lang="en-US" sz="1800" b="0" i="0" dirty="0">
              <a:solidFill>
                <a:srgbClr val="0A0A0A"/>
              </a:solidFill>
              <a:effectLst/>
              <a:latin typeface="Times New Roman" panose="02020603050405020304" pitchFamily="18" charset="0"/>
              <a:cs typeface="Times New Roman" panose="02020603050405020304" pitchFamily="18" charset="0"/>
            </a:endParaRPr>
          </a:p>
          <a:p>
            <a:endParaRPr lang="en-US" dirty="0">
              <a:solidFill>
                <a:srgbClr val="0A0A0A"/>
              </a:solidFill>
              <a:latin typeface="Times New Roman" panose="02020603050405020304" pitchFamily="18" charset="0"/>
              <a:cs typeface="Times New Roman" panose="02020603050405020304" pitchFamily="18" charset="0"/>
            </a:endParaRPr>
          </a:p>
          <a:p>
            <a:r>
              <a:rPr lang="en-US" dirty="0">
                <a:solidFill>
                  <a:srgbClr val="0A0A0A"/>
                </a:solidFill>
                <a:latin typeface="Times New Roman" panose="02020603050405020304" pitchFamily="18" charset="0"/>
                <a:cs typeface="Times New Roman" panose="02020603050405020304" pitchFamily="18" charset="0"/>
              </a:rPr>
              <a:t>1</a:t>
            </a:r>
          </a:p>
          <a:p>
            <a:endParaRPr lang="en-US" dirty="0">
              <a:solidFill>
                <a:srgbClr val="0A0A0A"/>
              </a:solidFill>
              <a:latin typeface="Times New Roman" panose="02020603050405020304" pitchFamily="18" charset="0"/>
              <a:cs typeface="Times New Roman" panose="02020603050405020304" pitchFamily="18" charset="0"/>
            </a:endParaRPr>
          </a:p>
          <a:p>
            <a:r>
              <a:rPr lang="en-US" dirty="0">
                <a:solidFill>
                  <a:srgbClr val="0A0A0A"/>
                </a:solidFill>
                <a:latin typeface="Times New Roman" panose="02020603050405020304" pitchFamily="18" charset="0"/>
                <a:cs typeface="Times New Roman" panose="02020603050405020304" pitchFamily="18" charset="0"/>
              </a:rPr>
              <a:t>2</a:t>
            </a:r>
          </a:p>
          <a:p>
            <a:endParaRPr lang="en-US" dirty="0">
              <a:solidFill>
                <a:srgbClr val="0A0A0A"/>
              </a:solidFill>
              <a:latin typeface="Times New Roman" panose="02020603050405020304" pitchFamily="18" charset="0"/>
              <a:cs typeface="Times New Roman" panose="02020603050405020304" pitchFamily="18" charset="0"/>
            </a:endParaRPr>
          </a:p>
          <a:p>
            <a:r>
              <a:rPr lang="en-US" dirty="0">
                <a:solidFill>
                  <a:srgbClr val="0A0A0A"/>
                </a:solidFill>
                <a:latin typeface="Times New Roman" panose="02020603050405020304" pitchFamily="18" charset="0"/>
                <a:cs typeface="Times New Roman" panose="02020603050405020304" pitchFamily="18" charset="0"/>
              </a:rPr>
              <a:t>3</a:t>
            </a:r>
            <a:endParaRPr lang="en-PK" dirty="0"/>
          </a:p>
        </p:txBody>
      </p:sp>
      <p:graphicFrame>
        <p:nvGraphicFramePr>
          <p:cNvPr id="12" name="Table 11">
            <a:extLst>
              <a:ext uri="{FF2B5EF4-FFF2-40B4-BE49-F238E27FC236}">
                <a16:creationId xmlns:a16="http://schemas.microsoft.com/office/drawing/2014/main" id="{2D3F33A3-38BE-6729-8A31-C6522DA9B0AF}"/>
              </a:ext>
            </a:extLst>
          </p:cNvPr>
          <p:cNvGraphicFramePr>
            <a:graphicFrameLocks noGrp="1"/>
          </p:cNvGraphicFramePr>
          <p:nvPr>
            <p:extLst>
              <p:ext uri="{D42A27DB-BD31-4B8C-83A1-F6EECF244321}">
                <p14:modId xmlns:p14="http://schemas.microsoft.com/office/powerpoint/2010/main" val="4043501127"/>
              </p:ext>
            </p:extLst>
          </p:nvPr>
        </p:nvGraphicFramePr>
        <p:xfrm>
          <a:off x="3127155" y="5860490"/>
          <a:ext cx="1318437" cy="484303"/>
        </p:xfrm>
        <a:graphic>
          <a:graphicData uri="http://schemas.openxmlformats.org/drawingml/2006/table">
            <a:tbl>
              <a:tblPr/>
              <a:tblGrid>
                <a:gridCol w="1318437">
                  <a:extLst>
                    <a:ext uri="{9D8B030D-6E8A-4147-A177-3AD203B41FA5}">
                      <a16:colId xmlns:a16="http://schemas.microsoft.com/office/drawing/2014/main" val="684658206"/>
                    </a:ext>
                  </a:extLst>
                </a:gridCol>
              </a:tblGrid>
              <a:tr h="484303">
                <a:tc>
                  <a:txBody>
                    <a:bodyPr/>
                    <a:lstStyle/>
                    <a:p>
                      <a:r>
                        <a:rPr lang="en-US" dirty="0"/>
                        <a:t>        X</a:t>
                      </a:r>
                      <a:endParaRPr lang="en-PK"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600593649"/>
                  </a:ext>
                </a:extLst>
              </a:tr>
            </a:tbl>
          </a:graphicData>
        </a:graphic>
      </p:graphicFrame>
      <p:graphicFrame>
        <p:nvGraphicFramePr>
          <p:cNvPr id="13" name="Table 12">
            <a:extLst>
              <a:ext uri="{FF2B5EF4-FFF2-40B4-BE49-F238E27FC236}">
                <a16:creationId xmlns:a16="http://schemas.microsoft.com/office/drawing/2014/main" id="{09BCF614-0E8D-67A6-9CBB-5359DD2C302F}"/>
              </a:ext>
            </a:extLst>
          </p:cNvPr>
          <p:cNvGraphicFramePr>
            <a:graphicFrameLocks noGrp="1"/>
          </p:cNvGraphicFramePr>
          <p:nvPr>
            <p:extLst>
              <p:ext uri="{D42A27DB-BD31-4B8C-83A1-F6EECF244321}">
                <p14:modId xmlns:p14="http://schemas.microsoft.com/office/powerpoint/2010/main" val="3932715173"/>
              </p:ext>
            </p:extLst>
          </p:nvPr>
        </p:nvGraphicFramePr>
        <p:xfrm>
          <a:off x="5115445" y="4357371"/>
          <a:ext cx="1295991" cy="1503119"/>
        </p:xfrm>
        <a:graphic>
          <a:graphicData uri="http://schemas.openxmlformats.org/drawingml/2006/table">
            <a:tbl>
              <a:tblPr firstRow="1" bandRow="1">
                <a:tableStyleId>{5940675A-B579-460E-94D1-54222C63F5DA}</a:tableStyleId>
              </a:tblPr>
              <a:tblGrid>
                <a:gridCol w="1295991">
                  <a:extLst>
                    <a:ext uri="{9D8B030D-6E8A-4147-A177-3AD203B41FA5}">
                      <a16:colId xmlns:a16="http://schemas.microsoft.com/office/drawing/2014/main" val="2730424070"/>
                    </a:ext>
                  </a:extLst>
                </a:gridCol>
              </a:tblGrid>
              <a:tr h="596865">
                <a:tc>
                  <a:txBody>
                    <a:bodyPr/>
                    <a:lstStyle/>
                    <a:p>
                      <a:pPr algn="ctr"/>
                      <a:r>
                        <a:rPr lang="en-US" dirty="0">
                          <a:latin typeface="Times New Roman" panose="02020603050405020304" pitchFamily="18" charset="0"/>
                          <a:cs typeface="Times New Roman" panose="02020603050405020304" pitchFamily="18" charset="0"/>
                        </a:rPr>
                        <a:t>X</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62606967"/>
                  </a:ext>
                </a:extLst>
              </a:tr>
              <a:tr h="484124">
                <a:tc>
                  <a:txBody>
                    <a:bodyPr/>
                    <a:lstStyle/>
                    <a:p>
                      <a:pPr algn="ctr"/>
                      <a:r>
                        <a:rPr lang="en-US" dirty="0">
                          <a:latin typeface="Times New Roman" panose="02020603050405020304" pitchFamily="18" charset="0"/>
                          <a:cs typeface="Times New Roman" panose="02020603050405020304" pitchFamily="18" charset="0"/>
                        </a:rPr>
                        <a:t>F1</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75743067"/>
                  </a:ext>
                </a:extLst>
              </a:tr>
              <a:tr h="422130">
                <a:tc>
                  <a:txBody>
                    <a:bodyPr/>
                    <a:lstStyle/>
                    <a:p>
                      <a:pPr algn="ctr"/>
                      <a:r>
                        <a:rPr lang="en-US" dirty="0">
                          <a:latin typeface="Times New Roman" panose="02020603050405020304" pitchFamily="18" charset="0"/>
                          <a:cs typeface="Times New Roman" panose="02020603050405020304" pitchFamily="18" charset="0"/>
                        </a:rPr>
                        <a:t>F4</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2335593"/>
                  </a:ext>
                </a:extLst>
              </a:tr>
            </a:tbl>
          </a:graphicData>
        </a:graphic>
      </p:graphicFrame>
      <p:sp>
        <p:nvSpPr>
          <p:cNvPr id="14" name="TextBox 13">
            <a:extLst>
              <a:ext uri="{FF2B5EF4-FFF2-40B4-BE49-F238E27FC236}">
                <a16:creationId xmlns:a16="http://schemas.microsoft.com/office/drawing/2014/main" id="{67B209CE-F40F-3CF9-E70A-EB1E3B55406D}"/>
              </a:ext>
            </a:extLst>
          </p:cNvPr>
          <p:cNvSpPr txBox="1"/>
          <p:nvPr/>
        </p:nvSpPr>
        <p:spPr>
          <a:xfrm>
            <a:off x="4831762" y="4313468"/>
            <a:ext cx="567366" cy="2031325"/>
          </a:xfrm>
          <a:prstGeom prst="rect">
            <a:avLst/>
          </a:prstGeom>
          <a:noFill/>
        </p:spPr>
        <p:txBody>
          <a:bodyPr wrap="square">
            <a:spAutoFit/>
          </a:bodyPr>
          <a:lstStyle/>
          <a:p>
            <a:r>
              <a:rPr lang="en-US" dirty="0">
                <a:solidFill>
                  <a:srgbClr val="0A0A0A"/>
                </a:solidFill>
                <a:latin typeface="Times New Roman" panose="02020603050405020304" pitchFamily="18" charset="0"/>
                <a:cs typeface="Times New Roman" panose="02020603050405020304" pitchFamily="18" charset="0"/>
              </a:rPr>
              <a:t>0</a:t>
            </a:r>
            <a:endParaRPr lang="en-US" sz="1800" b="0" i="0" dirty="0">
              <a:solidFill>
                <a:srgbClr val="0A0A0A"/>
              </a:solidFill>
              <a:effectLst/>
              <a:latin typeface="Times New Roman" panose="02020603050405020304" pitchFamily="18" charset="0"/>
              <a:cs typeface="Times New Roman" panose="02020603050405020304" pitchFamily="18" charset="0"/>
            </a:endParaRPr>
          </a:p>
          <a:p>
            <a:endParaRPr lang="en-US" dirty="0">
              <a:solidFill>
                <a:srgbClr val="0A0A0A"/>
              </a:solidFill>
              <a:latin typeface="Times New Roman" panose="02020603050405020304" pitchFamily="18" charset="0"/>
              <a:cs typeface="Times New Roman" panose="02020603050405020304" pitchFamily="18" charset="0"/>
            </a:endParaRPr>
          </a:p>
          <a:p>
            <a:r>
              <a:rPr lang="en-US" dirty="0">
                <a:solidFill>
                  <a:srgbClr val="0A0A0A"/>
                </a:solidFill>
                <a:latin typeface="Times New Roman" panose="02020603050405020304" pitchFamily="18" charset="0"/>
                <a:cs typeface="Times New Roman" panose="02020603050405020304" pitchFamily="18" charset="0"/>
              </a:rPr>
              <a:t>1</a:t>
            </a:r>
          </a:p>
          <a:p>
            <a:endParaRPr lang="en-US" dirty="0">
              <a:solidFill>
                <a:srgbClr val="0A0A0A"/>
              </a:solidFill>
              <a:latin typeface="Times New Roman" panose="02020603050405020304" pitchFamily="18" charset="0"/>
              <a:cs typeface="Times New Roman" panose="02020603050405020304" pitchFamily="18" charset="0"/>
            </a:endParaRPr>
          </a:p>
          <a:p>
            <a:r>
              <a:rPr lang="en-US" dirty="0">
                <a:solidFill>
                  <a:srgbClr val="0A0A0A"/>
                </a:solidFill>
                <a:latin typeface="Times New Roman" panose="02020603050405020304" pitchFamily="18" charset="0"/>
                <a:cs typeface="Times New Roman" panose="02020603050405020304" pitchFamily="18" charset="0"/>
              </a:rPr>
              <a:t>2</a:t>
            </a:r>
          </a:p>
          <a:p>
            <a:endParaRPr lang="en-US" dirty="0">
              <a:solidFill>
                <a:srgbClr val="0A0A0A"/>
              </a:solidFill>
              <a:latin typeface="Times New Roman" panose="02020603050405020304" pitchFamily="18" charset="0"/>
              <a:cs typeface="Times New Roman" panose="02020603050405020304" pitchFamily="18" charset="0"/>
            </a:endParaRPr>
          </a:p>
          <a:p>
            <a:r>
              <a:rPr lang="en-US" dirty="0">
                <a:solidFill>
                  <a:srgbClr val="0A0A0A"/>
                </a:solidFill>
                <a:latin typeface="Times New Roman" panose="02020603050405020304" pitchFamily="18" charset="0"/>
                <a:cs typeface="Times New Roman" panose="02020603050405020304" pitchFamily="18" charset="0"/>
              </a:rPr>
              <a:t>3</a:t>
            </a:r>
            <a:endParaRPr lang="en-PK" dirty="0"/>
          </a:p>
        </p:txBody>
      </p:sp>
      <p:graphicFrame>
        <p:nvGraphicFramePr>
          <p:cNvPr id="15" name="Table 14">
            <a:extLst>
              <a:ext uri="{FF2B5EF4-FFF2-40B4-BE49-F238E27FC236}">
                <a16:creationId xmlns:a16="http://schemas.microsoft.com/office/drawing/2014/main" id="{CBA18A5D-85B6-8AF3-6F91-B84EB97E6F92}"/>
              </a:ext>
            </a:extLst>
          </p:cNvPr>
          <p:cNvGraphicFramePr>
            <a:graphicFrameLocks noGrp="1"/>
          </p:cNvGraphicFramePr>
          <p:nvPr>
            <p:extLst>
              <p:ext uri="{D42A27DB-BD31-4B8C-83A1-F6EECF244321}">
                <p14:modId xmlns:p14="http://schemas.microsoft.com/office/powerpoint/2010/main" val="3210686552"/>
              </p:ext>
            </p:extLst>
          </p:nvPr>
        </p:nvGraphicFramePr>
        <p:xfrm>
          <a:off x="5115445" y="5860489"/>
          <a:ext cx="1318437" cy="484303"/>
        </p:xfrm>
        <a:graphic>
          <a:graphicData uri="http://schemas.openxmlformats.org/drawingml/2006/table">
            <a:tbl>
              <a:tblPr/>
              <a:tblGrid>
                <a:gridCol w="1318437">
                  <a:extLst>
                    <a:ext uri="{9D8B030D-6E8A-4147-A177-3AD203B41FA5}">
                      <a16:colId xmlns:a16="http://schemas.microsoft.com/office/drawing/2014/main" val="684658206"/>
                    </a:ext>
                  </a:extLst>
                </a:gridCol>
              </a:tblGrid>
              <a:tr h="484303">
                <a:tc>
                  <a:txBody>
                    <a:bodyPr/>
                    <a:lstStyle/>
                    <a:p>
                      <a:r>
                        <a:rPr lang="en-US" dirty="0"/>
                        <a:t>        X</a:t>
                      </a:r>
                      <a:endParaRPr lang="en-PK"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600593649"/>
                  </a:ext>
                </a:extLst>
              </a:tr>
            </a:tbl>
          </a:graphicData>
        </a:graphic>
      </p:graphicFrame>
      <p:sp>
        <p:nvSpPr>
          <p:cNvPr id="17" name="TextBox 16">
            <a:extLst>
              <a:ext uri="{FF2B5EF4-FFF2-40B4-BE49-F238E27FC236}">
                <a16:creationId xmlns:a16="http://schemas.microsoft.com/office/drawing/2014/main" id="{FE65AF50-A343-5A6B-9D8A-F38A3AC94D7A}"/>
              </a:ext>
            </a:extLst>
          </p:cNvPr>
          <p:cNvSpPr txBox="1"/>
          <p:nvPr/>
        </p:nvSpPr>
        <p:spPr>
          <a:xfrm>
            <a:off x="1083491" y="6356342"/>
            <a:ext cx="1519446" cy="369332"/>
          </a:xfrm>
          <a:prstGeom prst="rect">
            <a:avLst/>
          </a:prstGeom>
          <a:noFill/>
        </p:spPr>
        <p:txBody>
          <a:bodyPr wrap="square">
            <a:spAutoFit/>
          </a:bodyPr>
          <a:lstStyle/>
          <a:p>
            <a:r>
              <a:rPr lang="en-US" sz="1800" b="1" i="0" dirty="0">
                <a:solidFill>
                  <a:srgbClr val="0A0A0A"/>
                </a:solidFill>
                <a:effectLst/>
                <a:latin typeface="Times New Roman" panose="02020603050405020304" pitchFamily="18" charset="0"/>
                <a:cs typeface="Times New Roman" panose="02020603050405020304" pitchFamily="18" charset="0"/>
              </a:rPr>
              <a:t>Pg Table P1</a:t>
            </a:r>
            <a:endParaRPr lang="en-PK" b="1" dirty="0"/>
          </a:p>
        </p:txBody>
      </p:sp>
      <p:sp>
        <p:nvSpPr>
          <p:cNvPr id="18" name="TextBox 17">
            <a:extLst>
              <a:ext uri="{FF2B5EF4-FFF2-40B4-BE49-F238E27FC236}">
                <a16:creationId xmlns:a16="http://schemas.microsoft.com/office/drawing/2014/main" id="{FABF88CC-24D3-50E4-E0F2-ABF1101A6F2D}"/>
              </a:ext>
            </a:extLst>
          </p:cNvPr>
          <p:cNvSpPr txBox="1"/>
          <p:nvPr/>
        </p:nvSpPr>
        <p:spPr>
          <a:xfrm>
            <a:off x="3167645" y="6379592"/>
            <a:ext cx="1519446" cy="369332"/>
          </a:xfrm>
          <a:prstGeom prst="rect">
            <a:avLst/>
          </a:prstGeom>
          <a:noFill/>
        </p:spPr>
        <p:txBody>
          <a:bodyPr wrap="square">
            <a:spAutoFit/>
          </a:bodyPr>
          <a:lstStyle/>
          <a:p>
            <a:r>
              <a:rPr lang="en-US" sz="1800" b="1" i="0" dirty="0">
                <a:solidFill>
                  <a:srgbClr val="0A0A0A"/>
                </a:solidFill>
                <a:effectLst/>
                <a:latin typeface="Times New Roman" panose="02020603050405020304" pitchFamily="18" charset="0"/>
                <a:cs typeface="Times New Roman" panose="02020603050405020304" pitchFamily="18" charset="0"/>
              </a:rPr>
              <a:t>Pg Table P2</a:t>
            </a:r>
            <a:endParaRPr lang="en-PK" b="1" dirty="0"/>
          </a:p>
        </p:txBody>
      </p:sp>
      <p:sp>
        <p:nvSpPr>
          <p:cNvPr id="19" name="TextBox 18">
            <a:extLst>
              <a:ext uri="{FF2B5EF4-FFF2-40B4-BE49-F238E27FC236}">
                <a16:creationId xmlns:a16="http://schemas.microsoft.com/office/drawing/2014/main" id="{78B02D5F-C5C5-3385-9BFB-28EF2660C288}"/>
              </a:ext>
            </a:extLst>
          </p:cNvPr>
          <p:cNvSpPr txBox="1"/>
          <p:nvPr/>
        </p:nvSpPr>
        <p:spPr>
          <a:xfrm>
            <a:off x="5124038" y="6402278"/>
            <a:ext cx="1519446" cy="369332"/>
          </a:xfrm>
          <a:prstGeom prst="rect">
            <a:avLst/>
          </a:prstGeom>
          <a:noFill/>
        </p:spPr>
        <p:txBody>
          <a:bodyPr wrap="square">
            <a:spAutoFit/>
          </a:bodyPr>
          <a:lstStyle/>
          <a:p>
            <a:r>
              <a:rPr lang="en-US" sz="1800" b="1" i="0" dirty="0">
                <a:solidFill>
                  <a:srgbClr val="0A0A0A"/>
                </a:solidFill>
                <a:effectLst/>
                <a:latin typeface="Times New Roman" panose="02020603050405020304" pitchFamily="18" charset="0"/>
                <a:cs typeface="Times New Roman" panose="02020603050405020304" pitchFamily="18" charset="0"/>
              </a:rPr>
              <a:t>Pg Table P3</a:t>
            </a:r>
            <a:endParaRPr lang="en-PK" b="1" dirty="0"/>
          </a:p>
        </p:txBody>
      </p:sp>
      <p:graphicFrame>
        <p:nvGraphicFramePr>
          <p:cNvPr id="20" name="Table 19">
            <a:extLst>
              <a:ext uri="{FF2B5EF4-FFF2-40B4-BE49-F238E27FC236}">
                <a16:creationId xmlns:a16="http://schemas.microsoft.com/office/drawing/2014/main" id="{1B2E3F93-1BAF-4398-27C7-7A61B772420B}"/>
              </a:ext>
            </a:extLst>
          </p:cNvPr>
          <p:cNvGraphicFramePr>
            <a:graphicFrameLocks noGrp="1"/>
          </p:cNvGraphicFramePr>
          <p:nvPr>
            <p:extLst>
              <p:ext uri="{D42A27DB-BD31-4B8C-83A1-F6EECF244321}">
                <p14:modId xmlns:p14="http://schemas.microsoft.com/office/powerpoint/2010/main" val="1887158041"/>
              </p:ext>
            </p:extLst>
          </p:nvPr>
        </p:nvGraphicFramePr>
        <p:xfrm>
          <a:off x="9677149" y="1797051"/>
          <a:ext cx="1487966" cy="3968606"/>
        </p:xfrm>
        <a:graphic>
          <a:graphicData uri="http://schemas.openxmlformats.org/drawingml/2006/table">
            <a:tbl>
              <a:tblPr firstRow="1" bandRow="1">
                <a:tableStyleId>{5940675A-B579-460E-94D1-54222C63F5DA}</a:tableStyleId>
              </a:tblPr>
              <a:tblGrid>
                <a:gridCol w="743983">
                  <a:extLst>
                    <a:ext uri="{9D8B030D-6E8A-4147-A177-3AD203B41FA5}">
                      <a16:colId xmlns:a16="http://schemas.microsoft.com/office/drawing/2014/main" val="3912153941"/>
                    </a:ext>
                  </a:extLst>
                </a:gridCol>
                <a:gridCol w="743983">
                  <a:extLst>
                    <a:ext uri="{9D8B030D-6E8A-4147-A177-3AD203B41FA5}">
                      <a16:colId xmlns:a16="http://schemas.microsoft.com/office/drawing/2014/main" val="2058452542"/>
                    </a:ext>
                  </a:extLst>
                </a:gridCol>
              </a:tblGrid>
              <a:tr h="645239">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P0</a:t>
                      </a:r>
                      <a:endParaRPr lang="en-PK" dirty="0">
                        <a:latin typeface="Times New Roman" panose="02020603050405020304" pitchFamily="18" charset="0"/>
                        <a:cs typeface="Times New Roman" panose="02020603050405020304" pitchFamily="18" charset="0"/>
                      </a:endParaRPr>
                    </a:p>
                  </a:txBody>
                  <a:tcPr/>
                </a:tc>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P1</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37581303"/>
                  </a:ext>
                </a:extLst>
              </a:tr>
              <a:tr h="53152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P1</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P2</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51858144"/>
                  </a:ext>
                </a:extLst>
              </a:tr>
              <a:tr h="5557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P2</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P1</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68546318"/>
                  </a:ext>
                </a:extLst>
              </a:tr>
              <a:tr h="4819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P1</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P3</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54403087"/>
                  </a:ext>
                </a:extLst>
              </a:tr>
              <a:tr h="6501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P3</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P2</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78569234"/>
                  </a:ext>
                </a:extLst>
              </a:tr>
              <a:tr h="5164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P2</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P2</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7637297"/>
                  </a:ext>
                </a:extLst>
              </a:tr>
              <a:tr h="5876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P3</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P3</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97244162"/>
                  </a:ext>
                </a:extLst>
              </a:tr>
            </a:tbl>
          </a:graphicData>
        </a:graphic>
      </p:graphicFrame>
      <p:sp>
        <p:nvSpPr>
          <p:cNvPr id="21" name="TextBox 20">
            <a:extLst>
              <a:ext uri="{FF2B5EF4-FFF2-40B4-BE49-F238E27FC236}">
                <a16:creationId xmlns:a16="http://schemas.microsoft.com/office/drawing/2014/main" id="{886FCBD7-40D7-41C3-FEFC-043AE6D5BA7D}"/>
              </a:ext>
            </a:extLst>
          </p:cNvPr>
          <p:cNvSpPr txBox="1"/>
          <p:nvPr/>
        </p:nvSpPr>
        <p:spPr>
          <a:xfrm>
            <a:off x="9371020" y="1912811"/>
            <a:ext cx="567366" cy="4801314"/>
          </a:xfrm>
          <a:prstGeom prst="rect">
            <a:avLst/>
          </a:prstGeom>
          <a:noFill/>
        </p:spPr>
        <p:txBody>
          <a:bodyPr wrap="square">
            <a:spAutoFit/>
          </a:bodyPr>
          <a:lstStyle/>
          <a:p>
            <a:r>
              <a:rPr lang="en-US" dirty="0">
                <a:solidFill>
                  <a:srgbClr val="0A0A0A"/>
                </a:solidFill>
                <a:latin typeface="Times New Roman" panose="02020603050405020304" pitchFamily="18" charset="0"/>
                <a:cs typeface="Times New Roman" panose="02020603050405020304" pitchFamily="18" charset="0"/>
              </a:rPr>
              <a:t>0</a:t>
            </a:r>
            <a:endParaRPr lang="en-US" sz="1800" b="0" i="0" dirty="0">
              <a:solidFill>
                <a:srgbClr val="0A0A0A"/>
              </a:solidFill>
              <a:effectLst/>
              <a:latin typeface="Times New Roman" panose="02020603050405020304" pitchFamily="18" charset="0"/>
              <a:cs typeface="Times New Roman" panose="02020603050405020304" pitchFamily="18" charset="0"/>
            </a:endParaRPr>
          </a:p>
          <a:p>
            <a:endParaRPr lang="en-US" dirty="0">
              <a:solidFill>
                <a:srgbClr val="0A0A0A"/>
              </a:solidFill>
              <a:latin typeface="Times New Roman" panose="02020603050405020304" pitchFamily="18" charset="0"/>
              <a:cs typeface="Times New Roman" panose="02020603050405020304" pitchFamily="18" charset="0"/>
            </a:endParaRPr>
          </a:p>
          <a:p>
            <a:r>
              <a:rPr lang="en-US" dirty="0">
                <a:solidFill>
                  <a:srgbClr val="0A0A0A"/>
                </a:solidFill>
                <a:latin typeface="Times New Roman" panose="02020603050405020304" pitchFamily="18" charset="0"/>
                <a:cs typeface="Times New Roman" panose="02020603050405020304" pitchFamily="18" charset="0"/>
              </a:rPr>
              <a:t>1</a:t>
            </a:r>
          </a:p>
          <a:p>
            <a:endParaRPr lang="en-US" dirty="0">
              <a:solidFill>
                <a:srgbClr val="0A0A0A"/>
              </a:solidFill>
              <a:latin typeface="Times New Roman" panose="02020603050405020304" pitchFamily="18" charset="0"/>
              <a:cs typeface="Times New Roman" panose="02020603050405020304" pitchFamily="18" charset="0"/>
            </a:endParaRPr>
          </a:p>
          <a:p>
            <a:r>
              <a:rPr lang="en-US" dirty="0">
                <a:solidFill>
                  <a:srgbClr val="0A0A0A"/>
                </a:solidFill>
                <a:latin typeface="Times New Roman" panose="02020603050405020304" pitchFamily="18" charset="0"/>
                <a:cs typeface="Times New Roman" panose="02020603050405020304" pitchFamily="18" charset="0"/>
              </a:rPr>
              <a:t>2</a:t>
            </a:r>
          </a:p>
          <a:p>
            <a:endParaRPr lang="en-US" dirty="0">
              <a:solidFill>
                <a:srgbClr val="0A0A0A"/>
              </a:solidFill>
              <a:latin typeface="Times New Roman" panose="02020603050405020304" pitchFamily="18" charset="0"/>
              <a:cs typeface="Times New Roman" panose="02020603050405020304" pitchFamily="18" charset="0"/>
            </a:endParaRPr>
          </a:p>
          <a:p>
            <a:r>
              <a:rPr lang="en-US" dirty="0">
                <a:solidFill>
                  <a:srgbClr val="0A0A0A"/>
                </a:solidFill>
                <a:latin typeface="Times New Roman" panose="02020603050405020304" pitchFamily="18" charset="0"/>
                <a:cs typeface="Times New Roman" panose="02020603050405020304" pitchFamily="18" charset="0"/>
              </a:rPr>
              <a:t>3</a:t>
            </a:r>
          </a:p>
          <a:p>
            <a:endParaRPr lang="en-US" dirty="0">
              <a:solidFill>
                <a:srgbClr val="0A0A0A"/>
              </a:solidFill>
              <a:latin typeface="Times New Roman" panose="02020603050405020304" pitchFamily="18" charset="0"/>
              <a:cs typeface="Times New Roman" panose="02020603050405020304" pitchFamily="18" charset="0"/>
            </a:endParaRPr>
          </a:p>
          <a:p>
            <a:r>
              <a:rPr lang="en-US" dirty="0">
                <a:solidFill>
                  <a:srgbClr val="0A0A0A"/>
                </a:solidFill>
                <a:latin typeface="Times New Roman" panose="02020603050405020304" pitchFamily="18" charset="0"/>
                <a:cs typeface="Times New Roman" panose="02020603050405020304" pitchFamily="18" charset="0"/>
              </a:rPr>
              <a:t>4</a:t>
            </a:r>
          </a:p>
          <a:p>
            <a:endParaRPr lang="en-US" dirty="0"/>
          </a:p>
          <a:p>
            <a:r>
              <a:rPr lang="en-US" dirty="0"/>
              <a:t>5</a:t>
            </a:r>
          </a:p>
          <a:p>
            <a:endParaRPr lang="en-US" dirty="0"/>
          </a:p>
          <a:p>
            <a:r>
              <a:rPr lang="en-US" dirty="0"/>
              <a:t>6</a:t>
            </a:r>
          </a:p>
          <a:p>
            <a:endParaRPr lang="en-US" dirty="0"/>
          </a:p>
          <a:p>
            <a:endParaRPr lang="en-US" dirty="0"/>
          </a:p>
          <a:p>
            <a:endParaRPr lang="en-US" dirty="0"/>
          </a:p>
          <a:p>
            <a:endParaRPr lang="en-PK" dirty="0"/>
          </a:p>
        </p:txBody>
      </p:sp>
      <p:sp>
        <p:nvSpPr>
          <p:cNvPr id="23" name="TextBox 22">
            <a:extLst>
              <a:ext uri="{FF2B5EF4-FFF2-40B4-BE49-F238E27FC236}">
                <a16:creationId xmlns:a16="http://schemas.microsoft.com/office/drawing/2014/main" id="{AC3DB046-2571-D233-9857-0EE7679C52AF}"/>
              </a:ext>
            </a:extLst>
          </p:cNvPr>
          <p:cNvSpPr txBox="1"/>
          <p:nvPr/>
        </p:nvSpPr>
        <p:spPr>
          <a:xfrm>
            <a:off x="9255934" y="1092840"/>
            <a:ext cx="2330395"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F</a:t>
            </a:r>
            <a:r>
              <a:rPr lang="en-US" sz="1800" b="1" dirty="0">
                <a:latin typeface="Times New Roman" panose="02020603050405020304" pitchFamily="18" charset="0"/>
                <a:cs typeface="Times New Roman" panose="02020603050405020304" pitchFamily="18" charset="0"/>
              </a:rPr>
              <a:t>r.     Page  Process </a:t>
            </a:r>
          </a:p>
          <a:p>
            <a:r>
              <a:rPr lang="en-US" sz="1800" b="1" dirty="0">
                <a:latin typeface="Times New Roman" panose="02020603050405020304" pitchFamily="18" charset="0"/>
                <a:cs typeface="Times New Roman" panose="02020603050405020304" pitchFamily="18" charset="0"/>
              </a:rPr>
              <a:t>No      No.        ID</a:t>
            </a:r>
            <a:endParaRPr lang="en-PK" dirty="0"/>
          </a:p>
        </p:txBody>
      </p:sp>
      <p:sp>
        <p:nvSpPr>
          <p:cNvPr id="24" name="TextBox 23">
            <a:extLst>
              <a:ext uri="{FF2B5EF4-FFF2-40B4-BE49-F238E27FC236}">
                <a16:creationId xmlns:a16="http://schemas.microsoft.com/office/drawing/2014/main" id="{5D6E9216-0201-0FFB-D2AE-BB21B0AE9B7C}"/>
              </a:ext>
            </a:extLst>
          </p:cNvPr>
          <p:cNvSpPr txBox="1"/>
          <p:nvPr/>
        </p:nvSpPr>
        <p:spPr>
          <a:xfrm>
            <a:off x="9654703" y="5878909"/>
            <a:ext cx="1978214" cy="369332"/>
          </a:xfrm>
          <a:prstGeom prst="rect">
            <a:avLst/>
          </a:prstGeom>
          <a:noFill/>
        </p:spPr>
        <p:txBody>
          <a:bodyPr wrap="square">
            <a:spAutoFit/>
          </a:bodyPr>
          <a:lstStyle/>
          <a:p>
            <a:r>
              <a:rPr lang="en-US" b="1" dirty="0">
                <a:solidFill>
                  <a:srgbClr val="0A0A0A"/>
                </a:solidFill>
                <a:latin typeface="Times New Roman" panose="02020603050405020304" pitchFamily="18" charset="0"/>
                <a:cs typeface="Times New Roman" panose="02020603050405020304" pitchFamily="18" charset="0"/>
              </a:rPr>
              <a:t>Global </a:t>
            </a:r>
            <a:r>
              <a:rPr lang="en-US" sz="1800" b="1" i="0" dirty="0">
                <a:solidFill>
                  <a:srgbClr val="0A0A0A"/>
                </a:solidFill>
                <a:effectLst/>
                <a:latin typeface="Times New Roman" panose="02020603050405020304" pitchFamily="18" charset="0"/>
                <a:cs typeface="Times New Roman" panose="02020603050405020304" pitchFamily="18" charset="0"/>
              </a:rPr>
              <a:t>Pg Table </a:t>
            </a:r>
            <a:endParaRPr lang="en-PK" b="1" dirty="0"/>
          </a:p>
        </p:txBody>
      </p:sp>
    </p:spTree>
    <p:extLst>
      <p:ext uri="{BB962C8B-B14F-4D97-AF65-F5344CB8AC3E}">
        <p14:creationId xmlns:p14="http://schemas.microsoft.com/office/powerpoint/2010/main" val="29152501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FD81F-5724-841F-429F-AF7B765133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7F645-F7DA-52E9-C784-0C032D48028F}"/>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Inverted page table architecture</a:t>
            </a:r>
          </a:p>
        </p:txBody>
      </p:sp>
      <p:pic>
        <p:nvPicPr>
          <p:cNvPr id="5" name="Picture 4">
            <a:extLst>
              <a:ext uri="{FF2B5EF4-FFF2-40B4-BE49-F238E27FC236}">
                <a16:creationId xmlns:a16="http://schemas.microsoft.com/office/drawing/2014/main" id="{734BFDA2-9FA9-C886-6B11-76EFF766F5C6}"/>
              </a:ext>
            </a:extLst>
          </p:cNvPr>
          <p:cNvPicPr>
            <a:picLocks noChangeAspect="1"/>
          </p:cNvPicPr>
          <p:nvPr/>
        </p:nvPicPr>
        <p:blipFill>
          <a:blip r:embed="rId3"/>
          <a:stretch>
            <a:fillRect/>
          </a:stretch>
        </p:blipFill>
        <p:spPr>
          <a:xfrm>
            <a:off x="2326425" y="942013"/>
            <a:ext cx="8772525" cy="5257800"/>
          </a:xfrm>
          <a:prstGeom prst="rect">
            <a:avLst/>
          </a:prstGeom>
        </p:spPr>
      </p:pic>
      <p:sp>
        <p:nvSpPr>
          <p:cNvPr id="7" name="TextBox 6">
            <a:extLst>
              <a:ext uri="{FF2B5EF4-FFF2-40B4-BE49-F238E27FC236}">
                <a16:creationId xmlns:a16="http://schemas.microsoft.com/office/drawing/2014/main" id="{4CD9B789-E7A8-90FD-8AC5-2A5EBB8435CB}"/>
              </a:ext>
            </a:extLst>
          </p:cNvPr>
          <p:cNvSpPr txBox="1"/>
          <p:nvPr/>
        </p:nvSpPr>
        <p:spPr>
          <a:xfrm>
            <a:off x="630865" y="6211669"/>
            <a:ext cx="10930270" cy="646331"/>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Disadvantage: </a:t>
            </a:r>
            <a:r>
              <a:rPr lang="en-US" dirty="0">
                <a:latin typeface="Times New Roman" panose="02020603050405020304" pitchFamily="18" charset="0"/>
                <a:cs typeface="Times New Roman" panose="02020603050405020304" pitchFamily="18" charset="0"/>
              </a:rPr>
              <a:t>Searching an inverted page table is slower and often requires hashing, which can increase access time compared to regular page tables.</a:t>
            </a:r>
            <a:endParaRPr lang="en-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33973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28C71-E920-01B7-A879-AD897EA884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8A675-34F6-D59A-35E4-79B7A5404F97}"/>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segmentation</a:t>
            </a:r>
          </a:p>
        </p:txBody>
      </p:sp>
      <p:sp>
        <p:nvSpPr>
          <p:cNvPr id="7" name="TextBox 6">
            <a:extLst>
              <a:ext uri="{FF2B5EF4-FFF2-40B4-BE49-F238E27FC236}">
                <a16:creationId xmlns:a16="http://schemas.microsoft.com/office/drawing/2014/main" id="{117B2E78-AEE9-371C-DDD7-0D4042C84539}"/>
              </a:ext>
            </a:extLst>
          </p:cNvPr>
          <p:cNvSpPr txBox="1"/>
          <p:nvPr/>
        </p:nvSpPr>
        <p:spPr>
          <a:xfrm>
            <a:off x="684029" y="1632843"/>
            <a:ext cx="5497031" cy="4154984"/>
          </a:xfrm>
          <a:prstGeom prst="rect">
            <a:avLst/>
          </a:prstGeom>
          <a:noFill/>
        </p:spPr>
        <p:txBody>
          <a:bodyPr wrap="square">
            <a:spAutoFit/>
          </a:bodyPr>
          <a:lstStyle/>
          <a:p>
            <a:pPr algn="ctr" fontAlgn="base"/>
            <a:r>
              <a:rPr lang="en-US" sz="2400" dirty="0">
                <a:latin typeface="Times New Roman" panose="02020603050405020304" pitchFamily="18" charset="0"/>
                <a:cs typeface="Times New Roman" panose="02020603050405020304" pitchFamily="18" charset="0"/>
              </a:rPr>
              <a:t>Segmentation is a </a:t>
            </a:r>
            <a:r>
              <a:rPr lang="en-US" sz="2400" b="1" dirty="0">
                <a:latin typeface="Times New Roman" panose="02020603050405020304" pitchFamily="18" charset="0"/>
                <a:cs typeface="Times New Roman" panose="02020603050405020304" pitchFamily="18" charset="0"/>
              </a:rPr>
              <a:t>memory management technique </a:t>
            </a:r>
            <a:r>
              <a:rPr lang="en-US" sz="2400" dirty="0">
                <a:latin typeface="Times New Roman" panose="02020603050405020304" pitchFamily="18" charset="0"/>
                <a:cs typeface="Times New Roman" panose="02020603050405020304" pitchFamily="18" charset="0"/>
              </a:rPr>
              <a:t>where a process is divided into variable-sized chunks called </a:t>
            </a:r>
            <a:r>
              <a:rPr lang="en-US" sz="2400" b="1" dirty="0">
                <a:latin typeface="Times New Roman" panose="02020603050405020304" pitchFamily="18" charset="0"/>
                <a:cs typeface="Times New Roman" panose="02020603050405020304" pitchFamily="18" charset="0"/>
              </a:rPr>
              <a:t>segments</a:t>
            </a:r>
            <a:r>
              <a:rPr lang="en-US" sz="2400" dirty="0">
                <a:latin typeface="Times New Roman" panose="02020603050405020304" pitchFamily="18" charset="0"/>
                <a:cs typeface="Times New Roman" panose="02020603050405020304" pitchFamily="18" charset="0"/>
              </a:rPr>
              <a:t>. Unlike paging, segmentation matches the user’s logical view of a program (functions, arrays, modules) to physical memory.</a:t>
            </a:r>
          </a:p>
          <a:p>
            <a:pPr algn="ctr" fontAlgn="base"/>
            <a:r>
              <a:rPr lang="en-US" sz="2400" dirty="0">
                <a:latin typeface="Times New Roman" panose="02020603050405020304" pitchFamily="18" charset="0"/>
                <a:cs typeface="Times New Roman" panose="02020603050405020304" pitchFamily="18" charset="0"/>
              </a:rPr>
              <a:t>It reflects </a:t>
            </a:r>
            <a:r>
              <a:rPr lang="en-US" sz="2400" b="1" dirty="0">
                <a:latin typeface="Times New Roman" panose="02020603050405020304" pitchFamily="18" charset="0"/>
                <a:cs typeface="Times New Roman" panose="02020603050405020304" pitchFamily="18" charset="0"/>
              </a:rPr>
              <a:t>the user’s view of memory </a:t>
            </a:r>
            <a:r>
              <a:rPr lang="en-US" sz="2400" dirty="0">
                <a:latin typeface="Times New Roman" panose="02020603050405020304" pitchFamily="18" charset="0"/>
                <a:cs typeface="Times New Roman" panose="02020603050405020304" pitchFamily="18" charset="0"/>
              </a:rPr>
              <a:t>rather than the computer’s physical organization, making it easier to manage and protect processes.</a:t>
            </a:r>
          </a:p>
        </p:txBody>
      </p:sp>
      <p:pic>
        <p:nvPicPr>
          <p:cNvPr id="4" name="Picture 3">
            <a:extLst>
              <a:ext uri="{FF2B5EF4-FFF2-40B4-BE49-F238E27FC236}">
                <a16:creationId xmlns:a16="http://schemas.microsoft.com/office/drawing/2014/main" id="{2DBEC376-E9AA-BB8C-83E9-D20694BC6BEA}"/>
              </a:ext>
            </a:extLst>
          </p:cNvPr>
          <p:cNvPicPr>
            <a:picLocks noChangeAspect="1"/>
          </p:cNvPicPr>
          <p:nvPr/>
        </p:nvPicPr>
        <p:blipFill>
          <a:blip r:embed="rId3"/>
          <a:stretch>
            <a:fillRect/>
          </a:stretch>
        </p:blipFill>
        <p:spPr>
          <a:xfrm>
            <a:off x="5847907" y="1491425"/>
            <a:ext cx="6344093" cy="5366575"/>
          </a:xfrm>
          <a:prstGeom prst="rect">
            <a:avLst/>
          </a:prstGeom>
        </p:spPr>
      </p:pic>
    </p:spTree>
    <p:extLst>
      <p:ext uri="{BB962C8B-B14F-4D97-AF65-F5344CB8AC3E}">
        <p14:creationId xmlns:p14="http://schemas.microsoft.com/office/powerpoint/2010/main" val="36617711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61F11-9F51-ED59-0809-264A43A52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C203A-4D46-39A6-B4ED-3A8CEC0F23A3}"/>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Logical view of segmentation</a:t>
            </a:r>
          </a:p>
        </p:txBody>
      </p:sp>
      <p:pic>
        <p:nvPicPr>
          <p:cNvPr id="5" name="Picture 4">
            <a:extLst>
              <a:ext uri="{FF2B5EF4-FFF2-40B4-BE49-F238E27FC236}">
                <a16:creationId xmlns:a16="http://schemas.microsoft.com/office/drawing/2014/main" id="{C089514A-3739-6474-ED0B-6075DBE5D4E8}"/>
              </a:ext>
            </a:extLst>
          </p:cNvPr>
          <p:cNvPicPr>
            <a:picLocks noChangeAspect="1"/>
          </p:cNvPicPr>
          <p:nvPr/>
        </p:nvPicPr>
        <p:blipFill>
          <a:blip r:embed="rId3"/>
          <a:stretch>
            <a:fillRect/>
          </a:stretch>
        </p:blipFill>
        <p:spPr>
          <a:xfrm>
            <a:off x="1332031" y="1170977"/>
            <a:ext cx="9908104" cy="5687023"/>
          </a:xfrm>
          <a:prstGeom prst="rect">
            <a:avLst/>
          </a:prstGeom>
        </p:spPr>
      </p:pic>
    </p:spTree>
    <p:extLst>
      <p:ext uri="{BB962C8B-B14F-4D97-AF65-F5344CB8AC3E}">
        <p14:creationId xmlns:p14="http://schemas.microsoft.com/office/powerpoint/2010/main" val="36736216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6F6D5-9417-B794-97F1-1BE86459FA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45BF5C-4F61-C175-EC76-9FA14586569F}"/>
              </a:ext>
            </a:extLst>
          </p:cNvPr>
          <p:cNvSpPr txBox="1">
            <a:spLocks/>
          </p:cNvSpPr>
          <p:nvPr/>
        </p:nvSpPr>
        <p:spPr>
          <a:xfrm>
            <a:off x="951865" y="368529"/>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Segmentation architecture</a:t>
            </a:r>
          </a:p>
        </p:txBody>
      </p:sp>
      <p:sp>
        <p:nvSpPr>
          <p:cNvPr id="4" name="TextBox 3">
            <a:extLst>
              <a:ext uri="{FF2B5EF4-FFF2-40B4-BE49-F238E27FC236}">
                <a16:creationId xmlns:a16="http://schemas.microsoft.com/office/drawing/2014/main" id="{95030B6A-801C-3471-7243-BC461BC66823}"/>
              </a:ext>
            </a:extLst>
          </p:cNvPr>
          <p:cNvSpPr txBox="1"/>
          <p:nvPr/>
        </p:nvSpPr>
        <p:spPr>
          <a:xfrm>
            <a:off x="1229833" y="1303071"/>
            <a:ext cx="10010302" cy="3980577"/>
          </a:xfrm>
          <a:prstGeom prst="rect">
            <a:avLst/>
          </a:prstGeom>
          <a:noFill/>
        </p:spPr>
        <p:txBody>
          <a:bodyPr wrap="square">
            <a:spAutoFit/>
          </a:bodyPr>
          <a:lstStyle/>
          <a:p>
            <a:pPr algn="l" rtl="0" fontAlgn="base">
              <a:spcAft>
                <a:spcPts val="750"/>
              </a:spcAft>
              <a:buNone/>
            </a:pPr>
            <a:r>
              <a:rPr lang="en-US" sz="2400" b="1" i="0" dirty="0">
                <a:solidFill>
                  <a:srgbClr val="273239"/>
                </a:solidFill>
                <a:effectLst/>
                <a:latin typeface="Times New Roman" panose="02020603050405020304" pitchFamily="18" charset="0"/>
                <a:cs typeface="Times New Roman" panose="02020603050405020304" pitchFamily="18" charset="0"/>
              </a:rPr>
              <a:t>1. Variable-sized divisions:</a:t>
            </a:r>
            <a:r>
              <a:rPr lang="en-US" sz="2400" b="0" i="0" dirty="0">
                <a:solidFill>
                  <a:srgbClr val="273239"/>
                </a:solidFill>
                <a:effectLst/>
                <a:latin typeface="Times New Roman" panose="02020603050405020304" pitchFamily="18" charset="0"/>
                <a:cs typeface="Times New Roman" panose="02020603050405020304" pitchFamily="18" charset="0"/>
              </a:rPr>
              <a:t> Segments can have different lengths, depending on the program’s requirements.</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1" i="0" dirty="0">
                <a:solidFill>
                  <a:srgbClr val="273239"/>
                </a:solidFill>
                <a:effectLst/>
                <a:latin typeface="Times New Roman" panose="02020603050405020304" pitchFamily="18" charset="0"/>
                <a:cs typeface="Times New Roman" panose="02020603050405020304" pitchFamily="18" charset="0"/>
              </a:rPr>
              <a:t>2. Logical division of memory:</a:t>
            </a:r>
            <a:r>
              <a:rPr lang="en-US" sz="2400" b="0" i="0" dirty="0">
                <a:solidFill>
                  <a:srgbClr val="273239"/>
                </a:solidFill>
                <a:effectLst/>
                <a:latin typeface="Times New Roman" panose="02020603050405020304" pitchFamily="18" charset="0"/>
                <a:cs typeface="Times New Roman" panose="02020603050405020304" pitchFamily="18" charset="0"/>
              </a:rPr>
              <a:t> Segments represent meaningful units like code, stack, data, or modules.</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1" i="0" dirty="0">
                <a:solidFill>
                  <a:srgbClr val="273239"/>
                </a:solidFill>
                <a:effectLst/>
                <a:latin typeface="Times New Roman" panose="02020603050405020304" pitchFamily="18" charset="0"/>
                <a:cs typeface="Times New Roman" panose="02020603050405020304" pitchFamily="18" charset="0"/>
              </a:rPr>
              <a:t>3. Two-part address:</a:t>
            </a:r>
            <a:r>
              <a:rPr lang="en-US" sz="2400" b="0" i="0" dirty="0">
                <a:solidFill>
                  <a:srgbClr val="273239"/>
                </a:solidFill>
                <a:effectLst/>
                <a:latin typeface="Times New Roman" panose="02020603050405020304" pitchFamily="18" charset="0"/>
                <a:cs typeface="Times New Roman" panose="02020603050405020304" pitchFamily="18" charset="0"/>
              </a:rPr>
              <a:t> A logical address consists of:</a:t>
            </a:r>
          </a:p>
          <a:p>
            <a:pPr marL="914400" lvl="1" indent="-457200" fontAlgn="base">
              <a:spcAft>
                <a:spcPts val="1800"/>
              </a:spcAft>
              <a:buFont typeface="+mj-lt"/>
              <a:buAutoNum type="arabicPeriod"/>
            </a:pPr>
            <a:r>
              <a:rPr lang="en-US" sz="2400" b="1" i="0" dirty="0">
                <a:solidFill>
                  <a:srgbClr val="273239"/>
                </a:solidFill>
                <a:effectLst/>
                <a:latin typeface="Times New Roman" panose="02020603050405020304" pitchFamily="18" charset="0"/>
                <a:cs typeface="Times New Roman" panose="02020603050405020304" pitchFamily="18" charset="0"/>
              </a:rPr>
              <a:t>Segment number (s): </a:t>
            </a:r>
            <a:r>
              <a:rPr lang="en-US" sz="2400" b="0" i="0" dirty="0">
                <a:solidFill>
                  <a:srgbClr val="273239"/>
                </a:solidFill>
                <a:effectLst/>
                <a:latin typeface="Times New Roman" panose="02020603050405020304" pitchFamily="18" charset="0"/>
                <a:cs typeface="Times New Roman" panose="02020603050405020304" pitchFamily="18" charset="0"/>
              </a:rPr>
              <a:t>Identifies which segment is being referred to.</a:t>
            </a:r>
          </a:p>
          <a:p>
            <a:pPr marL="914400" lvl="1" indent="-457200" fontAlgn="base">
              <a:spcAft>
                <a:spcPts val="1800"/>
              </a:spcAft>
              <a:buFont typeface="+mj-lt"/>
              <a:buAutoNum type="arabicPeriod"/>
            </a:pPr>
            <a:r>
              <a:rPr lang="en-US" sz="2400" b="1" i="0" dirty="0">
                <a:solidFill>
                  <a:srgbClr val="273239"/>
                </a:solidFill>
                <a:effectLst/>
                <a:latin typeface="Times New Roman" panose="02020603050405020304" pitchFamily="18" charset="0"/>
                <a:cs typeface="Times New Roman" panose="02020603050405020304" pitchFamily="18" charset="0"/>
              </a:rPr>
              <a:t>Offset (d): </a:t>
            </a:r>
            <a:r>
              <a:rPr lang="en-US" sz="2400" b="0" i="0" dirty="0">
                <a:solidFill>
                  <a:srgbClr val="273239"/>
                </a:solidFill>
                <a:effectLst/>
                <a:latin typeface="Times New Roman" panose="02020603050405020304" pitchFamily="18" charset="0"/>
                <a:cs typeface="Times New Roman" panose="02020603050405020304" pitchFamily="18" charset="0"/>
              </a:rPr>
              <a:t>Specifies the exact location within that segment.</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Logical Address = ⟨Segment number, Offset⟩</a:t>
            </a:r>
          </a:p>
          <a:p>
            <a:pPr lvl="1" fontAlgn="base">
              <a:spcAft>
                <a:spcPts val="1800"/>
              </a:spcAft>
            </a:pPr>
            <a:r>
              <a:rPr lang="en-US" sz="2400" dirty="0">
                <a:solidFill>
                  <a:srgbClr val="273239"/>
                </a:solidFill>
                <a:latin typeface="Times New Roman" panose="02020603050405020304" pitchFamily="18" charset="0"/>
                <a:cs typeface="Times New Roman" panose="02020603050405020304" pitchFamily="18" charset="0"/>
              </a:rPr>
              <a:t>                              </a:t>
            </a:r>
            <a:r>
              <a:rPr lang="en-US" sz="2400" b="1" dirty="0">
                <a:solidFill>
                  <a:srgbClr val="273239"/>
                </a:solidFill>
                <a:latin typeface="Times New Roman" panose="02020603050405020304" pitchFamily="18" charset="0"/>
                <a:cs typeface="Times New Roman" panose="02020603050405020304" pitchFamily="18" charset="0"/>
              </a:rPr>
              <a:t>Segment No.    Segment Offset</a:t>
            </a:r>
            <a:endParaRPr lang="en-US" sz="2400" b="1" i="0" dirty="0">
              <a:solidFill>
                <a:srgbClr val="273239"/>
              </a:solidFill>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EFE53330-4419-9A2F-BFF8-30EFA614DE66}"/>
              </a:ext>
            </a:extLst>
          </p:cNvPr>
          <p:cNvGraphicFramePr>
            <a:graphicFrameLocks noGrp="1"/>
          </p:cNvGraphicFramePr>
          <p:nvPr>
            <p:extLst>
              <p:ext uri="{D42A27DB-BD31-4B8C-83A1-F6EECF244321}">
                <p14:modId xmlns:p14="http://schemas.microsoft.com/office/powerpoint/2010/main" val="2987001857"/>
              </p:ext>
            </p:extLst>
          </p:nvPr>
        </p:nvGraphicFramePr>
        <p:xfrm>
          <a:off x="4061635" y="5283648"/>
          <a:ext cx="3615072" cy="845895"/>
        </p:xfrm>
        <a:graphic>
          <a:graphicData uri="http://schemas.openxmlformats.org/drawingml/2006/table">
            <a:tbl>
              <a:tblPr firstRow="1" bandRow="1">
                <a:tableStyleId>{5940675A-B579-460E-94D1-54222C63F5DA}</a:tableStyleId>
              </a:tblPr>
              <a:tblGrid>
                <a:gridCol w="1807536">
                  <a:extLst>
                    <a:ext uri="{9D8B030D-6E8A-4147-A177-3AD203B41FA5}">
                      <a16:colId xmlns:a16="http://schemas.microsoft.com/office/drawing/2014/main" val="2268864181"/>
                    </a:ext>
                  </a:extLst>
                </a:gridCol>
                <a:gridCol w="1807536">
                  <a:extLst>
                    <a:ext uri="{9D8B030D-6E8A-4147-A177-3AD203B41FA5}">
                      <a16:colId xmlns:a16="http://schemas.microsoft.com/office/drawing/2014/main" val="555030124"/>
                    </a:ext>
                  </a:extLst>
                </a:gridCol>
              </a:tblGrid>
              <a:tr h="845895">
                <a:tc>
                  <a:txBody>
                    <a:bodyPr/>
                    <a:lstStyle/>
                    <a:p>
                      <a:pPr algn="ctr"/>
                      <a:r>
                        <a:rPr lang="en-US" sz="2800" dirty="0">
                          <a:solidFill>
                            <a:schemeClr val="tx1"/>
                          </a:solidFill>
                          <a:latin typeface="Times New Roman" panose="02020603050405020304" pitchFamily="18" charset="0"/>
                          <a:cs typeface="Times New Roman" panose="02020603050405020304" pitchFamily="18" charset="0"/>
                        </a:rPr>
                        <a:t>s</a:t>
                      </a:r>
                      <a:endParaRPr lang="en-PK" sz="2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algn="ctr" defTabSz="914400" rtl="0" eaLnBrk="1" latinLnBrk="0" hangingPunct="1"/>
                      <a:r>
                        <a:rPr lang="en-US" sz="2800" kern="1200" dirty="0">
                          <a:solidFill>
                            <a:schemeClr val="tx1"/>
                          </a:solidFill>
                          <a:latin typeface="Times New Roman" panose="02020603050405020304" pitchFamily="18" charset="0"/>
                          <a:ea typeface="+mn-ea"/>
                          <a:cs typeface="Times New Roman" panose="02020603050405020304" pitchFamily="18" charset="0"/>
                        </a:rPr>
                        <a:t>d </a:t>
                      </a:r>
                    </a:p>
                    <a:p>
                      <a:endParaRPr lang="en-PK" dirty="0">
                        <a:solidFill>
                          <a:schemeClr val="tx1"/>
                        </a:solidFill>
                      </a:endParaRPr>
                    </a:p>
                  </a:txBody>
                  <a:tcPr/>
                </a:tc>
                <a:extLst>
                  <a:ext uri="{0D108BD9-81ED-4DB2-BD59-A6C34878D82A}">
                    <a16:rowId xmlns:a16="http://schemas.microsoft.com/office/drawing/2014/main" val="2658413834"/>
                  </a:ext>
                </a:extLst>
              </a:tr>
            </a:tbl>
          </a:graphicData>
        </a:graphic>
      </p:graphicFrame>
    </p:spTree>
    <p:extLst>
      <p:ext uri="{BB962C8B-B14F-4D97-AF65-F5344CB8AC3E}">
        <p14:creationId xmlns:p14="http://schemas.microsoft.com/office/powerpoint/2010/main" val="4347197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4F59D-A86D-FE58-8DE7-645D8FD40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9C648C-4BF0-BB2C-FC0A-EC2FCF9C6C3C}"/>
              </a:ext>
            </a:extLst>
          </p:cNvPr>
          <p:cNvSpPr txBox="1">
            <a:spLocks/>
          </p:cNvSpPr>
          <p:nvPr/>
        </p:nvSpPr>
        <p:spPr>
          <a:xfrm>
            <a:off x="951865" y="218851"/>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Segment table</a:t>
            </a:r>
          </a:p>
        </p:txBody>
      </p:sp>
      <p:sp>
        <p:nvSpPr>
          <p:cNvPr id="4" name="TextBox 3">
            <a:extLst>
              <a:ext uri="{FF2B5EF4-FFF2-40B4-BE49-F238E27FC236}">
                <a16:creationId xmlns:a16="http://schemas.microsoft.com/office/drawing/2014/main" id="{92A80CBA-65C0-1B3E-FE72-42C78FC125FF}"/>
              </a:ext>
            </a:extLst>
          </p:cNvPr>
          <p:cNvSpPr txBox="1"/>
          <p:nvPr/>
        </p:nvSpPr>
        <p:spPr>
          <a:xfrm>
            <a:off x="864021" y="729080"/>
            <a:ext cx="10612814" cy="1323439"/>
          </a:xfrm>
          <a:prstGeom prst="rect">
            <a:avLst/>
          </a:prstGeom>
          <a:noFill/>
        </p:spPr>
        <p:txBody>
          <a:bodyPr wrap="square">
            <a:spAutoFit/>
          </a:bodyPr>
          <a:lstStyle/>
          <a:p>
            <a:pPr marL="285750" indent="-285750" algn="just"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maps a two-dimensional Logical address into a one-dimensional Physical address. It's each table entry has:</a:t>
            </a:r>
          </a:p>
          <a:p>
            <a:pPr marL="285750" indent="-285750" algn="just" fontAlgn="base">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Base Address:</a:t>
            </a:r>
            <a:r>
              <a:rPr lang="en-US" sz="2000" dirty="0">
                <a:latin typeface="Times New Roman" panose="02020603050405020304" pitchFamily="18" charset="0"/>
                <a:cs typeface="Times New Roman" panose="02020603050405020304" pitchFamily="18" charset="0"/>
              </a:rPr>
              <a:t> It contains the starting physical address where the segments reside in memory.</a:t>
            </a:r>
          </a:p>
          <a:p>
            <a:pPr marL="285750" indent="-285750" algn="just" fontAlgn="base">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Segment Limit:</a:t>
            </a:r>
            <a:r>
              <a:rPr lang="en-US" sz="2000" dirty="0">
                <a:latin typeface="Times New Roman" panose="02020603050405020304" pitchFamily="18" charset="0"/>
                <a:cs typeface="Times New Roman" panose="02020603050405020304" pitchFamily="18" charset="0"/>
              </a:rPr>
              <a:t> Also known as segment offset. It specifies the length of the segment.</a:t>
            </a:r>
          </a:p>
        </p:txBody>
      </p:sp>
      <p:pic>
        <p:nvPicPr>
          <p:cNvPr id="5" name="Picture 4">
            <a:extLst>
              <a:ext uri="{FF2B5EF4-FFF2-40B4-BE49-F238E27FC236}">
                <a16:creationId xmlns:a16="http://schemas.microsoft.com/office/drawing/2014/main" id="{B5B90DBE-3A50-D271-43D9-11A333743A3B}"/>
              </a:ext>
            </a:extLst>
          </p:cNvPr>
          <p:cNvPicPr>
            <a:picLocks noChangeAspect="1"/>
          </p:cNvPicPr>
          <p:nvPr/>
        </p:nvPicPr>
        <p:blipFill>
          <a:blip r:embed="rId3"/>
          <a:stretch>
            <a:fillRect/>
          </a:stretch>
        </p:blipFill>
        <p:spPr>
          <a:xfrm>
            <a:off x="1544489" y="2052519"/>
            <a:ext cx="9528896" cy="4805481"/>
          </a:xfrm>
          <a:prstGeom prst="rect">
            <a:avLst/>
          </a:prstGeom>
        </p:spPr>
      </p:pic>
    </p:spTree>
    <p:extLst>
      <p:ext uri="{BB962C8B-B14F-4D97-AF65-F5344CB8AC3E}">
        <p14:creationId xmlns:p14="http://schemas.microsoft.com/office/powerpoint/2010/main" val="11757637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A651C-8542-BD58-885A-2FC56F193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AD53A6-6428-8593-1B9E-9E4833E73A19}"/>
              </a:ext>
            </a:extLst>
          </p:cNvPr>
          <p:cNvSpPr txBox="1">
            <a:spLocks/>
          </p:cNvSpPr>
          <p:nvPr/>
        </p:nvSpPr>
        <p:spPr>
          <a:xfrm>
            <a:off x="951865" y="218851"/>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Segmentation hardware</a:t>
            </a:r>
          </a:p>
        </p:txBody>
      </p:sp>
      <p:pic>
        <p:nvPicPr>
          <p:cNvPr id="6" name="Picture 5">
            <a:extLst>
              <a:ext uri="{FF2B5EF4-FFF2-40B4-BE49-F238E27FC236}">
                <a16:creationId xmlns:a16="http://schemas.microsoft.com/office/drawing/2014/main" id="{6E311B5B-E8EB-AB44-2F0B-3DAA3418C756}"/>
              </a:ext>
            </a:extLst>
          </p:cNvPr>
          <p:cNvPicPr>
            <a:picLocks noChangeAspect="1"/>
          </p:cNvPicPr>
          <p:nvPr/>
        </p:nvPicPr>
        <p:blipFill>
          <a:blip r:embed="rId3"/>
          <a:stretch>
            <a:fillRect/>
          </a:stretch>
        </p:blipFill>
        <p:spPr>
          <a:xfrm>
            <a:off x="1624012" y="890587"/>
            <a:ext cx="8943975" cy="5076825"/>
          </a:xfrm>
          <a:prstGeom prst="rect">
            <a:avLst/>
          </a:prstGeom>
        </p:spPr>
      </p:pic>
      <p:sp>
        <p:nvSpPr>
          <p:cNvPr id="8" name="TextBox 7">
            <a:extLst>
              <a:ext uri="{FF2B5EF4-FFF2-40B4-BE49-F238E27FC236}">
                <a16:creationId xmlns:a16="http://schemas.microsoft.com/office/drawing/2014/main" id="{D651A9F8-0186-16C2-AA3F-7D8FD296B81C}"/>
              </a:ext>
            </a:extLst>
          </p:cNvPr>
          <p:cNvSpPr txBox="1"/>
          <p:nvPr/>
        </p:nvSpPr>
        <p:spPr>
          <a:xfrm>
            <a:off x="1868672" y="6221970"/>
            <a:ext cx="9143114" cy="369332"/>
          </a:xfrm>
          <a:prstGeom prst="rect">
            <a:avLst/>
          </a:prstGeom>
          <a:noFill/>
        </p:spPr>
        <p:txBody>
          <a:bodyPr wrap="square">
            <a:spAutoFit/>
          </a:bodyPr>
          <a:lstStyle/>
          <a:p>
            <a:r>
              <a:rPr lang="en-US" b="0" i="0" dirty="0">
                <a:solidFill>
                  <a:srgbClr val="273239"/>
                </a:solidFill>
                <a:effectLst/>
                <a:latin typeface="Times New Roman" panose="02020603050405020304" pitchFamily="18" charset="0"/>
                <a:cs typeface="Times New Roman" panose="02020603050405020304" pitchFamily="18" charset="0"/>
              </a:rPr>
              <a:t>Translation of Two-dimensional Logical Address to Dimensional Physical Address.</a:t>
            </a:r>
            <a:endParaRPr lang="en-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75066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4E41F-3C1C-D83F-EA5D-55103BDA3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2EFAF5-3126-13BC-97EB-C2375FF94823}"/>
              </a:ext>
            </a:extLst>
          </p:cNvPr>
          <p:cNvSpPr txBox="1">
            <a:spLocks/>
          </p:cNvSpPr>
          <p:nvPr/>
        </p:nvSpPr>
        <p:spPr>
          <a:xfrm>
            <a:off x="1058190" y="325176"/>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Paging vs Segmentation </a:t>
            </a:r>
          </a:p>
        </p:txBody>
      </p:sp>
      <p:graphicFrame>
        <p:nvGraphicFramePr>
          <p:cNvPr id="3" name="Table 2">
            <a:extLst>
              <a:ext uri="{FF2B5EF4-FFF2-40B4-BE49-F238E27FC236}">
                <a16:creationId xmlns:a16="http://schemas.microsoft.com/office/drawing/2014/main" id="{B50FC172-E60A-8777-C11E-29A215056C4D}"/>
              </a:ext>
            </a:extLst>
          </p:cNvPr>
          <p:cNvGraphicFramePr>
            <a:graphicFrameLocks noGrp="1"/>
          </p:cNvGraphicFramePr>
          <p:nvPr>
            <p:extLst>
              <p:ext uri="{D42A27DB-BD31-4B8C-83A1-F6EECF244321}">
                <p14:modId xmlns:p14="http://schemas.microsoft.com/office/powerpoint/2010/main" val="2287824354"/>
              </p:ext>
            </p:extLst>
          </p:nvPr>
        </p:nvGraphicFramePr>
        <p:xfrm>
          <a:off x="616688" y="1091184"/>
          <a:ext cx="10958623" cy="5030922"/>
        </p:xfrm>
        <a:graphic>
          <a:graphicData uri="http://schemas.openxmlformats.org/drawingml/2006/table">
            <a:tbl>
              <a:tblPr>
                <a:tableStyleId>{5940675A-B579-460E-94D1-54222C63F5DA}</a:tableStyleId>
              </a:tblPr>
              <a:tblGrid>
                <a:gridCol w="2829732">
                  <a:extLst>
                    <a:ext uri="{9D8B030D-6E8A-4147-A177-3AD203B41FA5}">
                      <a16:colId xmlns:a16="http://schemas.microsoft.com/office/drawing/2014/main" val="3523287336"/>
                    </a:ext>
                  </a:extLst>
                </a:gridCol>
                <a:gridCol w="4077886">
                  <a:extLst>
                    <a:ext uri="{9D8B030D-6E8A-4147-A177-3AD203B41FA5}">
                      <a16:colId xmlns:a16="http://schemas.microsoft.com/office/drawing/2014/main" val="1276808624"/>
                    </a:ext>
                  </a:extLst>
                </a:gridCol>
                <a:gridCol w="4051005">
                  <a:extLst>
                    <a:ext uri="{9D8B030D-6E8A-4147-A177-3AD203B41FA5}">
                      <a16:colId xmlns:a16="http://schemas.microsoft.com/office/drawing/2014/main" val="2919633647"/>
                    </a:ext>
                  </a:extLst>
                </a:gridCol>
              </a:tblGrid>
              <a:tr h="274664">
                <a:tc>
                  <a:txBody>
                    <a:bodyPr/>
                    <a:lstStyle/>
                    <a:p>
                      <a:pPr algn="ctr">
                        <a:buNone/>
                      </a:pPr>
                      <a:r>
                        <a:rPr lang="en-US" sz="2000" b="1" dirty="0">
                          <a:latin typeface="Times New Roman" panose="02020603050405020304" pitchFamily="18" charset="0"/>
                          <a:cs typeface="Times New Roman" panose="02020603050405020304" pitchFamily="18" charset="0"/>
                        </a:rPr>
                        <a:t>Feature</a:t>
                      </a:r>
                    </a:p>
                  </a:txBody>
                  <a:tcPr marL="68666" marR="68666" marT="34333" marB="34333" anchor="ctr"/>
                </a:tc>
                <a:tc>
                  <a:txBody>
                    <a:bodyPr/>
                    <a:lstStyle/>
                    <a:p>
                      <a:pPr algn="ctr">
                        <a:buNone/>
                      </a:pPr>
                      <a:r>
                        <a:rPr lang="en-US" sz="2000" b="1">
                          <a:latin typeface="Times New Roman" panose="02020603050405020304" pitchFamily="18" charset="0"/>
                          <a:cs typeface="Times New Roman" panose="02020603050405020304" pitchFamily="18" charset="0"/>
                        </a:rPr>
                        <a:t>Segmentation</a:t>
                      </a:r>
                    </a:p>
                  </a:txBody>
                  <a:tcPr marL="68666" marR="68666" marT="34333" marB="34333" anchor="ctr"/>
                </a:tc>
                <a:tc>
                  <a:txBody>
                    <a:bodyPr/>
                    <a:lstStyle/>
                    <a:p>
                      <a:pPr algn="ctr">
                        <a:buNone/>
                      </a:pPr>
                      <a:r>
                        <a:rPr lang="en-US" sz="2000" b="1" dirty="0">
                          <a:latin typeface="Times New Roman" panose="02020603050405020304" pitchFamily="18" charset="0"/>
                          <a:cs typeface="Times New Roman" panose="02020603050405020304" pitchFamily="18" charset="0"/>
                        </a:rPr>
                        <a:t>Paging</a:t>
                      </a:r>
                    </a:p>
                  </a:txBody>
                  <a:tcPr marL="68666" marR="68666" marT="34333" marB="34333" anchor="ctr"/>
                </a:tc>
                <a:extLst>
                  <a:ext uri="{0D108BD9-81ED-4DB2-BD59-A6C34878D82A}">
                    <a16:rowId xmlns:a16="http://schemas.microsoft.com/office/drawing/2014/main" val="2559359740"/>
                  </a:ext>
                </a:extLst>
              </a:tr>
              <a:tr h="892659">
                <a:tc>
                  <a:txBody>
                    <a:bodyPr/>
                    <a:lstStyle/>
                    <a:p>
                      <a:pPr algn="l">
                        <a:buNone/>
                      </a:pPr>
                      <a:r>
                        <a:rPr lang="en-US" sz="2000" b="1" dirty="0">
                          <a:latin typeface="Times New Roman" panose="02020603050405020304" pitchFamily="18" charset="0"/>
                          <a:cs typeface="Times New Roman" panose="02020603050405020304" pitchFamily="18" charset="0"/>
                        </a:rPr>
                        <a:t>Division</a:t>
                      </a:r>
                      <a:endParaRPr lang="en-US" sz="2000" dirty="0">
                        <a:latin typeface="Times New Roman" panose="02020603050405020304" pitchFamily="18" charset="0"/>
                        <a:cs typeface="Times New Roman" panose="02020603050405020304" pitchFamily="18" charset="0"/>
                      </a:endParaRPr>
                    </a:p>
                  </a:txBody>
                  <a:tcPr marL="68666" marR="68666" marT="34333" marB="34333" anchor="ctr"/>
                </a:tc>
                <a:tc>
                  <a:txBody>
                    <a:bodyPr/>
                    <a:lstStyle/>
                    <a:p>
                      <a:pPr algn="ctr">
                        <a:buNone/>
                      </a:pPr>
                      <a:r>
                        <a:rPr lang="en-US" sz="2000">
                          <a:latin typeface="Times New Roman" panose="02020603050405020304" pitchFamily="18" charset="0"/>
                          <a:cs typeface="Times New Roman" panose="02020603050405020304" pitchFamily="18" charset="0"/>
                        </a:rPr>
                        <a:t>Divides memory into </a:t>
                      </a:r>
                      <a:r>
                        <a:rPr lang="en-US" sz="2000" b="1">
                          <a:latin typeface="Times New Roman" panose="02020603050405020304" pitchFamily="18" charset="0"/>
                          <a:cs typeface="Times New Roman" panose="02020603050405020304" pitchFamily="18" charset="0"/>
                        </a:rPr>
                        <a:t>variable-sized segments</a:t>
                      </a:r>
                      <a:r>
                        <a:rPr lang="en-US" sz="2000">
                          <a:latin typeface="Times New Roman" panose="02020603050405020304" pitchFamily="18" charset="0"/>
                          <a:cs typeface="Times New Roman" panose="02020603050405020304" pitchFamily="18" charset="0"/>
                        </a:rPr>
                        <a:t> (logical units: code, data, stack)</a:t>
                      </a:r>
                    </a:p>
                  </a:txBody>
                  <a:tcPr marL="68666" marR="68666" marT="34333" marB="34333" anchor="ctr"/>
                </a:tc>
                <a:tc>
                  <a:txBody>
                    <a:bodyPr/>
                    <a:lstStyle/>
                    <a:p>
                      <a:pPr algn="ctr">
                        <a:buNone/>
                      </a:pPr>
                      <a:r>
                        <a:rPr lang="en-US" sz="2000" dirty="0">
                          <a:latin typeface="Times New Roman" panose="02020603050405020304" pitchFamily="18" charset="0"/>
                          <a:cs typeface="Times New Roman" panose="02020603050405020304" pitchFamily="18" charset="0"/>
                        </a:rPr>
                        <a:t>Divides memory into </a:t>
                      </a:r>
                      <a:r>
                        <a:rPr lang="en-US" sz="2000" b="1" dirty="0">
                          <a:latin typeface="Times New Roman" panose="02020603050405020304" pitchFamily="18" charset="0"/>
                          <a:cs typeface="Times New Roman" panose="02020603050405020304" pitchFamily="18" charset="0"/>
                        </a:rPr>
                        <a:t>fixed-size pages</a:t>
                      </a:r>
                      <a:endParaRPr lang="en-US" sz="2000" dirty="0">
                        <a:latin typeface="Times New Roman" panose="02020603050405020304" pitchFamily="18" charset="0"/>
                        <a:cs typeface="Times New Roman" panose="02020603050405020304" pitchFamily="18" charset="0"/>
                      </a:endParaRPr>
                    </a:p>
                  </a:txBody>
                  <a:tcPr marL="68666" marR="68666" marT="34333" marB="34333" anchor="ctr"/>
                </a:tc>
                <a:extLst>
                  <a:ext uri="{0D108BD9-81ED-4DB2-BD59-A6C34878D82A}">
                    <a16:rowId xmlns:a16="http://schemas.microsoft.com/office/drawing/2014/main" val="1267102592"/>
                  </a:ext>
                </a:extLst>
              </a:tr>
              <a:tr h="480663">
                <a:tc>
                  <a:txBody>
                    <a:bodyPr/>
                    <a:lstStyle/>
                    <a:p>
                      <a:pPr algn="l">
                        <a:buNone/>
                      </a:pPr>
                      <a:r>
                        <a:rPr lang="en-US" sz="2000" b="1">
                          <a:latin typeface="Times New Roman" panose="02020603050405020304" pitchFamily="18" charset="0"/>
                          <a:cs typeface="Times New Roman" panose="02020603050405020304" pitchFamily="18" charset="0"/>
                        </a:rPr>
                        <a:t>Size</a:t>
                      </a:r>
                      <a:endParaRPr lang="en-US" sz="2000">
                        <a:latin typeface="Times New Roman" panose="02020603050405020304" pitchFamily="18" charset="0"/>
                        <a:cs typeface="Times New Roman" panose="02020603050405020304" pitchFamily="18" charset="0"/>
                      </a:endParaRPr>
                    </a:p>
                  </a:txBody>
                  <a:tcPr marL="68666" marR="68666" marT="34333" marB="34333" anchor="ctr"/>
                </a:tc>
                <a:tc>
                  <a:txBody>
                    <a:bodyPr/>
                    <a:lstStyle/>
                    <a:p>
                      <a:pPr algn="ctr">
                        <a:buNone/>
                      </a:pPr>
                      <a:r>
                        <a:rPr lang="en-US" sz="2000">
                          <a:latin typeface="Times New Roman" panose="02020603050405020304" pitchFamily="18" charset="0"/>
                          <a:cs typeface="Times New Roman" panose="02020603050405020304" pitchFamily="18" charset="0"/>
                        </a:rPr>
                        <a:t>Segments can be </a:t>
                      </a:r>
                      <a:r>
                        <a:rPr lang="en-US" sz="2000" b="1">
                          <a:latin typeface="Times New Roman" panose="02020603050405020304" pitchFamily="18" charset="0"/>
                          <a:cs typeface="Times New Roman" panose="02020603050405020304" pitchFamily="18" charset="0"/>
                        </a:rPr>
                        <a:t>different sizes</a:t>
                      </a:r>
                      <a:endParaRPr lang="en-US" sz="2000">
                        <a:latin typeface="Times New Roman" panose="02020603050405020304" pitchFamily="18" charset="0"/>
                        <a:cs typeface="Times New Roman" panose="02020603050405020304" pitchFamily="18" charset="0"/>
                      </a:endParaRPr>
                    </a:p>
                  </a:txBody>
                  <a:tcPr marL="68666" marR="68666" marT="34333" marB="34333" anchor="ctr"/>
                </a:tc>
                <a:tc>
                  <a:txBody>
                    <a:bodyPr/>
                    <a:lstStyle/>
                    <a:p>
                      <a:pPr algn="ctr">
                        <a:buNone/>
                      </a:pPr>
                      <a:r>
                        <a:rPr lang="en-US" sz="2000">
                          <a:latin typeface="Times New Roman" panose="02020603050405020304" pitchFamily="18" charset="0"/>
                          <a:cs typeface="Times New Roman" panose="02020603050405020304" pitchFamily="18" charset="0"/>
                        </a:rPr>
                        <a:t>Pages are </a:t>
                      </a:r>
                      <a:r>
                        <a:rPr lang="en-US" sz="2000" b="1">
                          <a:latin typeface="Times New Roman" panose="02020603050405020304" pitchFamily="18" charset="0"/>
                          <a:cs typeface="Times New Roman" panose="02020603050405020304" pitchFamily="18" charset="0"/>
                        </a:rPr>
                        <a:t>equal size</a:t>
                      </a:r>
                      <a:endParaRPr lang="en-US" sz="2000">
                        <a:latin typeface="Times New Roman" panose="02020603050405020304" pitchFamily="18" charset="0"/>
                        <a:cs typeface="Times New Roman" panose="02020603050405020304" pitchFamily="18" charset="0"/>
                      </a:endParaRPr>
                    </a:p>
                  </a:txBody>
                  <a:tcPr marL="68666" marR="68666" marT="34333" marB="34333" anchor="ctr"/>
                </a:tc>
                <a:extLst>
                  <a:ext uri="{0D108BD9-81ED-4DB2-BD59-A6C34878D82A}">
                    <a16:rowId xmlns:a16="http://schemas.microsoft.com/office/drawing/2014/main" val="4003859561"/>
                  </a:ext>
                </a:extLst>
              </a:tr>
              <a:tr h="480663">
                <a:tc>
                  <a:txBody>
                    <a:bodyPr/>
                    <a:lstStyle/>
                    <a:p>
                      <a:pPr algn="l">
                        <a:buNone/>
                      </a:pPr>
                      <a:r>
                        <a:rPr lang="en-US" sz="2000" b="1">
                          <a:latin typeface="Times New Roman" panose="02020603050405020304" pitchFamily="18" charset="0"/>
                          <a:cs typeface="Times New Roman" panose="02020603050405020304" pitchFamily="18" charset="0"/>
                        </a:rPr>
                        <a:t>Addressing</a:t>
                      </a:r>
                      <a:endParaRPr lang="en-US" sz="2000">
                        <a:latin typeface="Times New Roman" panose="02020603050405020304" pitchFamily="18" charset="0"/>
                        <a:cs typeface="Times New Roman" panose="02020603050405020304" pitchFamily="18" charset="0"/>
                      </a:endParaRPr>
                    </a:p>
                  </a:txBody>
                  <a:tcPr marL="68666" marR="68666" marT="34333" marB="34333" anchor="ctr"/>
                </a:tc>
                <a:tc>
                  <a:txBody>
                    <a:bodyPr/>
                    <a:lstStyle/>
                    <a:p>
                      <a:pPr algn="ctr">
                        <a:buNone/>
                      </a:pPr>
                      <a:r>
                        <a:rPr lang="en-US" sz="2000">
                          <a:latin typeface="Times New Roman" panose="02020603050405020304" pitchFamily="18" charset="0"/>
                          <a:cs typeface="Times New Roman" panose="02020603050405020304" pitchFamily="18" charset="0"/>
                        </a:rPr>
                        <a:t>Logical address = </a:t>
                      </a:r>
                      <a:r>
                        <a:rPr lang="en-US" sz="2000" b="1">
                          <a:latin typeface="Times New Roman" panose="02020603050405020304" pitchFamily="18" charset="0"/>
                          <a:cs typeface="Times New Roman" panose="02020603050405020304" pitchFamily="18" charset="0"/>
                        </a:rPr>
                        <a:t>segment number + offset</a:t>
                      </a:r>
                      <a:endParaRPr lang="en-US" sz="2000">
                        <a:latin typeface="Times New Roman" panose="02020603050405020304" pitchFamily="18" charset="0"/>
                        <a:cs typeface="Times New Roman" panose="02020603050405020304" pitchFamily="18" charset="0"/>
                      </a:endParaRPr>
                    </a:p>
                  </a:txBody>
                  <a:tcPr marL="68666" marR="68666" marT="34333" marB="34333" anchor="ctr"/>
                </a:tc>
                <a:tc>
                  <a:txBody>
                    <a:bodyPr/>
                    <a:lstStyle/>
                    <a:p>
                      <a:pPr algn="ctr">
                        <a:buNone/>
                      </a:pPr>
                      <a:r>
                        <a:rPr lang="en-US" sz="2000">
                          <a:latin typeface="Times New Roman" panose="02020603050405020304" pitchFamily="18" charset="0"/>
                          <a:cs typeface="Times New Roman" panose="02020603050405020304" pitchFamily="18" charset="0"/>
                        </a:rPr>
                        <a:t>Logical address = </a:t>
                      </a:r>
                      <a:r>
                        <a:rPr lang="en-US" sz="2000" b="1">
                          <a:latin typeface="Times New Roman" panose="02020603050405020304" pitchFamily="18" charset="0"/>
                          <a:cs typeface="Times New Roman" panose="02020603050405020304" pitchFamily="18" charset="0"/>
                        </a:rPr>
                        <a:t>page number + offset</a:t>
                      </a:r>
                      <a:endParaRPr lang="en-US" sz="2000">
                        <a:latin typeface="Times New Roman" panose="02020603050405020304" pitchFamily="18" charset="0"/>
                        <a:cs typeface="Times New Roman" panose="02020603050405020304" pitchFamily="18" charset="0"/>
                      </a:endParaRPr>
                    </a:p>
                  </a:txBody>
                  <a:tcPr marL="68666" marR="68666" marT="34333" marB="34333" anchor="ctr"/>
                </a:tc>
                <a:extLst>
                  <a:ext uri="{0D108BD9-81ED-4DB2-BD59-A6C34878D82A}">
                    <a16:rowId xmlns:a16="http://schemas.microsoft.com/office/drawing/2014/main" val="129770961"/>
                  </a:ext>
                </a:extLst>
              </a:tr>
              <a:tr h="480663">
                <a:tc>
                  <a:txBody>
                    <a:bodyPr/>
                    <a:lstStyle/>
                    <a:p>
                      <a:pPr algn="l">
                        <a:buNone/>
                      </a:pPr>
                      <a:r>
                        <a:rPr lang="en-US" sz="2000" b="1">
                          <a:latin typeface="Times New Roman" panose="02020603050405020304" pitchFamily="18" charset="0"/>
                          <a:cs typeface="Times New Roman" panose="02020603050405020304" pitchFamily="18" charset="0"/>
                        </a:rPr>
                        <a:t>External Fragmentation</a:t>
                      </a:r>
                      <a:endParaRPr lang="en-US" sz="2000">
                        <a:latin typeface="Times New Roman" panose="02020603050405020304" pitchFamily="18" charset="0"/>
                        <a:cs typeface="Times New Roman" panose="02020603050405020304" pitchFamily="18" charset="0"/>
                      </a:endParaRPr>
                    </a:p>
                  </a:txBody>
                  <a:tcPr marL="68666" marR="68666" marT="34333" marB="34333" anchor="ctr"/>
                </a:tc>
                <a:tc>
                  <a:txBody>
                    <a:bodyPr/>
                    <a:lstStyle/>
                    <a:p>
                      <a:pPr algn="ctr">
                        <a:buNone/>
                      </a:pPr>
                      <a:r>
                        <a:rPr lang="en-US" sz="2000">
                          <a:latin typeface="Times New Roman" panose="02020603050405020304" pitchFamily="18" charset="0"/>
                          <a:cs typeface="Times New Roman" panose="02020603050405020304" pitchFamily="18" charset="0"/>
                        </a:rPr>
                        <a:t>Possible because segments are variable-sized</a:t>
                      </a:r>
                    </a:p>
                  </a:txBody>
                  <a:tcPr marL="68666" marR="68666" marT="34333" marB="34333" anchor="ctr"/>
                </a:tc>
                <a:tc>
                  <a:txBody>
                    <a:bodyPr/>
                    <a:lstStyle/>
                    <a:p>
                      <a:pPr algn="ctr">
                        <a:buNone/>
                      </a:pPr>
                      <a:r>
                        <a:rPr lang="en-US" sz="2000">
                          <a:latin typeface="Times New Roman" panose="02020603050405020304" pitchFamily="18" charset="0"/>
                          <a:cs typeface="Times New Roman" panose="02020603050405020304" pitchFamily="18" charset="0"/>
                        </a:rPr>
                        <a:t>No external fragmentation (pages are fixed)</a:t>
                      </a:r>
                    </a:p>
                  </a:txBody>
                  <a:tcPr marL="68666" marR="68666" marT="34333" marB="34333" anchor="ctr"/>
                </a:tc>
                <a:extLst>
                  <a:ext uri="{0D108BD9-81ED-4DB2-BD59-A6C34878D82A}">
                    <a16:rowId xmlns:a16="http://schemas.microsoft.com/office/drawing/2014/main" val="2504662798"/>
                  </a:ext>
                </a:extLst>
              </a:tr>
              <a:tr h="480663">
                <a:tc>
                  <a:txBody>
                    <a:bodyPr/>
                    <a:lstStyle/>
                    <a:p>
                      <a:pPr algn="l">
                        <a:buNone/>
                      </a:pPr>
                      <a:r>
                        <a:rPr lang="en-US" sz="2000" b="1">
                          <a:latin typeface="Times New Roman" panose="02020603050405020304" pitchFamily="18" charset="0"/>
                          <a:cs typeface="Times New Roman" panose="02020603050405020304" pitchFamily="18" charset="0"/>
                        </a:rPr>
                        <a:t>Internal Fragmentation</a:t>
                      </a:r>
                      <a:endParaRPr lang="en-US" sz="2000">
                        <a:latin typeface="Times New Roman" panose="02020603050405020304" pitchFamily="18" charset="0"/>
                        <a:cs typeface="Times New Roman" panose="02020603050405020304" pitchFamily="18" charset="0"/>
                      </a:endParaRPr>
                    </a:p>
                  </a:txBody>
                  <a:tcPr marL="68666" marR="68666" marT="34333" marB="34333" anchor="ctr"/>
                </a:tc>
                <a:tc>
                  <a:txBody>
                    <a:bodyPr/>
                    <a:lstStyle/>
                    <a:p>
                      <a:pPr algn="ctr">
                        <a:buNone/>
                      </a:pPr>
                      <a:r>
                        <a:rPr lang="en-US" sz="2000">
                          <a:latin typeface="Times New Roman" panose="02020603050405020304" pitchFamily="18" charset="0"/>
                          <a:cs typeface="Times New Roman" panose="02020603050405020304" pitchFamily="18" charset="0"/>
                        </a:rPr>
                        <a:t>Less common</a:t>
                      </a:r>
                    </a:p>
                  </a:txBody>
                  <a:tcPr marL="68666" marR="68666" marT="34333" marB="34333" anchor="ctr"/>
                </a:tc>
                <a:tc>
                  <a:txBody>
                    <a:bodyPr/>
                    <a:lstStyle/>
                    <a:p>
                      <a:pPr algn="ctr">
                        <a:buNone/>
                      </a:pPr>
                      <a:r>
                        <a:rPr lang="en-US" sz="2000">
                          <a:latin typeface="Times New Roman" panose="02020603050405020304" pitchFamily="18" charset="0"/>
                          <a:cs typeface="Times New Roman" panose="02020603050405020304" pitchFamily="18" charset="0"/>
                        </a:rPr>
                        <a:t>Can occur if the last page is partially filled</a:t>
                      </a:r>
                    </a:p>
                  </a:txBody>
                  <a:tcPr marL="68666" marR="68666" marT="34333" marB="34333" anchor="ctr"/>
                </a:tc>
                <a:extLst>
                  <a:ext uri="{0D108BD9-81ED-4DB2-BD59-A6C34878D82A}">
                    <a16:rowId xmlns:a16="http://schemas.microsoft.com/office/drawing/2014/main" val="3069693924"/>
                  </a:ext>
                </a:extLst>
              </a:tr>
              <a:tr h="480663">
                <a:tc>
                  <a:txBody>
                    <a:bodyPr/>
                    <a:lstStyle/>
                    <a:p>
                      <a:pPr algn="l">
                        <a:buNone/>
                      </a:pPr>
                      <a:r>
                        <a:rPr lang="en-US" sz="2000" b="1">
                          <a:latin typeface="Times New Roman" panose="02020603050405020304" pitchFamily="18" charset="0"/>
                          <a:cs typeface="Times New Roman" panose="02020603050405020304" pitchFamily="18" charset="0"/>
                        </a:rPr>
                        <a:t>Memory Management</a:t>
                      </a:r>
                      <a:endParaRPr lang="en-US" sz="2000">
                        <a:latin typeface="Times New Roman" panose="02020603050405020304" pitchFamily="18" charset="0"/>
                        <a:cs typeface="Times New Roman" panose="02020603050405020304" pitchFamily="18" charset="0"/>
                      </a:endParaRPr>
                    </a:p>
                  </a:txBody>
                  <a:tcPr marL="68666" marR="68666" marT="34333" marB="34333" anchor="ctr"/>
                </a:tc>
                <a:tc>
                  <a:txBody>
                    <a:bodyPr/>
                    <a:lstStyle/>
                    <a:p>
                      <a:pPr algn="ctr">
                        <a:buNone/>
                      </a:pPr>
                      <a:r>
                        <a:rPr lang="en-US" sz="2000">
                          <a:latin typeface="Times New Roman" panose="02020603050405020304" pitchFamily="18" charset="0"/>
                          <a:cs typeface="Times New Roman" panose="02020603050405020304" pitchFamily="18" charset="0"/>
                        </a:rPr>
                        <a:t>More complex; needs </a:t>
                      </a:r>
                      <a:r>
                        <a:rPr lang="en-US" sz="2000" b="1">
                          <a:latin typeface="Times New Roman" panose="02020603050405020304" pitchFamily="18" charset="0"/>
                          <a:cs typeface="Times New Roman" panose="02020603050405020304" pitchFamily="18" charset="0"/>
                        </a:rPr>
                        <a:t>segment table</a:t>
                      </a:r>
                      <a:endParaRPr lang="en-US" sz="2000">
                        <a:latin typeface="Times New Roman" panose="02020603050405020304" pitchFamily="18" charset="0"/>
                        <a:cs typeface="Times New Roman" panose="02020603050405020304" pitchFamily="18" charset="0"/>
                      </a:endParaRPr>
                    </a:p>
                  </a:txBody>
                  <a:tcPr marL="68666" marR="68666" marT="34333" marB="34333" anchor="ctr"/>
                </a:tc>
                <a:tc>
                  <a:txBody>
                    <a:bodyPr/>
                    <a:lstStyle/>
                    <a:p>
                      <a:pPr algn="ctr">
                        <a:buNone/>
                      </a:pPr>
                      <a:r>
                        <a:rPr lang="en-US" sz="2000">
                          <a:latin typeface="Times New Roman" panose="02020603050405020304" pitchFamily="18" charset="0"/>
                          <a:cs typeface="Times New Roman" panose="02020603050405020304" pitchFamily="18" charset="0"/>
                        </a:rPr>
                        <a:t>Simpler; uses </a:t>
                      </a:r>
                      <a:r>
                        <a:rPr lang="en-US" sz="2000" b="1">
                          <a:latin typeface="Times New Roman" panose="02020603050405020304" pitchFamily="18" charset="0"/>
                          <a:cs typeface="Times New Roman" panose="02020603050405020304" pitchFamily="18" charset="0"/>
                        </a:rPr>
                        <a:t>page table</a:t>
                      </a:r>
                      <a:endParaRPr lang="en-US" sz="2000">
                        <a:latin typeface="Times New Roman" panose="02020603050405020304" pitchFamily="18" charset="0"/>
                        <a:cs typeface="Times New Roman" panose="02020603050405020304" pitchFamily="18" charset="0"/>
                      </a:endParaRPr>
                    </a:p>
                  </a:txBody>
                  <a:tcPr marL="68666" marR="68666" marT="34333" marB="34333" anchor="ctr"/>
                </a:tc>
                <a:extLst>
                  <a:ext uri="{0D108BD9-81ED-4DB2-BD59-A6C34878D82A}">
                    <a16:rowId xmlns:a16="http://schemas.microsoft.com/office/drawing/2014/main" val="295841064"/>
                  </a:ext>
                </a:extLst>
              </a:tr>
              <a:tr h="480663">
                <a:tc>
                  <a:txBody>
                    <a:bodyPr/>
                    <a:lstStyle/>
                    <a:p>
                      <a:pPr algn="l">
                        <a:buNone/>
                      </a:pPr>
                      <a:r>
                        <a:rPr lang="en-US" sz="2000" b="1" dirty="0">
                          <a:latin typeface="Times New Roman" panose="02020603050405020304" pitchFamily="18" charset="0"/>
                          <a:cs typeface="Times New Roman" panose="02020603050405020304" pitchFamily="18" charset="0"/>
                        </a:rPr>
                        <a:t>Example</a:t>
                      </a:r>
                      <a:endParaRPr lang="en-US" sz="2000" dirty="0">
                        <a:latin typeface="Times New Roman" panose="02020603050405020304" pitchFamily="18" charset="0"/>
                        <a:cs typeface="Times New Roman" panose="02020603050405020304" pitchFamily="18" charset="0"/>
                      </a:endParaRPr>
                    </a:p>
                  </a:txBody>
                  <a:tcPr marL="68666" marR="68666" marT="34333" marB="34333" anchor="ctr"/>
                </a:tc>
                <a:tc>
                  <a:txBody>
                    <a:bodyPr/>
                    <a:lstStyle/>
                    <a:p>
                      <a:pPr algn="ctr">
                        <a:buNone/>
                      </a:pPr>
                      <a:r>
                        <a:rPr lang="en-US" sz="2000">
                          <a:latin typeface="Times New Roman" panose="02020603050405020304" pitchFamily="18" charset="0"/>
                          <a:cs typeface="Times New Roman" panose="02020603050405020304" pitchFamily="18" charset="0"/>
                        </a:rPr>
                        <a:t>Code segment, data segment, stack segment</a:t>
                      </a:r>
                    </a:p>
                  </a:txBody>
                  <a:tcPr marL="68666" marR="68666" marT="34333" marB="34333" anchor="ctr"/>
                </a:tc>
                <a:tc>
                  <a:txBody>
                    <a:bodyPr/>
                    <a:lstStyle/>
                    <a:p>
                      <a:pPr algn="ctr">
                        <a:buNone/>
                      </a:pPr>
                      <a:r>
                        <a:rPr lang="en-US" sz="2000" dirty="0">
                          <a:latin typeface="Times New Roman" panose="02020603050405020304" pitchFamily="18" charset="0"/>
                          <a:cs typeface="Times New Roman" panose="02020603050405020304" pitchFamily="18" charset="0"/>
                        </a:rPr>
                        <a:t>Virtual memory pages (4KB each)</a:t>
                      </a:r>
                    </a:p>
                  </a:txBody>
                  <a:tcPr marL="68666" marR="68666" marT="34333" marB="34333" anchor="ctr"/>
                </a:tc>
                <a:extLst>
                  <a:ext uri="{0D108BD9-81ED-4DB2-BD59-A6C34878D82A}">
                    <a16:rowId xmlns:a16="http://schemas.microsoft.com/office/drawing/2014/main" val="1069640429"/>
                  </a:ext>
                </a:extLst>
              </a:tr>
            </a:tbl>
          </a:graphicData>
        </a:graphic>
      </p:graphicFrame>
    </p:spTree>
    <p:extLst>
      <p:ext uri="{BB962C8B-B14F-4D97-AF65-F5344CB8AC3E}">
        <p14:creationId xmlns:p14="http://schemas.microsoft.com/office/powerpoint/2010/main" val="33196466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24840-87B7-5C2F-E6CB-CE9BD61D278B}"/>
              </a:ext>
            </a:extLst>
          </p:cNvPr>
          <p:cNvSpPr>
            <a:spLocks noGrp="1"/>
          </p:cNvSpPr>
          <p:nvPr>
            <p:ph type="title"/>
          </p:nvPr>
        </p:nvSpPr>
        <p:spPr>
          <a:xfrm>
            <a:off x="3487928" y="1588500"/>
            <a:ext cx="6194552" cy="2807208"/>
          </a:xfrm>
        </p:spPr>
        <p:txBody>
          <a:bodyPr>
            <a:normAutofit/>
          </a:bodyPr>
          <a:lstStyle/>
          <a:p>
            <a:r>
              <a:rPr lang="en-US" sz="8000" dirty="0"/>
              <a:t>Thank you!</a:t>
            </a:r>
            <a:endParaRPr lang="en-PK" sz="8000" dirty="0"/>
          </a:p>
        </p:txBody>
      </p:sp>
      <p:sp>
        <p:nvSpPr>
          <p:cNvPr id="4" name="TextBox 3">
            <a:extLst>
              <a:ext uri="{FF2B5EF4-FFF2-40B4-BE49-F238E27FC236}">
                <a16:creationId xmlns:a16="http://schemas.microsoft.com/office/drawing/2014/main" id="{7119812F-AABC-0688-A538-8A303FE5DAE1}"/>
              </a:ext>
            </a:extLst>
          </p:cNvPr>
          <p:cNvSpPr txBox="1"/>
          <p:nvPr/>
        </p:nvSpPr>
        <p:spPr>
          <a:xfrm>
            <a:off x="640080" y="3429000"/>
            <a:ext cx="10535920" cy="369332"/>
          </a:xfrm>
          <a:prstGeom prst="rect">
            <a:avLst/>
          </a:prstGeom>
          <a:noFill/>
        </p:spPr>
        <p:txBody>
          <a:bodyPr wrap="square">
            <a:spAutoFit/>
          </a:bodyPr>
          <a:lstStyle/>
          <a:p>
            <a:pPr algn="ctr"/>
            <a:r>
              <a:rPr lang="en-US" dirty="0"/>
              <a:t>“Paging divides memory, but clever management keeps every process moving”</a:t>
            </a:r>
            <a:endParaRPr lang="en-PK" dirty="0"/>
          </a:p>
        </p:txBody>
      </p:sp>
    </p:spTree>
    <p:extLst>
      <p:ext uri="{BB962C8B-B14F-4D97-AF65-F5344CB8AC3E}">
        <p14:creationId xmlns:p14="http://schemas.microsoft.com/office/powerpoint/2010/main" val="11958689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{45F63935-1AF4-4F8C-991F-4D25D3E9C223}TF2ec419c9-97c3-4958-b02a-0886397d33afcfe10e4b-d68909c4b1b0</Template>
  <TotalTime>3869</TotalTime>
  <Words>2679</Words>
  <Application>Microsoft Office PowerPoint</Application>
  <PresentationFormat>Widescreen</PresentationFormat>
  <Paragraphs>324</Paragraphs>
  <Slides>42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Calibri</vt:lpstr>
      <vt:lpstr>Cambria Math</vt:lpstr>
      <vt:lpstr>Rockwell</vt:lpstr>
      <vt:lpstr>Rockwell Condensed</vt:lpstr>
      <vt:lpstr>Times New Roman</vt:lpstr>
      <vt:lpstr>Wingdings</vt:lpstr>
      <vt:lpstr>Wood Type</vt:lpstr>
      <vt:lpstr>Operating systems</vt:lpstr>
      <vt:lpstr>Lecture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Adil Ahmed</cp:lastModifiedBy>
  <cp:revision>2376</cp:revision>
  <dcterms:created xsi:type="dcterms:W3CDTF">2025-10-15T06:15:30Z</dcterms:created>
  <dcterms:modified xsi:type="dcterms:W3CDTF">2026-01-27T07:18:34Z</dcterms:modified>
</cp:coreProperties>
</file>