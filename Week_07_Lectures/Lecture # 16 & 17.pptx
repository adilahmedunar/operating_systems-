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notesMasterIdLst>
    <p:notesMasterId r:id="rId29"/>
  </p:notesMasterIdLst>
  <p:sldIdLst>
    <p:sldId id="256" r:id="rId2"/>
    <p:sldId id="261" r:id="rId3"/>
    <p:sldId id="329" r:id="rId4"/>
    <p:sldId id="371" r:id="rId5"/>
    <p:sldId id="372" r:id="rId6"/>
    <p:sldId id="362" r:id="rId7"/>
    <p:sldId id="373" r:id="rId8"/>
    <p:sldId id="381" r:id="rId9"/>
    <p:sldId id="382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266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3842" autoAdjust="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BE7D3E-4D6D-4A9E-AA24-8E11DFA8298B}" type="datetimeFigureOut">
              <a:rPr lang="en-PK" smtClean="0"/>
              <a:t>18/01/2026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406AE-9E8D-4B19-A8A6-37C9AB1FA076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38086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406AE-9E8D-4B19-A8A6-37C9AB1FA076}" type="slidenum">
              <a:rPr lang="en-PK" smtClean="0"/>
              <a:t>1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12846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P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1/18/2026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PK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ECB6B-98B0-7DD3-973D-99D900F051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7360" y="1432223"/>
            <a:ext cx="10551160" cy="3035808"/>
          </a:xfrm>
        </p:spPr>
        <p:txBody>
          <a:bodyPr/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systems</a:t>
            </a:r>
            <a:endParaRPr lang="en-PK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4B46766-25E3-5BCC-FCFC-68333EE8C7DA}"/>
              </a:ext>
            </a:extLst>
          </p:cNvPr>
          <p:cNvSpPr txBox="1">
            <a:spLocks/>
          </p:cNvSpPr>
          <p:nvPr/>
        </p:nvSpPr>
        <p:spPr>
          <a:xfrm>
            <a:off x="1611884" y="4555573"/>
            <a:ext cx="8053832" cy="1273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9600" kern="1200" cap="all" baseline="0">
                <a:blipFill dpi="0" rotWithShape="1">
                  <a:blip r:embed="rId3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 16 &amp; 17</a:t>
            </a:r>
            <a:endParaRPr lang="en-PK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502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B506D-D8CE-6C1D-091D-252ED6579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51294-A245-19C5-6231-4502DD714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7328" y="474472"/>
            <a:ext cx="8053832" cy="127304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 Overview</a:t>
            </a:r>
            <a:endParaRPr lang="en-PK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40740F-FC80-CFC7-E7B9-046A9B19DD75}"/>
              </a:ext>
            </a:extLst>
          </p:cNvPr>
          <p:cNvSpPr txBox="1"/>
          <p:nvPr/>
        </p:nvSpPr>
        <p:spPr>
          <a:xfrm>
            <a:off x="406979" y="1747520"/>
            <a:ext cx="100263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Consumer Problem</a:t>
            </a:r>
          </a:p>
          <a:p>
            <a:pPr marL="1485900" lvl="2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Problem</a:t>
            </a:r>
          </a:p>
          <a:p>
            <a:pPr marL="1943100" lvl="3" indent="-571500">
              <a:buFont typeface="Wingdings" panose="05000000000000000000" pitchFamily="2" charset="2"/>
              <a:buChar char="q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Peterson's Solution</a:t>
            </a:r>
          </a:p>
        </p:txBody>
      </p:sp>
    </p:spTree>
    <p:extLst>
      <p:ext uri="{BB962C8B-B14F-4D97-AF65-F5344CB8AC3E}">
        <p14:creationId xmlns:p14="http://schemas.microsoft.com/office/powerpoint/2010/main" val="344206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7EF17-EFBC-EFA0-20FD-6DCDD2D484E9}"/>
              </a:ext>
            </a:extLst>
          </p:cNvPr>
          <p:cNvSpPr txBox="1">
            <a:spLocks/>
          </p:cNvSpPr>
          <p:nvPr/>
        </p:nvSpPr>
        <p:spPr>
          <a:xfrm>
            <a:off x="612140" y="66545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1E25D-022F-2E11-4A3C-E2792F41BDB6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04F6741-DD42-063A-103D-BB5148BB0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310" y="1681986"/>
            <a:ext cx="1026414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 in operating systems coordinates concurrent processes sharing resources (like variable, memory, code, resources) to prevent data corruption, ensuring consistency by managing access using techniques like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mutexes, semaphores, and monitors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enforce rules like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(only one process at a time) to avoid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maintain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It's crucial for orderly execution in multi-process systems, solving problems where interrupted processes leave shared data inconsistent, ensuring harmonious operation. </a:t>
            </a:r>
            <a:endParaRPr lang="en-PK" altLang="en-PK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559BD9-D579-44AF-E589-085212E9E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9515" y="4903874"/>
            <a:ext cx="4456778" cy="163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76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B9D33-B38D-4032-0E8C-076FE4F5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DDE7B-FDB7-C8A2-FF15-14E7B1CD6AFD}"/>
              </a:ext>
            </a:extLst>
          </p:cNvPr>
          <p:cNvSpPr txBox="1">
            <a:spLocks/>
          </p:cNvSpPr>
          <p:nvPr/>
        </p:nvSpPr>
        <p:spPr>
          <a:xfrm>
            <a:off x="612140" y="33017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85757C-9C22-9706-F6F4-C867340394AD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2D7769-5E21-8385-8CF0-A5164EA69C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930" y="1388548"/>
            <a:ext cx="1026414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processes are processes that execute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the same time period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sharing the CPU using multitasking or multiprocessing. They may run truly in parallel (on multiple cores) or appear parallel (through time-sharing).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processes fall into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categories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Processes 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Independent processes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affect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one another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Cooperating Processes: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Cooperating processes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resources, or communication.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1362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8251C-484E-3854-C49E-A4356785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76EB2-6E6F-8240-3CB4-7CA24D19CD78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Cooperating Processes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B7533D-05F4-3076-728E-D668E8B79EBC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D6FBFF8-8E45-A696-19F2-C67BD1492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052554"/>
            <a:ext cx="10264140" cy="5478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Cooperating processes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data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resources, or communication.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characteristics: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work together to perform a task.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memory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files, or messages.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process </a:t>
            </a: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affect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execution of another.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may need synchronization (e.g., semaphores, locks).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for cooperation: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sharing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computation through parallelism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Modularity and better structure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Convenience for user or system tasks</a:t>
            </a:r>
          </a:p>
          <a:p>
            <a:pPr lvl="1"/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Producer–Consumer problem (shared buffer).</a:t>
            </a:r>
          </a:p>
        </p:txBody>
      </p:sp>
    </p:spTree>
    <p:extLst>
      <p:ext uri="{BB962C8B-B14F-4D97-AF65-F5344CB8AC3E}">
        <p14:creationId xmlns:p14="http://schemas.microsoft.com/office/powerpoint/2010/main" val="307897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71DAD-8C30-F336-83C0-74D967DB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2DB830E-260C-96C6-57E7-B5ABD92B1428}"/>
              </a:ext>
            </a:extLst>
          </p:cNvPr>
          <p:cNvSpPr txBox="1"/>
          <p:nvPr/>
        </p:nvSpPr>
        <p:spPr>
          <a:xfrm>
            <a:off x="822960" y="1076279"/>
            <a:ext cx="103632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PK" altLang="en-PK" sz="2800" b="1" i="0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it's needed (Problems)</a:t>
            </a:r>
            <a:r>
              <a:rPr lang="en-US" altLang="en-PK" sz="2800" b="1" dirty="0">
                <a:solidFill>
                  <a:srgbClr val="001D3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kumimoji="0" lang="en-PK" altLang="en-PK" sz="2800" b="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Conditions</a:t>
            </a:r>
            <a:r>
              <a:rPr kumimoji="0" lang="en-PK" altLang="en-PK" sz="2800" b="1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kumimoji="0" lang="en-PK" altLang="en-PK" sz="2800" b="0" i="0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PK" sz="2800" b="0" i="0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800" b="0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processes access shared data concurrently, leading to unpredictable outcomes (e.g., a bank balance read/modified by two users simultaneously).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PK" altLang="en-PK" sz="2800" b="1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Inconsistency/Corruption:</a:t>
            </a:r>
            <a:r>
              <a:rPr kumimoji="0" lang="en-PK" altLang="en-PK" sz="2800" b="0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PK" sz="2800" b="0" i="0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800" b="0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control, processes overwrite each other's changes, leaving data in an invalid state.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lang="en-PK" altLang="en-PK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Pre-emption</a:t>
            </a:r>
            <a:r>
              <a:rPr lang="en-US" altLang="en-PK" sz="2800" b="1" dirty="0">
                <a:solidFill>
                  <a:srgbClr val="0A0A0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PK" altLang="en-PK" sz="2800" b="1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Issues:</a:t>
            </a:r>
            <a:r>
              <a:rPr kumimoji="0" lang="en-PK" altLang="en-PK" sz="2800" b="0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altLang="en-PK" sz="2800" b="0" i="0" strike="noStrike" cap="none" normalizeH="0" baseline="0" dirty="0">
              <a:ln>
                <a:noFill/>
              </a:ln>
              <a:solidFill>
                <a:srgbClr val="0A0A0A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PK" altLang="en-PK" sz="2800" b="0" i="0" strike="noStrike" cap="none" normalizeH="0" baseline="0" dirty="0">
                <a:ln>
                  <a:noFill/>
                </a:ln>
                <a:solidFill>
                  <a:srgbClr val="0A0A0A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process might be interrupted mid-operation on shared data, leaving it half-changed for another process to see. 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8D74FEB-8CF6-2FF5-E04A-2DA499622113}"/>
              </a:ext>
            </a:extLst>
          </p:cNvPr>
          <p:cNvSpPr txBox="1">
            <a:spLocks/>
          </p:cNvSpPr>
          <p:nvPr/>
        </p:nvSpPr>
        <p:spPr>
          <a:xfrm>
            <a:off x="401320" y="23465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Synchronization</a:t>
            </a:r>
            <a:endParaRPr lang="en-PK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660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C791F-C8D4-DFBA-4A26-B578DF621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3E3F3-EF15-9BC1-B8C5-645DE4C8A067}"/>
              </a:ext>
            </a:extLst>
          </p:cNvPr>
          <p:cNvSpPr txBox="1">
            <a:spLocks/>
          </p:cNvSpPr>
          <p:nvPr/>
        </p:nvSpPr>
        <p:spPr>
          <a:xfrm>
            <a:off x="612140" y="523174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we need Process Synchronization?</a:t>
            </a:r>
            <a:endParaRPr lang="en-PK" sz="3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E4BAB0-5A73-30CB-E3BC-EE847A925C4A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27BFAF1-211F-20EE-3C36-13D3F2DA6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9670" y="1841634"/>
            <a:ext cx="379857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PK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Process 1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shared = 5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x = shared;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X++;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Sleep(1);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Shared = x;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PK" altLang="en-PK" sz="3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F12932-30D3-3CBA-FDF9-7A669F334604}"/>
              </a:ext>
            </a:extLst>
          </p:cNvPr>
          <p:cNvSpPr txBox="1"/>
          <p:nvPr/>
        </p:nvSpPr>
        <p:spPr>
          <a:xfrm>
            <a:off x="5993130" y="1750194"/>
            <a:ext cx="435102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PK" sz="36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Process 2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shared = 5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 y = shared;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Y --;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Sleep(1);</a:t>
            </a:r>
          </a:p>
          <a:p>
            <a:pPr marL="742950" lvl="0" indent="-742950" defTabSz="9144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PK" sz="3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Shared = y;</a:t>
            </a:r>
          </a:p>
          <a:p>
            <a:pPr lvl="0" algn="ctr" defTabSz="9144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PK" altLang="en-PK" sz="36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0B79A77-06E5-14D0-632D-CFC8291E4E28}"/>
              </a:ext>
            </a:extLst>
          </p:cNvPr>
          <p:cNvSpPr txBox="1">
            <a:spLocks/>
          </p:cNvSpPr>
          <p:nvPr/>
        </p:nvSpPr>
        <p:spPr>
          <a:xfrm>
            <a:off x="723900" y="529969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Occurred</a:t>
            </a:r>
            <a:endParaRPr lang="en-PK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08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B548-61FD-11D8-26B8-22E7F3D88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41E48-781A-F8B4-6D40-7FEC072B4F4E}"/>
              </a:ext>
            </a:extLst>
          </p:cNvPr>
          <p:cNvSpPr txBox="1">
            <a:spLocks/>
          </p:cNvSpPr>
          <p:nvPr/>
        </p:nvSpPr>
        <p:spPr>
          <a:xfrm>
            <a:off x="612140" y="523174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E475C3-B5F3-EB98-2651-83CAA92D90C3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BE712A-A522-358F-996B-66353BE81750}"/>
              </a:ext>
            </a:extLst>
          </p:cNvPr>
          <p:cNvSpPr txBox="1"/>
          <p:nvPr/>
        </p:nvSpPr>
        <p:spPr>
          <a:xfrm>
            <a:off x="977900" y="1364803"/>
            <a:ext cx="1039114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occurs when two or more concurrent processes or threads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and manipulate shared data simultaneously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outcome depends on the order (timing) of execution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Because the execution order is unpredictable, the result may be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or inconsistent.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Race Conditions Occur?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conditions arise when all of the following are true: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data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exists (e.g., variables, buffers, files)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execution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processes/threads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proper synchronization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mechanism is used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72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A402-B92C-B1C3-D759-C535DBB738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D2DE4-B2A7-A183-8DC9-E9D3C8AE02A4}"/>
              </a:ext>
            </a:extLst>
          </p:cNvPr>
          <p:cNvSpPr txBox="1">
            <a:spLocks/>
          </p:cNvSpPr>
          <p:nvPr/>
        </p:nvSpPr>
        <p:spPr>
          <a:xfrm>
            <a:off x="612140" y="230218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3A4AF8-D231-D8AB-DE2F-317043C4346F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8174E3-67C1-A9A4-AF0C-E01B5C416325}"/>
              </a:ext>
            </a:extLst>
          </p:cNvPr>
          <p:cNvSpPr txBox="1"/>
          <p:nvPr/>
        </p:nvSpPr>
        <p:spPr>
          <a:xfrm>
            <a:off x="977900" y="1364803"/>
            <a:ext cx="1039114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Race Condition in Producer–Consumer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increments count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decrements count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synchronization, both may access count simultaneously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overflow, underflow, or corrupted data</a:t>
            </a: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Consequences of Race Conditions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inconsistency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program output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crashes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vulnerabilities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debugging (non-deterministic behavior)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2862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78F55-8795-642A-B554-E725A068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B392-1611-7DA5-148A-66E389B0D67D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CONSUMER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EFE813-81E3-958C-F24A-A10C1BA18AD7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C822F19-BCD5-5616-E164-8A069CB136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195603"/>
            <a:ext cx="10546080" cy="47859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The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Producer–Consumer problem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is a classical synchronization problem in Operating Systems that illustrates how multiple processes coordinate access to a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shared resource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(buffer) without causing inconsistency. It is fundamental for understanding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process synchronization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critical sections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, and </a:t>
            </a: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inter-process communication (IPC)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Producer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Generates data items and places them into a shared buffer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Consumer</a:t>
            </a:r>
            <a:r>
              <a:rPr lang="en-US" sz="2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: Removes data items from the shared buffer and processes them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endParaRPr lang="en-US" sz="25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2633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4D0A27-DC3C-A365-7E32-12B650B8CE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491" y="768891"/>
            <a:ext cx="9924217" cy="519049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EEA6B0C-4FF5-7A10-4F26-D494F9A8003F}"/>
              </a:ext>
            </a:extLst>
          </p:cNvPr>
          <p:cNvSpPr txBox="1">
            <a:spLocks/>
          </p:cNvSpPr>
          <p:nvPr/>
        </p:nvSpPr>
        <p:spPr>
          <a:xfrm>
            <a:off x="703580" y="206121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SHARABLE BUFFER - </a:t>
            </a:r>
            <a:r>
              <a:rPr lang="en-US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pcp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56E2CED-24FA-66CB-272F-E7775E891B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628" y="5266883"/>
            <a:ext cx="10546080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Shareable in Producer and Consumer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</a:t>
            </a:r>
          </a:p>
          <a:p>
            <a:pPr marL="514350" indent="-514350" algn="just"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Variable</a:t>
            </a:r>
          </a:p>
        </p:txBody>
      </p:sp>
    </p:spTree>
    <p:extLst>
      <p:ext uri="{BB962C8B-B14F-4D97-AF65-F5344CB8AC3E}">
        <p14:creationId xmlns:p14="http://schemas.microsoft.com/office/powerpoint/2010/main" val="3862848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E800D-F2F6-416D-F952-ED9BCBC07F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2AB5-96DC-A10B-7072-5E19BEF86562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CONSUMER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D7CF03-EC39-E764-C31D-D5BE05EC9DEB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CD45EBC-C558-B80C-FAEE-893423BD1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213162"/>
            <a:ext cx="10546080" cy="48320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of items that can be filled by producer and emptied by consumer.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and consumer must be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synchronized.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does not try to consume an item that has not yet been produced. 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must wait until an item is produced.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challenge is to ensure:</a:t>
            </a: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Producers do not insert data into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buffer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Consumers do not remove data from an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buffer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 while accessing the shared buffer</a:t>
            </a:r>
          </a:p>
        </p:txBody>
      </p:sp>
    </p:spTree>
    <p:extLst>
      <p:ext uri="{BB962C8B-B14F-4D97-AF65-F5344CB8AC3E}">
        <p14:creationId xmlns:p14="http://schemas.microsoft.com/office/powerpoint/2010/main" val="1427301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FD2A4-E792-600C-04D9-B8F05FA2F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CA060-D5E0-8ED4-C7DF-171F942AAA59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6BFA58-C394-C19F-835D-72E066C9C34F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C26CAF4-1DC8-E906-90E1-DCCAEE459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151014"/>
            <a:ext cx="10546080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(true)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/* produce an item and put in next Produced */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while (count == BUFFER_SIZE) ;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// do nothing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buffer [in] =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nextProduced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in = (in + 1) % BUFFER_SIZE;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count++;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760118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ADABD1-8089-86BA-649E-C274651E28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74536D-A912-EF09-6A7D-BBA6C710391D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4A3EB5-0AB4-D1D0-A93B-C9C4ED7FEB6E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5DAE4CD-3EA5-3B97-6CD1-FE4B7CD05D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060046"/>
            <a:ext cx="10546080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(true)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while (count == 0) ;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// do nothing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nextConsumed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buffer[out];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out = (out + 1) % BUFFER_SIZE;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count--; 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/* consume the item in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nextConsumed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304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32B0A-C4C7-A015-D172-BB1868CD9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F47F5-F2EA-5652-A7BC-6E42C3E7977C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CONSUMER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F6E8F-EB23-624F-C063-A02A54B1E807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0118584-0BD2-DCDA-DC50-B03D6AC43D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104092"/>
            <a:ext cx="10546080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Producer–Consumer Problem</a:t>
            </a:r>
          </a:p>
          <a:p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a) Unbounded Buffer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size is infinite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never waits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waits if buffer is empty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b) Bounded Buffer (Most Common)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has a fixed size 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Producer waits if buffer is full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 waits if buffer is empty</a:t>
            </a:r>
          </a:p>
        </p:txBody>
      </p:sp>
    </p:spTree>
    <p:extLst>
      <p:ext uri="{BB962C8B-B14F-4D97-AF65-F5344CB8AC3E}">
        <p14:creationId xmlns:p14="http://schemas.microsoft.com/office/powerpoint/2010/main" val="1993103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DCF44-7B44-EDB5-48BE-45D43C44F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A997D-2BF6-D267-5531-3C5FEE4E5A13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CONSUMER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891F80-25FE-281A-F919-83553AE622D5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A2FF71D-8019-E9A6-AC6A-7EB4F293B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40" y="4795898"/>
            <a:ext cx="1054608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logical pointers: in and out. 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in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the next free position in the buffer. </a:t>
            </a:r>
          </a:p>
          <a:p>
            <a:pPr lvl="1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out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points to the first full position in the buffer.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8E7BA-5FC9-CC6D-D08F-0750DA23E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" y="1045633"/>
            <a:ext cx="12192000" cy="343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3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BF209-3D39-BEAF-D990-AA0B007C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32AD2-76AF-4FC5-FA08-42980960C8FF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PRODUCER CONSUMER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0B1CAA-B8B7-8A9E-BAE8-D41364111CEF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FAA40BB-A212-D106-976C-CC703E680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130383"/>
            <a:ext cx="10546080" cy="550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 access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shared data may result in data inconsistency.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Maintaining data consistency requires mechanisms to ensure the orderly execution of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cooperating processes.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we wanted to provide a solution to the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consumer-producer problem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fills all the buffers. We can do so by having an integer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keeps track of the number of full buffers. Initially,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set to 0. It is incremented by the producer after it produces a new buffer and is decremented by the consumer after it consumes a buffer.</a:t>
            </a:r>
          </a:p>
        </p:txBody>
      </p:sp>
    </p:spTree>
    <p:extLst>
      <p:ext uri="{BB962C8B-B14F-4D97-AF65-F5344CB8AC3E}">
        <p14:creationId xmlns:p14="http://schemas.microsoft.com/office/powerpoint/2010/main" val="136835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A234B-5335-84CF-5B7A-2F1B9D3DC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1517-B9B7-2A53-BC13-142E58FC99A1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- BUFFER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046553-D5B0-DC89-D602-879A95912995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DE50931-43E4-AE57-215B-B1F60C6D5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250771"/>
            <a:ext cx="105460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statements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counter++; 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--;</a:t>
            </a:r>
          </a:p>
          <a:p>
            <a:pPr algn="just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may not function correctly when executed concurrently. 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Suppose counter == 5, and producer and consumer processes execute the statements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“counter++”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“counter--”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concurrently.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of the counter may be 4, 5, or 6 but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result is 5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both execute separately.</a:t>
            </a:r>
          </a:p>
        </p:txBody>
      </p:sp>
    </p:spTree>
    <p:extLst>
      <p:ext uri="{BB962C8B-B14F-4D97-AF65-F5344CB8AC3E}">
        <p14:creationId xmlns:p14="http://schemas.microsoft.com/office/powerpoint/2010/main" val="4000914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46ABB-F070-FA3D-5BFD-3A1C3451C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6A08-C619-21A5-03F8-8A3636666496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- BUFFER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1F9A9B-4C26-9082-DF37-D6D083C88A92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F34DDDF-10B2-E834-F65F-6A491F714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250771"/>
            <a:ext cx="1054608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“counter++” may be implemented in machine language as: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register1 =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register1 =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register1 + 1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register1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“counter --” may be implemented as: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register2 =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register2 =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register2 – 1 </a:t>
            </a:r>
          </a:p>
          <a:p>
            <a:pPr marL="914400" lvl="1" indent="-457200" algn="just">
              <a:buFont typeface="Wingdings" panose="05000000000000000000" pitchFamily="2" charset="2"/>
              <a:buChar char="ü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register2</a:t>
            </a:r>
          </a:p>
        </p:txBody>
      </p:sp>
    </p:spTree>
    <p:extLst>
      <p:ext uri="{BB962C8B-B14F-4D97-AF65-F5344CB8AC3E}">
        <p14:creationId xmlns:p14="http://schemas.microsoft.com/office/powerpoint/2010/main" val="1578313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D6C7C-4ADC-37F8-2192-0ED34EC5B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02FD0-DE35-E72B-63DA-A80B0EF7326B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BOUNDED - BUFFER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5E0EAB-B967-E9A8-7728-19FC32BB1C88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80BB3BF-C538-17C7-24F2-A885DB29E3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060046"/>
            <a:ext cx="10546080" cy="56938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Assume counter is initially 5. One interleaving of statements is: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T0: producer: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register1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counter                         (register1 = 5)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T1: producer: register1 = register1 + 1                  (register1 = 6)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T2: consumer: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register2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counter                        (register2 = 5)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T3: consumer: register2 = register2 – 1                 (register2 = 4)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T4: producer: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register1 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(counter = 6) </a:t>
            </a:r>
          </a:p>
          <a:p>
            <a:pPr algn="just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T5: consumer: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counter = register2                      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(counter = 4) 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arrived at the incorrect state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“counter = 4”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recording that there are 4 full buffers, in fact there are 5 full buffers. If we reversed the order at T4 and T5, we would arrive at the incorrect state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“counter = 6”</a:t>
            </a:r>
          </a:p>
        </p:txBody>
      </p:sp>
    </p:spTree>
    <p:extLst>
      <p:ext uri="{BB962C8B-B14F-4D97-AF65-F5344CB8AC3E}">
        <p14:creationId xmlns:p14="http://schemas.microsoft.com/office/powerpoint/2010/main" val="12523850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2A9C5-C155-8553-B9F7-A8109A797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25AD9-B1EC-D041-B7AE-52F80AB35860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000EF4-D260-C2F2-A804-43FD22649A71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FED5B70-6496-8DC3-B2DF-82B603E957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520" y="1300234"/>
            <a:ext cx="8331200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part of a program where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resources are accessed or modified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problem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design a mechanism such that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two processes execute their critical sections simultaneously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7642AB-A5AA-8D20-C2CD-673BE68E6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76" y="3693160"/>
            <a:ext cx="9984248" cy="28114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7E2F6F-1999-1615-7D43-9C1B1E6FD4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4337" y="1496475"/>
            <a:ext cx="2425383" cy="4247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249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60CAC-BF3D-814D-5980-4E7B28A7F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014C6-AF80-5341-B077-E8539E7E7A91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5F09DE-A448-9943-66EF-83620037CDEA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1B2EAF5E-5EDD-27A9-0822-83E6D2EBB9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2960" y="1243735"/>
            <a:ext cx="10546080" cy="50013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{P0, P1,.....,Pn-1} all competing to use some shared data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has a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segment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called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 which the shared data is accessed.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Critical-section problem is to design a protocol that the processes can use to cooperate.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process must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permission 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enter its critical section.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Section of code implementing this request is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entry section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may be followed by an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exit section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Remaining code is the </a:t>
            </a:r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remainder section.</a:t>
            </a:r>
          </a:p>
        </p:txBody>
      </p:sp>
    </p:spTree>
    <p:extLst>
      <p:ext uri="{BB962C8B-B14F-4D97-AF65-F5344CB8AC3E}">
        <p14:creationId xmlns:p14="http://schemas.microsoft.com/office/powerpoint/2010/main" val="3509250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63446-9557-C3EB-9456-A55F4EAEB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4EB7C-64A2-BA18-2123-C9196CE1F9DC}"/>
              </a:ext>
            </a:extLst>
          </p:cNvPr>
          <p:cNvSpPr txBox="1">
            <a:spLocks/>
          </p:cNvSpPr>
          <p:nvPr/>
        </p:nvSpPr>
        <p:spPr>
          <a:xfrm>
            <a:off x="538480" y="192081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Goals of the Critical Section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490202-DAAA-92CD-3D2B-67E08465A10C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92C4098-6F7E-1FF8-2C0E-56B43539F3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" y="1320297"/>
            <a:ext cx="1054608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correct solution must satisfy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conditions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one process can be in the critical section at a time.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no process is in the critical section, one of the requesting processes must be allowed to enter without indefinite delay.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Waiting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must be a limit on how many times other processes can enter the critical section before a waiting process gets a chance.</a:t>
            </a:r>
          </a:p>
        </p:txBody>
      </p:sp>
    </p:spTree>
    <p:extLst>
      <p:ext uri="{BB962C8B-B14F-4D97-AF65-F5344CB8AC3E}">
        <p14:creationId xmlns:p14="http://schemas.microsoft.com/office/powerpoint/2010/main" val="3582314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E671-9E61-18E6-201C-9D04271F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3702-4B96-707E-AB16-88EE579886DC}"/>
              </a:ext>
            </a:extLst>
          </p:cNvPr>
          <p:cNvSpPr txBox="1">
            <a:spLocks/>
          </p:cNvSpPr>
          <p:nvPr/>
        </p:nvSpPr>
        <p:spPr>
          <a:xfrm>
            <a:off x="612140" y="189019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Attempts to Solve Problem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00AC76-D793-73F8-7744-A6F0669958F4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AEE2E-DAD0-A86D-BC40-64B0450707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80" y="1827208"/>
            <a:ext cx="11076480" cy="344583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F45373B-E9A9-EBD7-4A6D-2720108C1095}"/>
              </a:ext>
            </a:extLst>
          </p:cNvPr>
          <p:cNvSpPr txBox="1"/>
          <p:nvPr/>
        </p:nvSpPr>
        <p:spPr>
          <a:xfrm>
            <a:off x="942340" y="1242433"/>
            <a:ext cx="97840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structure of process Pi (other process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371A6-B38D-501E-044A-4AC32685D312}"/>
              </a:ext>
            </a:extLst>
          </p:cNvPr>
          <p:cNvSpPr txBox="1"/>
          <p:nvPr/>
        </p:nvSpPr>
        <p:spPr>
          <a:xfrm>
            <a:off x="728980" y="5126380"/>
            <a:ext cx="1064006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Process Solutions.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are numbered P0 and P1. </a:t>
            </a:r>
          </a:p>
          <a:p>
            <a:pPr marL="914400" lvl="1" indent="-457200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presenting Pi use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Pj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denote the other process.</a:t>
            </a:r>
            <a:endParaRPr lang="en-PK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2347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4D23-54EF-FADE-D3B3-C234E91A9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33AB-99C7-3363-76BC-1833F51177C3}"/>
              </a:ext>
            </a:extLst>
          </p:cNvPr>
          <p:cNvSpPr txBox="1">
            <a:spLocks/>
          </p:cNvSpPr>
          <p:nvPr/>
        </p:nvSpPr>
        <p:spPr>
          <a:xfrm>
            <a:off x="612140" y="218417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Peterson’s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D596ED-BDD1-EE94-D33B-596E9C991F35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F0BF6CB-4228-B09D-F053-EA2304EAF5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200" y="1443841"/>
            <a:ext cx="1054608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Peterson’s solution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classic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software-based synchronization algorithm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solves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section problem for two processes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It guarantees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mutual exclusion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bounded waiting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using hardware support such as test-and-set or semaphores.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process solution.</a:t>
            </a:r>
          </a:p>
          <a:p>
            <a:pPr marL="457200" indent="-457200"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two processes share two variables: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turn;            // Indicates whose turn it is.</a:t>
            </a:r>
          </a:p>
          <a:p>
            <a:pPr marL="971550" lvl="1" indent="-514350" algn="just"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 flag[2];      // Indicates interest in entering critical section</a:t>
            </a:r>
          </a:p>
        </p:txBody>
      </p:sp>
    </p:spTree>
    <p:extLst>
      <p:ext uri="{BB962C8B-B14F-4D97-AF65-F5344CB8AC3E}">
        <p14:creationId xmlns:p14="http://schemas.microsoft.com/office/powerpoint/2010/main" val="39923840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ED837-7BCE-F191-22FB-1C45D6954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7EAC3-8BCF-EF08-2360-C5224AD0E2A8}"/>
              </a:ext>
            </a:extLst>
          </p:cNvPr>
          <p:cNvSpPr txBox="1">
            <a:spLocks/>
          </p:cNvSpPr>
          <p:nvPr/>
        </p:nvSpPr>
        <p:spPr>
          <a:xfrm>
            <a:off x="420509" y="0"/>
            <a:ext cx="10967720" cy="84162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 cap="all" baseline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Peterson’s 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3DE111-C2CD-CCB4-951E-FC04F33E4CF7}"/>
              </a:ext>
            </a:extLst>
          </p:cNvPr>
          <p:cNvSpPr txBox="1"/>
          <p:nvPr/>
        </p:nvSpPr>
        <p:spPr>
          <a:xfrm>
            <a:off x="299720" y="2502028"/>
            <a:ext cx="11069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PK" sz="2800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95312-2876-F6B3-34CF-7B4FFBD80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40" y="1027164"/>
            <a:ext cx="4979809" cy="56111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4E7B83-411F-0496-AF71-F2880E6ECD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4369" y="1027164"/>
            <a:ext cx="5366072" cy="561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8145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24840-87B7-5C2F-E6CB-CE9BD61D2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28" y="1588500"/>
            <a:ext cx="6194552" cy="2807208"/>
          </a:xfrm>
        </p:spPr>
        <p:txBody>
          <a:bodyPr>
            <a:normAutofit/>
          </a:bodyPr>
          <a:lstStyle/>
          <a:p>
            <a:r>
              <a:rPr lang="en-US" sz="8000" dirty="0"/>
              <a:t>Thank you!</a:t>
            </a:r>
            <a:endParaRPr lang="en-PK" sz="8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9812F-AABC-0688-A538-8A303FE5DAE1}"/>
              </a:ext>
            </a:extLst>
          </p:cNvPr>
          <p:cNvSpPr txBox="1"/>
          <p:nvPr/>
        </p:nvSpPr>
        <p:spPr>
          <a:xfrm>
            <a:off x="640080" y="3429000"/>
            <a:ext cx="1053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“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Cooperating processes interact and share data, resources, or communication.</a:t>
            </a:r>
          </a:p>
          <a:p>
            <a:pPr algn="ctr"/>
            <a:r>
              <a:rPr lang="en-US" dirty="0"/>
              <a:t>”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1958689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{45F63935-1AF4-4F8C-991F-4D25D3E9C223}TF2ec419c9-97c3-4958-b02a-0886397d33afcfe10e4b-d68909c4b1b0</Template>
  <TotalTime>2769</TotalTime>
  <Words>1613</Words>
  <Application>Microsoft Office PowerPoint</Application>
  <PresentationFormat>Widescreen</PresentationFormat>
  <Paragraphs>190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Rockwell</vt:lpstr>
      <vt:lpstr>Rockwell Condensed</vt:lpstr>
      <vt:lpstr>Times New Roman</vt:lpstr>
      <vt:lpstr>Wingdings</vt:lpstr>
      <vt:lpstr>Wood Type</vt:lpstr>
      <vt:lpstr>Operating systems</vt:lpstr>
      <vt:lpstr>Lecture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Adil Ahmed</cp:lastModifiedBy>
  <cp:revision>1623</cp:revision>
  <dcterms:created xsi:type="dcterms:W3CDTF">2025-10-15T06:15:30Z</dcterms:created>
  <dcterms:modified xsi:type="dcterms:W3CDTF">2026-01-18T15:33:21Z</dcterms:modified>
</cp:coreProperties>
</file>