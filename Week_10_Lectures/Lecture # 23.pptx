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6"/>
  </p:notesMasterIdLst>
  <p:sldIdLst>
    <p:sldId id="256" r:id="rId2"/>
    <p:sldId id="261" r:id="rId3"/>
    <p:sldId id="329" r:id="rId4"/>
    <p:sldId id="436" r:id="rId5"/>
    <p:sldId id="437" r:id="rId6"/>
    <p:sldId id="438" r:id="rId7"/>
    <p:sldId id="439" r:id="rId8"/>
    <p:sldId id="440" r:id="rId9"/>
    <p:sldId id="441" r:id="rId10"/>
    <p:sldId id="442" r:id="rId11"/>
    <p:sldId id="443" r:id="rId12"/>
    <p:sldId id="444" r:id="rId13"/>
    <p:sldId id="44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a:xfrm>
            <a:off x="467360" y="1432223"/>
            <a:ext cx="10551160" cy="3035808"/>
          </a:xfrm>
        </p:spPr>
        <p:txBody>
          <a:bodyPr/>
          <a:lstStyle/>
          <a:p>
            <a:pPr algn="ctr"/>
            <a:r>
              <a:rPr lang="en-US" sz="6600" b="1" dirty="0">
                <a:latin typeface="Times New Roman" panose="02020603050405020304" pitchFamily="18" charset="0"/>
                <a:cs typeface="Times New Roman" panose="02020603050405020304" pitchFamily="18" charset="0"/>
              </a:rPr>
              <a:t>Operating systems</a:t>
            </a:r>
            <a:endParaRPr lang="en-PK" sz="66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611884" y="4555573"/>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pPr algn="ctr"/>
            <a:r>
              <a:rPr lang="en-US" sz="6600" b="1" dirty="0">
                <a:latin typeface="Times New Roman" panose="02020603050405020304" pitchFamily="18" charset="0"/>
                <a:cs typeface="Times New Roman" panose="02020603050405020304" pitchFamily="18" charset="0"/>
              </a:rPr>
              <a:t>Lecture</a:t>
            </a:r>
            <a:r>
              <a:rPr lang="en-US" sz="7200" b="1" dirty="0">
                <a:latin typeface="Times New Roman" panose="02020603050405020304" pitchFamily="18" charset="0"/>
                <a:cs typeface="Times New Roman" panose="02020603050405020304" pitchFamily="18" charset="0"/>
              </a:rPr>
              <a:t> # 23</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227328" y="47447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40740F-FC80-CFC7-E7B9-046A9B19DD75}"/>
              </a:ext>
            </a:extLst>
          </p:cNvPr>
          <p:cNvSpPr txBox="1"/>
          <p:nvPr/>
        </p:nvSpPr>
        <p:spPr>
          <a:xfrm>
            <a:off x="428244" y="1842165"/>
            <a:ext cx="10026396" cy="3416320"/>
          </a:xfrm>
          <a:prstGeom prst="rect">
            <a:avLst/>
          </a:prstGeom>
          <a:noFill/>
        </p:spPr>
        <p:txBody>
          <a:bodyPr wrap="square">
            <a:spAutoFit/>
          </a:bodyPr>
          <a:lstStyle/>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Memory Management</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Logical and Physical Address Space</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Memory Management Unit (MMU)</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Static and Dynamic Loading</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Dynamic Linking and Shared Libraries</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Swapping</a:t>
            </a: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EF17-EFBC-EFA0-20FD-6DCDD2D484E9}"/>
              </a:ext>
            </a:extLst>
          </p:cNvPr>
          <p:cNvSpPr txBox="1">
            <a:spLocks/>
          </p:cNvSpPr>
          <p:nvPr/>
        </p:nvSpPr>
        <p:spPr>
          <a:xfrm>
            <a:off x="2532380" y="290116"/>
            <a:ext cx="733298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Memory management</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804F6741-DD42-063A-103D-BB5148BB0F44}"/>
              </a:ext>
            </a:extLst>
          </p:cNvPr>
          <p:cNvSpPr>
            <a:spLocks noChangeArrowheads="1"/>
          </p:cNvSpPr>
          <p:nvPr/>
        </p:nvSpPr>
        <p:spPr bwMode="auto">
          <a:xfrm>
            <a:off x="1167130" y="1166607"/>
            <a:ext cx="1026414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defTabSz="914400" eaLnBrk="0" fontAlgn="base" hangingPunct="0">
              <a:spcBef>
                <a:spcPct val="0"/>
              </a:spcBef>
              <a:spcAft>
                <a:spcPct val="0"/>
              </a:spcAft>
            </a:pPr>
            <a:r>
              <a:rPr lang="en-US" sz="2000" dirty="0">
                <a:latin typeface="Times New Roman" panose="02020603050405020304" pitchFamily="18" charset="0"/>
                <a:ea typeface="Tahoma" panose="020B0604030504040204" pitchFamily="34" charset="0"/>
                <a:cs typeface="Times New Roman" panose="02020603050405020304" pitchFamily="18" charset="0"/>
              </a:rPr>
              <a:t>Memory is a fundamental component of a computer system that stores data and instructions required for processing. It enables the CPU to execute programs efficiently by providing fast access to information and plays a vital role in ensuring smooth and reliable system operation.</a:t>
            </a:r>
            <a:endParaRPr lang="en-PK" altLang="en-PK"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4E0DC206-B2A9-A440-B89C-4D9F23E1E4A4}"/>
              </a:ext>
            </a:extLst>
          </p:cNvPr>
          <p:cNvPicPr>
            <a:picLocks noChangeAspect="1"/>
          </p:cNvPicPr>
          <p:nvPr/>
        </p:nvPicPr>
        <p:blipFill>
          <a:blip r:embed="rId3"/>
          <a:stretch>
            <a:fillRect/>
          </a:stretch>
        </p:blipFill>
        <p:spPr>
          <a:xfrm>
            <a:off x="2341880" y="2485278"/>
            <a:ext cx="7508240" cy="4082606"/>
          </a:xfrm>
          <a:prstGeom prst="rect">
            <a:avLst/>
          </a:prstGeom>
        </p:spPr>
      </p:pic>
    </p:spTree>
    <p:extLst>
      <p:ext uri="{BB962C8B-B14F-4D97-AF65-F5344CB8AC3E}">
        <p14:creationId xmlns:p14="http://schemas.microsoft.com/office/powerpoint/2010/main" val="100777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950DA-30F6-305D-1AE4-5EC6C9B3B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4B945-6D1C-007B-927A-69AB79776DE4}"/>
              </a:ext>
            </a:extLst>
          </p:cNvPr>
          <p:cNvSpPr txBox="1">
            <a:spLocks/>
          </p:cNvSpPr>
          <p:nvPr/>
        </p:nvSpPr>
        <p:spPr>
          <a:xfrm>
            <a:off x="1090930" y="38155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LOGICAL AND PHYSICAL ADDRESS SPACE</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3D6B5BE-D74C-9746-6249-E3052D82BC24}"/>
              </a:ext>
            </a:extLst>
          </p:cNvPr>
          <p:cNvSpPr txBox="1"/>
          <p:nvPr/>
        </p:nvSpPr>
        <p:spPr>
          <a:xfrm>
            <a:off x="965200" y="1147356"/>
            <a:ext cx="10414000" cy="4893647"/>
          </a:xfrm>
          <a:prstGeom prst="rect">
            <a:avLst/>
          </a:prstGeom>
          <a:noFill/>
        </p:spPr>
        <p:txBody>
          <a:bodyPr wrap="square">
            <a:spAutoFit/>
          </a:bodyPr>
          <a:lstStyle/>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Memory access in operating systems happens through two types of addresses</a:t>
            </a:r>
          </a:p>
          <a:p>
            <a:pPr marL="914400" lvl="1" indent="-4572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Logical address</a:t>
            </a:r>
            <a:r>
              <a:rPr lang="en-US" sz="2400" dirty="0">
                <a:latin typeface="Times New Roman" panose="02020603050405020304" pitchFamily="18" charset="0"/>
                <a:cs typeface="Times New Roman" panose="02020603050405020304" pitchFamily="18" charset="0"/>
              </a:rPr>
              <a:t>– generated by the CPU; also referred to as virtual address</a:t>
            </a:r>
          </a:p>
          <a:p>
            <a:pPr marL="914400" lvl="1" indent="-4572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Physical address</a:t>
            </a:r>
            <a:r>
              <a:rPr lang="en-US" sz="2400" dirty="0">
                <a:latin typeface="Times New Roman" panose="02020603050405020304" pitchFamily="18" charset="0"/>
                <a:cs typeface="Times New Roman" panose="02020603050405020304" pitchFamily="18" charset="0"/>
              </a:rPr>
              <a:t>– address seen by the memory unit </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Memory Management Unit (MMU) </a:t>
            </a:r>
            <a:r>
              <a:rPr lang="en-US" sz="2400" dirty="0">
                <a:latin typeface="Times New Roman" panose="02020603050405020304" pitchFamily="18" charset="0"/>
                <a:cs typeface="Times New Roman" panose="02020603050405020304" pitchFamily="18" charset="0"/>
              </a:rPr>
              <a:t>sits between the CPU and the physical memory. Its job is to translate every logical address into the correct physical address.</a:t>
            </a:r>
          </a:p>
          <a:p>
            <a:pPr marL="457200" indent="-4572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Logical and physical addresses are the same in compile-time and load-time address-binding schemes; logical (virtual) and physical addresses differ in execution-time address-binding scheme.</a:t>
            </a:r>
          </a:p>
          <a:p>
            <a:pPr marL="457200" indent="-457200" algn="just">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Logical address space </a:t>
            </a:r>
            <a:r>
              <a:rPr lang="en-US" sz="2400" dirty="0">
                <a:latin typeface="Times New Roman" panose="02020603050405020304" pitchFamily="18" charset="0"/>
                <a:cs typeface="Times New Roman" panose="02020603050405020304" pitchFamily="18" charset="0"/>
              </a:rPr>
              <a:t>is the set of all logical addresses generated by a program.</a:t>
            </a:r>
          </a:p>
          <a:p>
            <a:pPr marL="457200" indent="-457200" algn="just">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Physical address space </a:t>
            </a:r>
            <a:r>
              <a:rPr lang="en-US" sz="2400" dirty="0">
                <a:latin typeface="Times New Roman" panose="02020603050405020304" pitchFamily="18" charset="0"/>
                <a:cs typeface="Times New Roman" panose="02020603050405020304" pitchFamily="18" charset="0"/>
              </a:rPr>
              <a:t>is the set of all physical addresses generated by a program</a:t>
            </a:r>
            <a:endParaRPr lang="en-P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893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CE402-19FB-0E56-7965-BDA4544D2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6BA87-C63A-DE66-A1B0-419540EA503A}"/>
              </a:ext>
            </a:extLst>
          </p:cNvPr>
          <p:cNvSpPr txBox="1">
            <a:spLocks/>
          </p:cNvSpPr>
          <p:nvPr/>
        </p:nvSpPr>
        <p:spPr>
          <a:xfrm>
            <a:off x="1090930" y="38155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LOGICAL AND PHYSICAL ADDRESS SPACE</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D4610C0-3FBA-D7D5-35AA-5B0DD5AD84DB}"/>
              </a:ext>
            </a:extLst>
          </p:cNvPr>
          <p:cNvSpPr txBox="1"/>
          <p:nvPr/>
        </p:nvSpPr>
        <p:spPr>
          <a:xfrm>
            <a:off x="965200" y="1147356"/>
            <a:ext cx="10414000" cy="707886"/>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Whenever the CPU accesses memory, it sends a logical address → the MMU converts it → the corresponding physical address in RAM is accessed.</a:t>
            </a:r>
            <a:endParaRPr lang="en-PK"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F393D6D-D72E-A8DC-8B1D-E2D96ACBD04E}"/>
              </a:ext>
            </a:extLst>
          </p:cNvPr>
          <p:cNvPicPr>
            <a:picLocks noChangeAspect="1"/>
          </p:cNvPicPr>
          <p:nvPr/>
        </p:nvPicPr>
        <p:blipFill>
          <a:blip r:embed="rId3"/>
          <a:stretch>
            <a:fillRect/>
          </a:stretch>
        </p:blipFill>
        <p:spPr>
          <a:xfrm>
            <a:off x="7074684" y="1793687"/>
            <a:ext cx="4941435" cy="5064313"/>
          </a:xfrm>
          <a:prstGeom prst="rect">
            <a:avLst/>
          </a:prstGeom>
        </p:spPr>
      </p:pic>
      <p:sp>
        <p:nvSpPr>
          <p:cNvPr id="7" name="TextBox 6">
            <a:extLst>
              <a:ext uri="{FF2B5EF4-FFF2-40B4-BE49-F238E27FC236}">
                <a16:creationId xmlns:a16="http://schemas.microsoft.com/office/drawing/2014/main" id="{54C9016E-BD97-15D6-0B5F-38663FD856FD}"/>
              </a:ext>
            </a:extLst>
          </p:cNvPr>
          <p:cNvSpPr txBox="1"/>
          <p:nvPr/>
        </p:nvSpPr>
        <p:spPr>
          <a:xfrm>
            <a:off x="589280" y="3125322"/>
            <a:ext cx="6096000" cy="1938992"/>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Base Register: </a:t>
            </a:r>
            <a:r>
              <a:rPr lang="en-US" sz="2000" dirty="0">
                <a:latin typeface="Times New Roman" panose="02020603050405020304" pitchFamily="18" charset="0"/>
                <a:cs typeface="Times New Roman" panose="02020603050405020304" pitchFamily="18" charset="0"/>
              </a:rPr>
              <a:t>Stores the </a:t>
            </a:r>
            <a:r>
              <a:rPr lang="en-US" sz="2000" b="1" dirty="0">
                <a:latin typeface="Times New Roman" panose="02020603050405020304" pitchFamily="18" charset="0"/>
                <a:cs typeface="Times New Roman" panose="02020603050405020304" pitchFamily="18" charset="0"/>
              </a:rPr>
              <a:t>starting (lowest) physical memory address</a:t>
            </a:r>
            <a:r>
              <a:rPr lang="en-US" sz="2000" dirty="0">
                <a:latin typeface="Times New Roman" panose="02020603050405020304" pitchFamily="18" charset="0"/>
                <a:cs typeface="Times New Roman" panose="02020603050405020304" pitchFamily="18" charset="0"/>
              </a:rPr>
              <a:t> that a process is allowed to access.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 Register: </a:t>
            </a:r>
            <a:r>
              <a:rPr lang="en-US" sz="2000" dirty="0">
                <a:latin typeface="Times New Roman" panose="02020603050405020304" pitchFamily="18" charset="0"/>
                <a:cs typeface="Times New Roman" panose="02020603050405020304" pitchFamily="18" charset="0"/>
              </a:rPr>
              <a:t>Stores the </a:t>
            </a:r>
            <a:r>
              <a:rPr lang="en-US" sz="2000" b="1" dirty="0">
                <a:latin typeface="Times New Roman" panose="02020603050405020304" pitchFamily="18" charset="0"/>
                <a:cs typeface="Times New Roman" panose="02020603050405020304" pitchFamily="18" charset="0"/>
              </a:rPr>
              <a:t>size (range)</a:t>
            </a:r>
            <a:r>
              <a:rPr lang="en-US" sz="2000" dirty="0">
                <a:latin typeface="Times New Roman" panose="02020603050405020304" pitchFamily="18" charset="0"/>
                <a:cs typeface="Times New Roman" panose="02020603050405020304" pitchFamily="18" charset="0"/>
              </a:rPr>
              <a:t> of the memory allocated to that process.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Together, they define the </a:t>
            </a:r>
            <a:r>
              <a:rPr lang="en-US" sz="2000" b="1" dirty="0">
                <a:latin typeface="Times New Roman" panose="02020603050405020304" pitchFamily="18" charset="0"/>
                <a:cs typeface="Times New Roman" panose="02020603050405020304" pitchFamily="18" charset="0"/>
              </a:rPr>
              <a:t>logical address space</a:t>
            </a:r>
            <a:r>
              <a:rPr lang="en-US" sz="2000" dirty="0">
                <a:latin typeface="Times New Roman" panose="02020603050405020304" pitchFamily="18" charset="0"/>
                <a:cs typeface="Times New Roman" panose="02020603050405020304" pitchFamily="18" charset="0"/>
              </a:rPr>
              <a:t> of a process.</a:t>
            </a:r>
          </a:p>
        </p:txBody>
      </p:sp>
    </p:spTree>
    <p:extLst>
      <p:ext uri="{BB962C8B-B14F-4D97-AF65-F5344CB8AC3E}">
        <p14:creationId xmlns:p14="http://schemas.microsoft.com/office/powerpoint/2010/main" val="3651638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DC343-60D8-8550-CB21-3A5E6D0DA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01FD1-702C-EE56-3D09-0DBCDA24FC82}"/>
              </a:ext>
            </a:extLst>
          </p:cNvPr>
          <p:cNvSpPr txBox="1">
            <a:spLocks/>
          </p:cNvSpPr>
          <p:nvPr/>
        </p:nvSpPr>
        <p:spPr>
          <a:xfrm>
            <a:off x="1090930" y="38155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Memory Management Unit (MMU)</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AC00E5-C124-7A89-7CFD-9D9ECA67A521}"/>
              </a:ext>
            </a:extLst>
          </p:cNvPr>
          <p:cNvSpPr txBox="1"/>
          <p:nvPr/>
        </p:nvSpPr>
        <p:spPr>
          <a:xfrm>
            <a:off x="965200" y="1320076"/>
            <a:ext cx="10414000" cy="1569660"/>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Memory Management Unit (MMU)</a:t>
            </a:r>
            <a:r>
              <a:rPr lang="en-US" sz="2400" dirty="0">
                <a:latin typeface="Times New Roman" panose="02020603050405020304" pitchFamily="18" charset="0"/>
                <a:cs typeface="Times New Roman" panose="02020603050405020304" pitchFamily="18" charset="0"/>
              </a:rPr>
              <a:t> is a hardware component that translates CPU-generated </a:t>
            </a:r>
            <a:r>
              <a:rPr lang="en-US" sz="2400" b="1" dirty="0">
                <a:latin typeface="Times New Roman" panose="02020603050405020304" pitchFamily="18" charset="0"/>
                <a:cs typeface="Times New Roman" panose="02020603050405020304" pitchFamily="18" charset="0"/>
              </a:rPr>
              <a:t>virtual addresses</a:t>
            </a:r>
            <a:r>
              <a:rPr lang="en-US" sz="2400" dirty="0">
                <a:latin typeface="Times New Roman" panose="02020603050405020304" pitchFamily="18" charset="0"/>
                <a:cs typeface="Times New Roman" panose="02020603050405020304" pitchFamily="18" charset="0"/>
              </a:rPr>
              <a:t> into </a:t>
            </a:r>
            <a:r>
              <a:rPr lang="en-US" sz="2400" b="1" dirty="0">
                <a:latin typeface="Times New Roman" panose="02020603050405020304" pitchFamily="18" charset="0"/>
                <a:cs typeface="Times New Roman" panose="02020603050405020304" pitchFamily="18" charset="0"/>
              </a:rPr>
              <a:t>physical memory addresses</a:t>
            </a:r>
            <a:r>
              <a:rPr lang="en-US" sz="2400" dirty="0">
                <a:latin typeface="Times New Roman" panose="02020603050405020304" pitchFamily="18" charset="0"/>
                <a:cs typeface="Times New Roman" panose="02020603050405020304" pitchFamily="18" charset="0"/>
              </a:rPr>
              <a:t>, manages </a:t>
            </a:r>
            <a:r>
              <a:rPr lang="en-US" sz="2400" b="1" dirty="0">
                <a:latin typeface="Times New Roman" panose="02020603050405020304" pitchFamily="18" charset="0"/>
                <a:cs typeface="Times New Roman" panose="02020603050405020304" pitchFamily="18" charset="0"/>
              </a:rPr>
              <a:t>memory protection</a:t>
            </a:r>
            <a:r>
              <a:rPr lang="en-US" sz="2400" dirty="0">
                <a:latin typeface="Times New Roman" panose="02020603050405020304" pitchFamily="18" charset="0"/>
                <a:cs typeface="Times New Roman" panose="02020603050405020304" pitchFamily="18" charset="0"/>
              </a:rPr>
              <a:t>, supports </a:t>
            </a:r>
            <a:r>
              <a:rPr lang="en-US" sz="2400" b="1" dirty="0">
                <a:latin typeface="Times New Roman" panose="02020603050405020304" pitchFamily="18" charset="0"/>
                <a:cs typeface="Times New Roman" panose="02020603050405020304" pitchFamily="18" charset="0"/>
              </a:rPr>
              <a:t>paging and segmentation</a:t>
            </a:r>
            <a:r>
              <a:rPr lang="en-US" sz="2400" dirty="0">
                <a:latin typeface="Times New Roman" panose="02020603050405020304" pitchFamily="18" charset="0"/>
                <a:cs typeface="Times New Roman" panose="02020603050405020304" pitchFamily="18" charset="0"/>
              </a:rPr>
              <a:t>, and works with the OS for </a:t>
            </a:r>
            <a:r>
              <a:rPr lang="en-US" sz="2400" b="1" dirty="0">
                <a:latin typeface="Times New Roman" panose="02020603050405020304" pitchFamily="18" charset="0"/>
                <a:cs typeface="Times New Roman" panose="02020603050405020304" pitchFamily="18" charset="0"/>
              </a:rPr>
              <a:t>efficient memory use</a:t>
            </a:r>
            <a:r>
              <a:rPr lang="en-US" sz="2400" dirty="0">
                <a:latin typeface="Times New Roman" panose="02020603050405020304" pitchFamily="18" charset="0"/>
                <a:cs typeface="Times New Roman" panose="02020603050405020304" pitchFamily="18" charset="0"/>
              </a:rPr>
              <a:t>, caching, and multitasking.</a:t>
            </a:r>
            <a:endParaRPr lang="en-PK"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363E3F0-CC43-19F0-F025-3E70623BCD43}"/>
              </a:ext>
            </a:extLst>
          </p:cNvPr>
          <p:cNvPicPr>
            <a:picLocks noChangeAspect="1"/>
          </p:cNvPicPr>
          <p:nvPr/>
        </p:nvPicPr>
        <p:blipFill>
          <a:blip r:embed="rId3"/>
          <a:stretch>
            <a:fillRect/>
          </a:stretch>
        </p:blipFill>
        <p:spPr>
          <a:xfrm>
            <a:off x="5933440" y="3029984"/>
            <a:ext cx="6126481" cy="3721039"/>
          </a:xfrm>
          <a:prstGeom prst="rect">
            <a:avLst/>
          </a:prstGeom>
        </p:spPr>
      </p:pic>
    </p:spTree>
    <p:extLst>
      <p:ext uri="{BB962C8B-B14F-4D97-AF65-F5344CB8AC3E}">
        <p14:creationId xmlns:p14="http://schemas.microsoft.com/office/powerpoint/2010/main" val="138543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FDFC-1F9C-1D36-93E9-293D905F7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86DF3-6B3D-AF01-F21A-D57D8AF071C4}"/>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STATIC AND DYNAMIC LOADING</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CF241CE-5464-B561-ED48-A2161C04E518}"/>
              </a:ext>
            </a:extLst>
          </p:cNvPr>
          <p:cNvSpPr txBox="1"/>
          <p:nvPr/>
        </p:nvSpPr>
        <p:spPr>
          <a:xfrm>
            <a:off x="965200" y="1381036"/>
            <a:ext cx="10414000" cy="4401205"/>
          </a:xfrm>
          <a:prstGeom prst="rect">
            <a:avLst/>
          </a:prstGeom>
          <a:noFill/>
        </p:spPr>
        <p:txBody>
          <a:bodyPr wrap="square">
            <a:spAutoFit/>
          </a:bodyPr>
          <a:lstStyle/>
          <a:p>
            <a:pPr marL="457200" indent="-457200" algn="just" fontAlgn="base">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Loading a process into the main memory is done by a loader. There are two different types of loading :</a:t>
            </a:r>
          </a:p>
          <a:p>
            <a:pPr marL="971550" lvl="1" indent="-514350" algn="just" fontAlgn="base">
              <a:buFont typeface="+mj-lt"/>
              <a:buAutoNum type="arabicPeriod"/>
            </a:pPr>
            <a:r>
              <a:rPr lang="en-US" sz="2800" b="1" dirty="0">
                <a:latin typeface="Times New Roman" panose="02020603050405020304" pitchFamily="18" charset="0"/>
                <a:cs typeface="Times New Roman" panose="02020603050405020304" pitchFamily="18" charset="0"/>
              </a:rPr>
              <a:t>Static Loading:</a:t>
            </a:r>
            <a:r>
              <a:rPr lang="en-US" sz="2800" dirty="0">
                <a:latin typeface="Times New Roman" panose="02020603050405020304" pitchFamily="18" charset="0"/>
                <a:cs typeface="Times New Roman" panose="02020603050405020304" pitchFamily="18" charset="0"/>
              </a:rPr>
              <a:t> Static Loading is basically loading the entire program into a fixed address. It requires more memory space.</a:t>
            </a:r>
          </a:p>
          <a:p>
            <a:pPr marL="971550" lvl="1" indent="-514350" algn="just" fontAlgn="base">
              <a:buFont typeface="+mj-lt"/>
              <a:buAutoNum type="arabicPeriod"/>
            </a:pPr>
            <a:r>
              <a:rPr lang="en-US" sz="2800" b="1" dirty="0">
                <a:latin typeface="Times New Roman" panose="02020603050405020304" pitchFamily="18" charset="0"/>
                <a:cs typeface="Times New Roman" panose="02020603050405020304" pitchFamily="18" charset="0"/>
              </a:rPr>
              <a:t>Dynamic Loading:</a:t>
            </a:r>
            <a:r>
              <a:rPr lang="en-US" sz="2800" dirty="0">
                <a:latin typeface="Times New Roman" panose="02020603050405020304" pitchFamily="18" charset="0"/>
                <a:cs typeface="Times New Roman" panose="02020603050405020304" pitchFamily="18" charset="0"/>
              </a:rPr>
              <a:t> Dynamic loading loads program routines into memory only when they are needed. This saves memory by not loading unused routines. The routines remain on disk in relocatable(can be loaded at any memory location) format until called. It allows better memory utilization, especially for large programs</a:t>
            </a:r>
          </a:p>
        </p:txBody>
      </p:sp>
    </p:spTree>
    <p:extLst>
      <p:ext uri="{BB962C8B-B14F-4D97-AF65-F5344CB8AC3E}">
        <p14:creationId xmlns:p14="http://schemas.microsoft.com/office/powerpoint/2010/main" val="1280322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FDBC-53AB-67BC-CC27-CF34FD35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DC8B-E49F-638A-E0FC-B5DC17D5F466}"/>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Dynamic Linking and Shared Libraries</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A2C28BF-1BFD-4877-0315-56289D6EA198}"/>
              </a:ext>
            </a:extLst>
          </p:cNvPr>
          <p:cNvSpPr txBox="1"/>
          <p:nvPr/>
        </p:nvSpPr>
        <p:spPr>
          <a:xfrm>
            <a:off x="965200" y="1381036"/>
            <a:ext cx="10414000" cy="5186035"/>
          </a:xfrm>
          <a:prstGeom prst="rect">
            <a:avLst/>
          </a:prstGeom>
          <a:noFill/>
        </p:spPr>
        <p:txBody>
          <a:bodyPr wrap="square">
            <a:spAutoFit/>
          </a:bodyPr>
          <a:lstStyle/>
          <a:p>
            <a:pPr marL="457200" indent="-457200" algn="just" fontAlgn="base">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Dynamically linked libraries (DLLs) are system libraries that are linked to user programs when the programs are run.</a:t>
            </a:r>
          </a:p>
          <a:p>
            <a:pPr marL="457200" indent="-457200" algn="just" fontAlgn="base">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A </a:t>
            </a:r>
            <a:r>
              <a:rPr lang="en-US" sz="2500" b="1" dirty="0">
                <a:latin typeface="Times New Roman" panose="02020603050405020304" pitchFamily="18" charset="0"/>
                <a:cs typeface="Times New Roman" panose="02020603050405020304" pitchFamily="18" charset="0"/>
              </a:rPr>
              <a:t>linker</a:t>
            </a:r>
            <a:r>
              <a:rPr lang="en-US" sz="2500" dirty="0">
                <a:latin typeface="Times New Roman" panose="02020603050405020304" pitchFamily="18" charset="0"/>
                <a:cs typeface="Times New Roman" panose="02020603050405020304" pitchFamily="18" charset="0"/>
              </a:rPr>
              <a:t> combines object files into a single executable.</a:t>
            </a:r>
          </a:p>
          <a:p>
            <a:pPr marL="971550" lvl="1" indent="-514350" algn="just" fontAlgn="base">
              <a:buFont typeface="+mj-lt"/>
              <a:buAutoNum type="arabicPeriod"/>
            </a:pPr>
            <a:r>
              <a:rPr lang="en-US" sz="2500" b="1" dirty="0">
                <a:latin typeface="Times New Roman" panose="02020603050405020304" pitchFamily="18" charset="0"/>
                <a:cs typeface="Times New Roman" panose="02020603050405020304" pitchFamily="18" charset="0"/>
              </a:rPr>
              <a:t>Static Linking:</a:t>
            </a:r>
            <a:r>
              <a:rPr lang="en-US" sz="2500" dirty="0">
                <a:latin typeface="Times New Roman" panose="02020603050405020304" pitchFamily="18" charset="0"/>
                <a:cs typeface="Times New Roman" panose="02020603050405020304" pitchFamily="18" charset="0"/>
              </a:rPr>
              <a:t> All required modules are combined into one executable. No runtime dependency; some OSes support only this method.</a:t>
            </a:r>
          </a:p>
          <a:p>
            <a:pPr marL="971550" lvl="1" indent="-514350" algn="just" fontAlgn="base">
              <a:buFont typeface="+mj-lt"/>
              <a:buAutoNum type="arabicPeriod"/>
            </a:pPr>
            <a:r>
              <a:rPr lang="en-US" sz="2500" b="1" dirty="0">
                <a:latin typeface="Times New Roman" panose="02020603050405020304" pitchFamily="18" charset="0"/>
                <a:cs typeface="Times New Roman" panose="02020603050405020304" pitchFamily="18" charset="0"/>
              </a:rPr>
              <a:t>Dynamic Linking:</a:t>
            </a:r>
            <a:r>
              <a:rPr lang="en-US" sz="2500" dirty="0">
                <a:latin typeface="Times New Roman" panose="02020603050405020304" pitchFamily="18" charset="0"/>
                <a:cs typeface="Times New Roman" panose="02020603050405020304" pitchFamily="18" charset="0"/>
              </a:rPr>
              <a:t> Uses a </a:t>
            </a:r>
            <a:r>
              <a:rPr lang="en-US" sz="2500" b="1" dirty="0">
                <a:latin typeface="Times New Roman" panose="02020603050405020304" pitchFamily="18" charset="0"/>
                <a:cs typeface="Times New Roman" panose="02020603050405020304" pitchFamily="18" charset="0"/>
              </a:rPr>
              <a:t>stub</a:t>
            </a:r>
            <a:r>
              <a:rPr lang="en-US" sz="2500" dirty="0">
                <a:latin typeface="Times New Roman" panose="02020603050405020304" pitchFamily="18" charset="0"/>
                <a:cs typeface="Times New Roman" panose="02020603050405020304" pitchFamily="18" charset="0"/>
              </a:rPr>
              <a:t> (small code) for library calls. At runtime, the stub checks if the routine is in memory; if not, it loads it</a:t>
            </a:r>
          </a:p>
          <a:p>
            <a:pPr marL="457200" indent="-457200" algn="just" fontAlgn="base">
              <a:buFont typeface="Wingdings" panose="05000000000000000000" pitchFamily="2" charset="2"/>
              <a:buChar char="ü"/>
            </a:pPr>
            <a:r>
              <a:rPr lang="en-US" sz="2500" dirty="0">
                <a:latin typeface="Times New Roman" panose="02020603050405020304" pitchFamily="18" charset="0"/>
                <a:cs typeface="Times New Roman" panose="02020603050405020304" pitchFamily="18" charset="0"/>
              </a:rPr>
              <a:t>Lots of programs need to access the same system libraries and there's two ways to do it. One solution is </a:t>
            </a:r>
            <a:r>
              <a:rPr lang="en-US" sz="2500" b="1" dirty="0">
                <a:latin typeface="Times New Roman" panose="02020603050405020304" pitchFamily="18" charset="0"/>
                <a:cs typeface="Times New Roman" panose="02020603050405020304" pitchFamily="18" charset="0"/>
              </a:rPr>
              <a:t>static linking</a:t>
            </a:r>
            <a:r>
              <a:rPr lang="en-US" sz="2500" dirty="0">
                <a:latin typeface="Times New Roman" panose="02020603050405020304" pitchFamily="18" charset="0"/>
                <a:cs typeface="Times New Roman" panose="02020603050405020304" pitchFamily="18" charset="0"/>
              </a:rPr>
              <a:t>, where each program gets its own copy of the library included in its executable at compile-time. The alternative is </a:t>
            </a:r>
            <a:r>
              <a:rPr lang="en-US" sz="2500" b="1" dirty="0">
                <a:latin typeface="Times New Roman" panose="02020603050405020304" pitchFamily="18" charset="0"/>
                <a:cs typeface="Times New Roman" panose="02020603050405020304" pitchFamily="18" charset="0"/>
              </a:rPr>
              <a:t>dynamic linking</a:t>
            </a:r>
            <a:r>
              <a:rPr lang="en-US" sz="2500" dirty="0">
                <a:latin typeface="Times New Roman" panose="02020603050405020304" pitchFamily="18" charset="0"/>
                <a:cs typeface="Times New Roman" panose="02020603050405020304" pitchFamily="18" charset="0"/>
              </a:rPr>
              <a:t>, where one copy of the system library is shared between each program and they call it at runtime, facilitated by the operating system.</a:t>
            </a:r>
          </a:p>
        </p:txBody>
      </p:sp>
    </p:spTree>
    <p:extLst>
      <p:ext uri="{BB962C8B-B14F-4D97-AF65-F5344CB8AC3E}">
        <p14:creationId xmlns:p14="http://schemas.microsoft.com/office/powerpoint/2010/main" val="2025259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8EEDD-4D28-F53A-72EB-206ACF9398C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72B674-CCA5-B273-BDD8-A62B767A4E24}"/>
              </a:ext>
            </a:extLst>
          </p:cNvPr>
          <p:cNvPicPr>
            <a:picLocks noChangeAspect="1"/>
          </p:cNvPicPr>
          <p:nvPr/>
        </p:nvPicPr>
        <p:blipFill>
          <a:blip r:embed="rId2"/>
          <a:stretch>
            <a:fillRect/>
          </a:stretch>
        </p:blipFill>
        <p:spPr>
          <a:xfrm>
            <a:off x="7882255" y="660619"/>
            <a:ext cx="4210050" cy="6124575"/>
          </a:xfrm>
          <a:prstGeom prst="rect">
            <a:avLst/>
          </a:prstGeom>
        </p:spPr>
      </p:pic>
      <p:sp>
        <p:nvSpPr>
          <p:cNvPr id="2" name="Title 1">
            <a:extLst>
              <a:ext uri="{FF2B5EF4-FFF2-40B4-BE49-F238E27FC236}">
                <a16:creationId xmlns:a16="http://schemas.microsoft.com/office/drawing/2014/main" id="{26719BF6-4203-AE88-2D86-D95F5754B87A}"/>
              </a:ext>
            </a:extLst>
          </p:cNvPr>
          <p:cNvSpPr txBox="1">
            <a:spLocks/>
          </p:cNvSpPr>
          <p:nvPr/>
        </p:nvSpPr>
        <p:spPr>
          <a:xfrm>
            <a:off x="466091" y="180837"/>
            <a:ext cx="93738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DYNAMICALLY LINKED LIBRARIES</a:t>
            </a:r>
            <a:endParaRPr lang="en-PK" sz="3600" b="1"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8326EA-9BFB-F2FA-41B7-008CC7A85FFB}"/>
              </a:ext>
            </a:extLst>
          </p:cNvPr>
          <p:cNvPicPr>
            <a:picLocks noChangeAspect="1"/>
          </p:cNvPicPr>
          <p:nvPr/>
        </p:nvPicPr>
        <p:blipFill>
          <a:blip r:embed="rId4"/>
          <a:stretch>
            <a:fillRect/>
          </a:stretch>
        </p:blipFill>
        <p:spPr>
          <a:xfrm>
            <a:off x="742315" y="1970088"/>
            <a:ext cx="6725285" cy="2218454"/>
          </a:xfrm>
          <a:prstGeom prst="rect">
            <a:avLst/>
          </a:prstGeom>
        </p:spPr>
      </p:pic>
      <p:sp>
        <p:nvSpPr>
          <p:cNvPr id="8" name="TextBox 7">
            <a:extLst>
              <a:ext uri="{FF2B5EF4-FFF2-40B4-BE49-F238E27FC236}">
                <a16:creationId xmlns:a16="http://schemas.microsoft.com/office/drawing/2014/main" id="{6BDECA84-5413-A389-B829-9E1DB19A807E}"/>
              </a:ext>
            </a:extLst>
          </p:cNvPr>
          <p:cNvSpPr txBox="1"/>
          <p:nvPr/>
        </p:nvSpPr>
        <p:spPr>
          <a:xfrm>
            <a:off x="592138" y="5560793"/>
            <a:ext cx="7189470" cy="923330"/>
          </a:xfrm>
          <a:prstGeom prst="rect">
            <a:avLst/>
          </a:prstGeom>
          <a:noFill/>
        </p:spPr>
        <p:txBody>
          <a:bodyPr wrap="square">
            <a:spAutoFit/>
          </a:bodyPr>
          <a:lstStyle/>
          <a:p>
            <a:r>
              <a:rPr lang="en-US" b="1" dirty="0"/>
              <a:t>Overall Flow:</a:t>
            </a:r>
          </a:p>
          <a:p>
            <a:pPr algn="ctr"/>
            <a:r>
              <a:rPr lang="en-US" dirty="0"/>
              <a:t>CPU → MMU → Loader (Static/Dynamic) → Linker (Static/Dynamic) → Main Memory → Swapping by OS.</a:t>
            </a:r>
            <a:endParaRPr lang="en-PK" dirty="0"/>
          </a:p>
        </p:txBody>
      </p:sp>
    </p:spTree>
    <p:extLst>
      <p:ext uri="{BB962C8B-B14F-4D97-AF65-F5344CB8AC3E}">
        <p14:creationId xmlns:p14="http://schemas.microsoft.com/office/powerpoint/2010/main" val="4189958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5E40-9615-5BCC-F834-9091285C9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44712-1185-5FDC-247F-34874D20928D}"/>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sWAPPING</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CF2F826-708C-5C5E-94A0-93BAF15311B1}"/>
              </a:ext>
            </a:extLst>
          </p:cNvPr>
          <p:cNvSpPr txBox="1"/>
          <p:nvPr/>
        </p:nvSpPr>
        <p:spPr>
          <a:xfrm>
            <a:off x="965200" y="1198156"/>
            <a:ext cx="10414000" cy="5401479"/>
          </a:xfrm>
          <a:prstGeom prst="rect">
            <a:avLst/>
          </a:prstGeom>
          <a:noFill/>
        </p:spPr>
        <p:txBody>
          <a:bodyPr wrap="square">
            <a:spAutoFit/>
          </a:bodyPr>
          <a:lstStyle/>
          <a:p>
            <a:pPr marL="457200" indent="-457200" algn="just" fontAlgn="base">
              <a:buFont typeface="Wingdings" panose="05000000000000000000" pitchFamily="2" charset="2"/>
              <a:buChar char="ü"/>
            </a:pPr>
            <a:r>
              <a:rPr lang="en-US" sz="2300" b="1" dirty="0">
                <a:latin typeface="Times New Roman" panose="02020603050405020304" pitchFamily="18" charset="0"/>
                <a:cs typeface="Times New Roman" panose="02020603050405020304" pitchFamily="18" charset="0"/>
              </a:rPr>
              <a:t>Swapping</a:t>
            </a:r>
            <a:r>
              <a:rPr lang="en-US" sz="2300" dirty="0">
                <a:latin typeface="Times New Roman" panose="02020603050405020304" pitchFamily="18" charset="0"/>
                <a:cs typeface="Times New Roman" panose="02020603050405020304" pitchFamily="18" charset="0"/>
              </a:rPr>
              <a:t> moves processes between </a:t>
            </a:r>
            <a:r>
              <a:rPr lang="en-US" sz="2300" b="1" dirty="0">
                <a:latin typeface="Times New Roman" panose="02020603050405020304" pitchFamily="18" charset="0"/>
                <a:cs typeface="Times New Roman" panose="02020603050405020304" pitchFamily="18" charset="0"/>
              </a:rPr>
              <a:t>main memory </a:t>
            </a:r>
            <a:r>
              <a:rPr lang="en-US" sz="2300" dirty="0">
                <a:latin typeface="Times New Roman" panose="02020603050405020304" pitchFamily="18" charset="0"/>
                <a:cs typeface="Times New Roman" panose="02020603050405020304" pitchFamily="18" charset="0"/>
              </a:rPr>
              <a:t>and </a:t>
            </a:r>
            <a:r>
              <a:rPr lang="en-US" sz="2300" b="1" dirty="0">
                <a:latin typeface="Times New Roman" panose="02020603050405020304" pitchFamily="18" charset="0"/>
                <a:cs typeface="Times New Roman" panose="02020603050405020304" pitchFamily="18" charset="0"/>
              </a:rPr>
              <a:t>secondary memory </a:t>
            </a:r>
            <a:r>
              <a:rPr lang="en-US" sz="2300" dirty="0">
                <a:latin typeface="Times New Roman" panose="02020603050405020304" pitchFamily="18" charset="0"/>
                <a:cs typeface="Times New Roman" panose="02020603050405020304" pitchFamily="18" charset="0"/>
              </a:rPr>
              <a:t>to manage limited memory space. It allows multiple processes to run by temporarily swapping out lower priority processes for higher priority ones..</a:t>
            </a:r>
          </a:p>
          <a:p>
            <a:pPr marL="457200" indent="-457200" algn="just" fontAlgn="base">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A process can be </a:t>
            </a:r>
            <a:r>
              <a:rPr lang="en-US" sz="2300" b="1" dirty="0">
                <a:latin typeface="Times New Roman" panose="02020603050405020304" pitchFamily="18" charset="0"/>
                <a:cs typeface="Times New Roman" panose="02020603050405020304" pitchFamily="18" charset="0"/>
              </a:rPr>
              <a:t>swapped temporarily </a:t>
            </a:r>
            <a:r>
              <a:rPr lang="en-US" sz="2300" dirty="0">
                <a:latin typeface="Times New Roman" panose="02020603050405020304" pitchFamily="18" charset="0"/>
                <a:cs typeface="Times New Roman" panose="02020603050405020304" pitchFamily="18" charset="0"/>
              </a:rPr>
              <a:t>out of memory to a </a:t>
            </a:r>
            <a:r>
              <a:rPr lang="en-US" sz="2300" b="1" dirty="0">
                <a:latin typeface="Times New Roman" panose="02020603050405020304" pitchFamily="18" charset="0"/>
                <a:cs typeface="Times New Roman" panose="02020603050405020304" pitchFamily="18" charset="0"/>
              </a:rPr>
              <a:t>backing store, </a:t>
            </a:r>
            <a:r>
              <a:rPr lang="en-US" sz="2300" dirty="0">
                <a:latin typeface="Times New Roman" panose="02020603050405020304" pitchFamily="18" charset="0"/>
                <a:cs typeface="Times New Roman" panose="02020603050405020304" pitchFamily="18" charset="0"/>
              </a:rPr>
              <a:t>and then brought back into memory for </a:t>
            </a:r>
            <a:r>
              <a:rPr lang="en-US" sz="2300" b="1" dirty="0">
                <a:latin typeface="Times New Roman" panose="02020603050405020304" pitchFamily="18" charset="0"/>
                <a:cs typeface="Times New Roman" panose="02020603050405020304" pitchFamily="18" charset="0"/>
              </a:rPr>
              <a:t>continued execution</a:t>
            </a:r>
          </a:p>
          <a:p>
            <a:pPr marL="457200" indent="-457200" algn="just" fontAlgn="base">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 Total physical memory space of processes can exceed physical memory </a:t>
            </a:r>
          </a:p>
          <a:p>
            <a:pPr marL="457200" indent="-457200" algn="just" fontAlgn="base">
              <a:buFont typeface="Wingdings" panose="05000000000000000000" pitchFamily="2" charset="2"/>
              <a:buChar char="ü"/>
            </a:pPr>
            <a:r>
              <a:rPr lang="en-US" sz="2300" b="1" dirty="0">
                <a:latin typeface="Times New Roman" panose="02020603050405020304" pitchFamily="18" charset="0"/>
                <a:cs typeface="Times New Roman" panose="02020603050405020304" pitchFamily="18" charset="0"/>
              </a:rPr>
              <a:t>Backing store–</a:t>
            </a:r>
            <a:r>
              <a:rPr lang="en-US" sz="2300" dirty="0">
                <a:latin typeface="Times New Roman" panose="02020603050405020304" pitchFamily="18" charset="0"/>
                <a:cs typeface="Times New Roman" panose="02020603050405020304" pitchFamily="18" charset="0"/>
              </a:rPr>
              <a:t> fast disk large enough to accommodate copies of all memory images for all users; must provide direct access to these memory images </a:t>
            </a:r>
          </a:p>
          <a:p>
            <a:pPr marL="457200" indent="-457200" algn="just" fontAlgn="base">
              <a:buFont typeface="Wingdings" panose="05000000000000000000" pitchFamily="2" charset="2"/>
              <a:buChar char="ü"/>
            </a:pPr>
            <a:r>
              <a:rPr lang="en-US" sz="2300" b="1" dirty="0">
                <a:latin typeface="Times New Roman" panose="02020603050405020304" pitchFamily="18" charset="0"/>
                <a:cs typeface="Times New Roman" panose="02020603050405020304" pitchFamily="18" charset="0"/>
              </a:rPr>
              <a:t>Roll out, roll in</a:t>
            </a:r>
            <a:r>
              <a:rPr lang="en-US" sz="2300" dirty="0">
                <a:latin typeface="Times New Roman" panose="02020603050405020304" pitchFamily="18" charset="0"/>
                <a:cs typeface="Times New Roman" panose="02020603050405020304" pitchFamily="18" charset="0"/>
              </a:rPr>
              <a:t>– swapping variant used for priority-based scheduling algorithms; lower-priority process is swapped out so higher-priority process can be loaded and executed</a:t>
            </a:r>
          </a:p>
          <a:p>
            <a:pPr marL="457200" indent="-457200" algn="just" fontAlgn="base">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Major part of swap time is transferring time; total transfer time is directly proportional to the amount of memory swapped </a:t>
            </a:r>
          </a:p>
          <a:p>
            <a:pPr marL="457200" indent="-457200" algn="just" fontAlgn="base">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System maintains a ready queue of ready-to-run processes which have memory images on disk</a:t>
            </a:r>
          </a:p>
        </p:txBody>
      </p:sp>
    </p:spTree>
    <p:extLst>
      <p:ext uri="{BB962C8B-B14F-4D97-AF65-F5344CB8AC3E}">
        <p14:creationId xmlns:p14="http://schemas.microsoft.com/office/powerpoint/2010/main" val="424953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5A254-7E69-B8DA-0A3A-84517CCBD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F07CDE-A66A-66CA-3809-51CEB8F111D0}"/>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SCHEMATIC VIEW OF sWAPPING</a:t>
            </a:r>
            <a:endParaRPr lang="en-PK" sz="3600" b="1"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6B6DC9-3063-FDEE-45DC-E15944FCBCCC}"/>
              </a:ext>
            </a:extLst>
          </p:cNvPr>
          <p:cNvPicPr>
            <a:picLocks noChangeAspect="1"/>
          </p:cNvPicPr>
          <p:nvPr/>
        </p:nvPicPr>
        <p:blipFill>
          <a:blip r:embed="rId3"/>
          <a:stretch>
            <a:fillRect/>
          </a:stretch>
        </p:blipFill>
        <p:spPr>
          <a:xfrm>
            <a:off x="1941512" y="1144984"/>
            <a:ext cx="8105775" cy="5219700"/>
          </a:xfrm>
          <a:prstGeom prst="rect">
            <a:avLst/>
          </a:prstGeom>
        </p:spPr>
      </p:pic>
    </p:spTree>
    <p:extLst>
      <p:ext uri="{BB962C8B-B14F-4D97-AF65-F5344CB8AC3E}">
        <p14:creationId xmlns:p14="http://schemas.microsoft.com/office/powerpoint/2010/main" val="1513717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D1E97-C6DA-AC98-AFB7-30D977C66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51F2D-FA8A-9A26-F3E4-611044D67EED}"/>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sWAPPING</a:t>
            </a:r>
            <a:endParaRPr lang="en-PK" sz="3600" b="1"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347A1AE-6804-C0C4-2430-A0D450D84C28}"/>
              </a:ext>
            </a:extLst>
          </p:cNvPr>
          <p:cNvSpPr txBox="1"/>
          <p:nvPr/>
        </p:nvSpPr>
        <p:spPr>
          <a:xfrm>
            <a:off x="1287145" y="1398955"/>
            <a:ext cx="9895840" cy="954107"/>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“if needed, the operating system can always make room for high- priority jobs, no matter what!”</a:t>
            </a:r>
            <a:endParaRPr lang="en-PK"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BDFEB41-3C9B-4FC8-7BCD-6A2B2AF29D8E}"/>
              </a:ext>
            </a:extLst>
          </p:cNvPr>
          <p:cNvPicPr>
            <a:picLocks noChangeAspect="1"/>
          </p:cNvPicPr>
          <p:nvPr/>
        </p:nvPicPr>
        <p:blipFill>
          <a:blip r:embed="rId3"/>
          <a:stretch>
            <a:fillRect/>
          </a:stretch>
        </p:blipFill>
        <p:spPr>
          <a:xfrm>
            <a:off x="1203960" y="2998787"/>
            <a:ext cx="9296400" cy="2790825"/>
          </a:xfrm>
          <a:prstGeom prst="rect">
            <a:avLst/>
          </a:prstGeom>
        </p:spPr>
      </p:pic>
    </p:spTree>
    <p:extLst>
      <p:ext uri="{BB962C8B-B14F-4D97-AF65-F5344CB8AC3E}">
        <p14:creationId xmlns:p14="http://schemas.microsoft.com/office/powerpoint/2010/main" val="360868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72A9-A87E-1DCD-F988-44FD9FB527AF}"/>
              </a:ext>
            </a:extLst>
          </p:cNvPr>
          <p:cNvSpPr txBox="1">
            <a:spLocks/>
          </p:cNvSpPr>
          <p:nvPr/>
        </p:nvSpPr>
        <p:spPr>
          <a:xfrm>
            <a:off x="1090930" y="493316"/>
            <a:ext cx="10288270" cy="5734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Overall flow</a:t>
            </a:r>
            <a:endParaRPr lang="en-PK" sz="3600" b="1" dirty="0">
              <a:solidFill>
                <a:srgbClr val="0070C0"/>
              </a:solidFill>
              <a:latin typeface="Times New Roman" panose="02020603050405020304" pitchFamily="18" charset="0"/>
              <a:cs typeface="Times New Roman" panose="02020603050405020304" pitchFamily="18" charset="0"/>
            </a:endParaRPr>
          </a:p>
        </p:txBody>
      </p:sp>
      <p:pic>
        <p:nvPicPr>
          <p:cNvPr id="5" name="Picture 4" descr="A diagram of a computer network&#10;&#10;AI-generated content may be incorrect.">
            <a:extLst>
              <a:ext uri="{FF2B5EF4-FFF2-40B4-BE49-F238E27FC236}">
                <a16:creationId xmlns:a16="http://schemas.microsoft.com/office/drawing/2014/main" id="{4710BF62-8677-89E5-C37F-C41C075B650F}"/>
              </a:ext>
            </a:extLst>
          </p:cNvPr>
          <p:cNvPicPr>
            <a:picLocks noChangeAspect="1"/>
          </p:cNvPicPr>
          <p:nvPr/>
        </p:nvPicPr>
        <p:blipFill>
          <a:blip r:embed="rId3"/>
          <a:stretch>
            <a:fillRect/>
          </a:stretch>
        </p:blipFill>
        <p:spPr>
          <a:xfrm>
            <a:off x="952500" y="1148080"/>
            <a:ext cx="10287000" cy="6858000"/>
          </a:xfrm>
          <a:prstGeom prst="rect">
            <a:avLst/>
          </a:prstGeom>
        </p:spPr>
      </p:pic>
    </p:spTree>
    <p:extLst>
      <p:ext uri="{BB962C8B-B14F-4D97-AF65-F5344CB8AC3E}">
        <p14:creationId xmlns:p14="http://schemas.microsoft.com/office/powerpoint/2010/main" val="3489050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3487928" y="158850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640080" y="3429000"/>
            <a:ext cx="10535920" cy="369332"/>
          </a:xfrm>
          <a:prstGeom prst="rect">
            <a:avLst/>
          </a:prstGeom>
          <a:noFill/>
        </p:spPr>
        <p:txBody>
          <a:bodyPr wrap="square">
            <a:spAutoFit/>
          </a:bodyPr>
          <a:lstStyle/>
          <a:p>
            <a:pPr algn="ctr"/>
            <a:r>
              <a:rPr lang="en-US" dirty="0"/>
              <a:t>“</a:t>
            </a:r>
            <a:r>
              <a:rPr lang="en-US" dirty="0">
                <a:latin typeface="Times New Roman" panose="02020603050405020304" pitchFamily="18" charset="0"/>
                <a:cs typeface="Times New Roman" panose="02020603050405020304" pitchFamily="18" charset="0"/>
              </a:rPr>
              <a:t>if needed, the operating system can always make room for high- priority jobs, no matter what</a:t>
            </a:r>
            <a:r>
              <a:rPr lang="en-US" dirty="0"/>
              <a:t>”</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3415</TotalTime>
  <Words>837</Words>
  <Application>Microsoft Office PowerPoint</Application>
  <PresentationFormat>Widescreen</PresentationFormat>
  <Paragraphs>54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Rockwell</vt:lpstr>
      <vt:lpstr>Rockwell Condensed</vt:lpstr>
      <vt:lpstr>Times New Roman</vt:lpstr>
      <vt:lpstr>Wingdings</vt:lpstr>
      <vt:lpstr>Wood Type</vt:lpstr>
      <vt:lpstr>Operating systems</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2077</cp:revision>
  <dcterms:created xsi:type="dcterms:W3CDTF">2025-10-15T06:15:30Z</dcterms:created>
  <dcterms:modified xsi:type="dcterms:W3CDTF">2026-01-18T15:43:11Z</dcterms:modified>
</cp:coreProperties>
</file>