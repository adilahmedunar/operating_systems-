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notesMasterIdLst>
    <p:notesMasterId r:id="rId16"/>
  </p:notesMasterIdLst>
  <p:sldIdLst>
    <p:sldId id="256" r:id="rId2"/>
    <p:sldId id="261" r:id="rId3"/>
    <p:sldId id="271" r:id="rId4"/>
    <p:sldId id="348" r:id="rId5"/>
    <p:sldId id="300" r:id="rId6"/>
    <p:sldId id="350" r:id="rId7"/>
    <p:sldId id="347" r:id="rId8"/>
    <p:sldId id="351" r:id="rId9"/>
    <p:sldId id="352" r:id="rId10"/>
    <p:sldId id="353" r:id="rId11"/>
    <p:sldId id="354" r:id="rId12"/>
    <p:sldId id="329" r:id="rId13"/>
    <p:sldId id="342" r:id="rId14"/>
    <p:sldId id="266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3842" autoAdjust="0"/>
  </p:normalViewPr>
  <p:slideViewPr>
    <p:cSldViewPr snapToGrid="0">
      <p:cViewPr varScale="1">
        <p:scale>
          <a:sx n="63" d="100"/>
          <a:sy n="63" d="100"/>
        </p:scale>
        <p:origin x="80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BE7D3E-4D6D-4A9E-AA24-8E11DFA8298B}" type="datetimeFigureOut">
              <a:rPr lang="en-PK" smtClean="0"/>
              <a:t>07/11/2025</a:t>
            </a:fld>
            <a:endParaRPr lang="en-P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A406AE-9E8D-4B19-A8A6-37C9AB1FA07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4380865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A406AE-9E8D-4B19-A8A6-37C9AB1FA076}" type="slidenum">
              <a:rPr lang="en-PK" smtClean="0"/>
              <a:t>1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1412846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PK"/>
            </a:p>
          </p:txBody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/>
            <a:lstStyle/>
            <a:p>
              <a:endParaRPr lang="en-PK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84890-85D2-4D7B-8EF5-15A9C1DB8F42}" type="datetimeFigureOut">
              <a:rPr lang="en-US" dirty="0"/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5661D-6934-4B32-B92C-470368BF1EC6}" type="datetimeFigureOut">
              <a:rPr lang="en-US" dirty="0"/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C6F822A4-8DA6-4447-9B1F-C5DB58435268}" type="datetimeFigureOut">
              <a:rPr lang="en-US" dirty="0"/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PK"/>
            </a:p>
          </p:txBody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/>
            <a:lstStyle/>
            <a:p>
              <a:endParaRPr lang="en-PK"/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8D31E-DCDA-41A7-9C67-C4B11B94D21D}" type="datetimeFigureOut">
              <a:rPr lang="en-US" dirty="0"/>
              <a:t>11/7/2025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762C0-B258-48F1-ADE6-176B4174CCDD}" type="datetimeFigureOut">
              <a:rPr lang="en-US" dirty="0"/>
              <a:t>11/7/2025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919A6-33EB-49BD-A62F-1FA56B9F9712}" type="datetimeFigureOut">
              <a:rPr lang="en-US" dirty="0"/>
              <a:t>11/7/2025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E7D1B-D673-4CF6-8672-009D42ABD2A0}" type="datetimeFigureOut">
              <a:rPr lang="en-US" dirty="0"/>
              <a:t>11/7/2025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6AA21-1863-4931-97CB-99D0A168701B}" type="datetimeFigureOut">
              <a:rPr lang="en-US" dirty="0"/>
              <a:t>11/7/2025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PK"/>
            </a:p>
          </p:txBody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/>
            <a:lstStyle/>
            <a:p>
              <a:endParaRPr lang="en-PK"/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2C379-9A7C-4C87-A116-CBE9F58B04C5}" type="datetimeFigureOut">
              <a:rPr lang="en-US" dirty="0"/>
              <a:t>11/7/2025</a:t>
            </a:fld>
            <a:endParaRPr lang="en-US" dirty="0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PK"/>
            </a:p>
          </p:txBody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/>
            <a:lstStyle/>
            <a:p>
              <a:endParaRPr lang="en-PK"/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57CC2-0FC8-4686-B024-99790E0F5162}" type="datetimeFigureOut">
              <a:rPr lang="en-US" dirty="0"/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64DA5-CD3D-4590-A511-FCD3BC7A793E}" type="datetimeFigureOut">
              <a:rPr lang="en-US" dirty="0"/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8664C608-40B1-4030-A28D-5B74BC98ADCE}" type="datetimeFigureOut">
              <a:rPr lang="en-US" dirty="0"/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PK"/>
            </a:p>
          </p:txBody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/>
            <a:lstStyle/>
            <a:p>
              <a:endParaRPr lang="en-PK"/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6ECB6B-98B0-7DD3-973D-99D900F051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7360" y="1432223"/>
            <a:ext cx="10551160" cy="3035808"/>
          </a:xfrm>
        </p:spPr>
        <p:txBody>
          <a:bodyPr/>
          <a:lstStyle/>
          <a:p>
            <a:pPr algn="ctr"/>
            <a:r>
              <a:rPr lang="en-US" sz="6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systems</a:t>
            </a:r>
            <a:endParaRPr lang="en-PK" sz="6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A4B46766-25E3-5BCC-FCFC-68333EE8C7DA}"/>
              </a:ext>
            </a:extLst>
          </p:cNvPr>
          <p:cNvSpPr txBox="1">
            <a:spLocks/>
          </p:cNvSpPr>
          <p:nvPr/>
        </p:nvSpPr>
        <p:spPr>
          <a:xfrm>
            <a:off x="1611884" y="4555573"/>
            <a:ext cx="8053832" cy="12730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9600" kern="1200" cap="all" baseline="0">
                <a:blipFill dpi="0" rotWithShape="1">
                  <a:blip r:embed="rId3"/>
                  <a:srcRect/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6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Lecture</a:t>
            </a:r>
            <a:r>
              <a:rPr lang="en-US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# 10 &amp; 11</a:t>
            </a:r>
            <a:endParaRPr lang="en-PK" sz="7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75021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8B506D-D8CE-6C1D-091D-252ED65791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51294-A245-19C5-6231-4502DD714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7328" y="474472"/>
            <a:ext cx="8053832" cy="1273048"/>
          </a:xfrm>
        </p:spPr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Lecture Overview</a:t>
            </a:r>
            <a:endParaRPr lang="en-PK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40740F-FC80-CFC7-E7B9-046A9B19DD75}"/>
              </a:ext>
            </a:extLst>
          </p:cNvPr>
          <p:cNvSpPr txBox="1"/>
          <p:nvPr/>
        </p:nvSpPr>
        <p:spPr>
          <a:xfrm>
            <a:off x="184404" y="1842165"/>
            <a:ext cx="11823192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/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485900" lvl="2" indent="-571500">
              <a:buFont typeface="Arial" panose="020B0604020202020204" pitchFamily="34" charset="0"/>
              <a:buChar char="•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 Scheduling Algorithms – Preemptive</a:t>
            </a:r>
          </a:p>
          <a:p>
            <a:pPr marL="1485900" lvl="2" indent="-571500">
              <a:buFont typeface="Arial" panose="020B0604020202020204" pitchFamily="34" charset="0"/>
              <a:buChar char="•"/>
            </a:pP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943100" lvl="3" indent="-571500">
              <a:buFont typeface="Wingdings" panose="05000000000000000000" pitchFamily="2" charset="2"/>
              <a:buChar char="ü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Round - Robbing (RR) Scheduling</a:t>
            </a:r>
          </a:p>
          <a:p>
            <a:pPr marL="1485900" lvl="2" indent="-571500">
              <a:buFont typeface="Arial" panose="020B0604020202020204" pitchFamily="34" charset="0"/>
              <a:buChar char="•"/>
            </a:pP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20674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90B81A-2B3D-3AE2-97F0-D7309A42B9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FB4B1-5B40-CC4C-739A-C7DB899B604D}"/>
              </a:ext>
            </a:extLst>
          </p:cNvPr>
          <p:cNvSpPr txBox="1">
            <a:spLocks/>
          </p:cNvSpPr>
          <p:nvPr/>
        </p:nvSpPr>
        <p:spPr>
          <a:xfrm>
            <a:off x="452120" y="529971"/>
            <a:ext cx="10967720" cy="89071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ROUND ROBIN (RR) Scheduling </a:t>
            </a:r>
            <a:endParaRPr lang="en-PK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3CC0700-7309-F5C3-BBA7-DA2EF7265145}"/>
              </a:ext>
            </a:extLst>
          </p:cNvPr>
          <p:cNvSpPr txBox="1"/>
          <p:nvPr/>
        </p:nvSpPr>
        <p:spPr>
          <a:xfrm>
            <a:off x="716280" y="1978720"/>
            <a:ext cx="10612120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round-robin (RR)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scheduling algorithm is similar to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FCFS scheduling,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 preemption is added to enable the system to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switch between processes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small unit of time, called a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quantum or time slice,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defined.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CPU scheduler goes around the ready queue, allocating the CPU to each process for a time interval of up to 1 time quantum. </a:t>
            </a:r>
          </a:p>
        </p:txBody>
      </p:sp>
    </p:spTree>
    <p:extLst>
      <p:ext uri="{BB962C8B-B14F-4D97-AF65-F5344CB8AC3E}">
        <p14:creationId xmlns:p14="http://schemas.microsoft.com/office/powerpoint/2010/main" val="19791034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C412B2-99CD-3AF2-7835-17D8D5402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6BAE6-C7D8-C043-9920-9F893445F3F4}"/>
              </a:ext>
            </a:extLst>
          </p:cNvPr>
          <p:cNvSpPr txBox="1">
            <a:spLocks/>
          </p:cNvSpPr>
          <p:nvPr/>
        </p:nvSpPr>
        <p:spPr>
          <a:xfrm>
            <a:off x="462280" y="590931"/>
            <a:ext cx="10967720" cy="89071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ROUND ROBIN (RR) Scheduling </a:t>
            </a:r>
            <a:endParaRPr lang="en-PK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CD3C7F-F1D5-6EC9-46DA-46084C9AC8C3}"/>
              </a:ext>
            </a:extLst>
          </p:cNvPr>
          <p:cNvSpPr txBox="1"/>
          <p:nvPr/>
        </p:nvSpPr>
        <p:spPr>
          <a:xfrm>
            <a:off x="789940" y="1742754"/>
            <a:ext cx="1061212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ready queue is treated as a circular queue.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time quantum is generally from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 to 100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milliseconds in length.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implement RR scheduling, we again treat the ready queue as a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FIFO queue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processes.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processes are added to the tail of the ready queue.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CPU scheduler picks the first process from the ready queue, sets a timer to interrupt after 1 time quantum, and dispatches the process.</a:t>
            </a:r>
          </a:p>
        </p:txBody>
      </p:sp>
    </p:spTree>
    <p:extLst>
      <p:ext uri="{BB962C8B-B14F-4D97-AF65-F5344CB8AC3E}">
        <p14:creationId xmlns:p14="http://schemas.microsoft.com/office/powerpoint/2010/main" val="1471316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1BB548B-EB05-6145-0D83-F7001833EBD0}"/>
              </a:ext>
            </a:extLst>
          </p:cNvPr>
          <p:cNvSpPr txBox="1"/>
          <p:nvPr/>
        </p:nvSpPr>
        <p:spPr>
          <a:xfrm>
            <a:off x="726440" y="1400993"/>
            <a:ext cx="10739120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Fairness: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process receives an equal time slice (quantum), ensuring no process is starved of CPU time.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Simplicity: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algorithm is easy to understand and implement due to its simple queue-based structure.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Responsiveness: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Suitable for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time-sharing systems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as it allows multiple processes to run with minimal delay, improving user interaction.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55E65B9-D0A2-1272-4520-D27242C69EA9}"/>
              </a:ext>
            </a:extLst>
          </p:cNvPr>
          <p:cNvSpPr txBox="1">
            <a:spLocks/>
          </p:cNvSpPr>
          <p:nvPr/>
        </p:nvSpPr>
        <p:spPr>
          <a:xfrm>
            <a:off x="838200" y="276596"/>
            <a:ext cx="10967720" cy="89071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pPr fontAlgn="base"/>
            <a:r>
              <a:rPr lang="en-US" sz="3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ROUND ROBIN Scheduling</a:t>
            </a:r>
          </a:p>
        </p:txBody>
      </p:sp>
    </p:spTree>
    <p:extLst>
      <p:ext uri="{BB962C8B-B14F-4D97-AF65-F5344CB8AC3E}">
        <p14:creationId xmlns:p14="http://schemas.microsoft.com/office/powerpoint/2010/main" val="33491255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726190-8701-3D0B-5632-892C6C3BCF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0563C74-97C9-1DF3-AC39-A805F6D3BA8B}"/>
              </a:ext>
            </a:extLst>
          </p:cNvPr>
          <p:cNvSpPr txBox="1"/>
          <p:nvPr/>
        </p:nvSpPr>
        <p:spPr>
          <a:xfrm>
            <a:off x="726440" y="1583873"/>
            <a:ext cx="1073912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Predictable Behavior: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Since each process gets the CPU in a fixed cyclic order, system performance is more predictable.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Multiprogramming: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Efficiently manages multiple processes, increasing CPU utilization and system throughput.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7D83491-2267-7284-EC50-2ACD0E3BE173}"/>
              </a:ext>
            </a:extLst>
          </p:cNvPr>
          <p:cNvSpPr txBox="1">
            <a:spLocks/>
          </p:cNvSpPr>
          <p:nvPr/>
        </p:nvSpPr>
        <p:spPr>
          <a:xfrm>
            <a:off x="838200" y="276596"/>
            <a:ext cx="10967720" cy="89071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pPr fontAlgn="base"/>
            <a:r>
              <a:rPr lang="en-US" sz="3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ROUND ROBIN Scheduling</a:t>
            </a:r>
          </a:p>
        </p:txBody>
      </p:sp>
    </p:spTree>
    <p:extLst>
      <p:ext uri="{BB962C8B-B14F-4D97-AF65-F5344CB8AC3E}">
        <p14:creationId xmlns:p14="http://schemas.microsoft.com/office/powerpoint/2010/main" val="26910377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54EA4E-E59D-BACB-22B2-FD3BC67BD8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557862E-CACA-016D-0B81-7D6B92B05B2D}"/>
              </a:ext>
            </a:extLst>
          </p:cNvPr>
          <p:cNvSpPr txBox="1"/>
          <p:nvPr/>
        </p:nvSpPr>
        <p:spPr>
          <a:xfrm>
            <a:off x="1000760" y="1926735"/>
            <a:ext cx="990600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Context Switching Overhead: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time quantum is very small, the CPU spends more time switching between processes than executing them, reducing overall efficiency.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Potential CPU Underutilization: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time quantum is too large, the system behaves almost like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First-Come First-Serve (FCFS)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reducing responsiveness and increasing waiting time for other processes.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9395F5B-3713-86A9-6A08-4534C3EAADDE}"/>
              </a:ext>
            </a:extLst>
          </p:cNvPr>
          <p:cNvSpPr txBox="1">
            <a:spLocks/>
          </p:cNvSpPr>
          <p:nvPr/>
        </p:nvSpPr>
        <p:spPr>
          <a:xfrm>
            <a:off x="304800" y="568658"/>
            <a:ext cx="11744960" cy="89071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pPr algn="ctr" fontAlgn="base"/>
            <a:r>
              <a:rPr lang="en-US" sz="3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 of ROUND ROBIN </a:t>
            </a:r>
          </a:p>
          <a:p>
            <a:pPr algn="ctr" fontAlgn="base"/>
            <a:r>
              <a:rPr lang="en-US" sz="3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Scheduling</a:t>
            </a:r>
          </a:p>
        </p:txBody>
      </p:sp>
    </p:spTree>
    <p:extLst>
      <p:ext uri="{BB962C8B-B14F-4D97-AF65-F5344CB8AC3E}">
        <p14:creationId xmlns:p14="http://schemas.microsoft.com/office/powerpoint/2010/main" val="38433140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454D33-4B41-27FD-B011-86FD4A2E19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EC49261-8908-97AA-3C83-99E2B24934FB}"/>
              </a:ext>
            </a:extLst>
          </p:cNvPr>
          <p:cNvSpPr txBox="1"/>
          <p:nvPr/>
        </p:nvSpPr>
        <p:spPr>
          <a:xfrm>
            <a:off x="980440" y="1896255"/>
            <a:ext cx="990600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Increased Waiting Time for Long Processes: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Processes with longer burst times may take more cycles to complete, increasing their total waiting time.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Ideal for Real-Time Systems: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Round Robin cannot prioritize urgent tasks, making it less suitable for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priority-based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environments.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Quantum Selection is Critical: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Choosing an appropriate time quantum is difficult—too small causes overhead, too large causes delays.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F7ADD1C-4198-F269-8360-40A307C41960}"/>
              </a:ext>
            </a:extLst>
          </p:cNvPr>
          <p:cNvSpPr txBox="1">
            <a:spLocks/>
          </p:cNvSpPr>
          <p:nvPr/>
        </p:nvSpPr>
        <p:spPr>
          <a:xfrm>
            <a:off x="325120" y="560540"/>
            <a:ext cx="11744960" cy="89071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pPr algn="ctr" fontAlgn="base"/>
            <a:r>
              <a:rPr lang="en-US" sz="3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 of ROUND ROBIN </a:t>
            </a:r>
          </a:p>
          <a:p>
            <a:pPr algn="ctr" fontAlgn="base"/>
            <a:r>
              <a:rPr lang="en-US" sz="3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Scheduling</a:t>
            </a:r>
          </a:p>
        </p:txBody>
      </p:sp>
    </p:spTree>
    <p:extLst>
      <p:ext uri="{BB962C8B-B14F-4D97-AF65-F5344CB8AC3E}">
        <p14:creationId xmlns:p14="http://schemas.microsoft.com/office/powerpoint/2010/main" val="10543493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6031F8-5464-58C9-7579-F11C0549BA3E}"/>
              </a:ext>
            </a:extLst>
          </p:cNvPr>
          <p:cNvSpPr txBox="1">
            <a:spLocks/>
          </p:cNvSpPr>
          <p:nvPr/>
        </p:nvSpPr>
        <p:spPr>
          <a:xfrm>
            <a:off x="132080" y="184620"/>
            <a:ext cx="11744960" cy="89071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pPr algn="ctr" fontAlgn="base"/>
            <a:r>
              <a:rPr lang="en-US" sz="3600" b="1" cap="none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 of RR With Time Quantum = 4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E2DA5B9-6A70-BB94-C428-AEF4FFB2A5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01725"/>
            <a:ext cx="12192000" cy="425454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9ACB038-2EF3-987A-0845-1750726C1A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69645"/>
            <a:ext cx="12192000" cy="4254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86181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E5A75-A886-77CE-4C15-C04752DBF1CB}"/>
              </a:ext>
            </a:extLst>
          </p:cNvPr>
          <p:cNvSpPr txBox="1">
            <a:spLocks/>
          </p:cNvSpPr>
          <p:nvPr/>
        </p:nvSpPr>
        <p:spPr>
          <a:xfrm>
            <a:off x="91440" y="101600"/>
            <a:ext cx="11744960" cy="89071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pPr algn="ctr" fontAlgn="base"/>
            <a:r>
              <a:rPr lang="en-US" sz="3600" b="1" cap="none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 Quantum and Context Switch Time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7E15272-EDF0-D7EC-0099-BF6687724C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440" y="1050512"/>
            <a:ext cx="11455400" cy="5705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26386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C946CB-D335-CF21-FCC8-694BA3251C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CCBF23-B429-0DDF-4356-B99761E9B92F}"/>
              </a:ext>
            </a:extLst>
          </p:cNvPr>
          <p:cNvSpPr txBox="1">
            <a:spLocks/>
          </p:cNvSpPr>
          <p:nvPr/>
        </p:nvSpPr>
        <p:spPr>
          <a:xfrm>
            <a:off x="182880" y="101600"/>
            <a:ext cx="11744960" cy="89071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pPr algn="ctr" fontAlgn="base"/>
            <a:r>
              <a:rPr lang="en-US" sz="3600" b="1" cap="none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Turnaround Time Varies with The Time Quantum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D773E3-19A8-00EA-3A56-DA7F23884A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8260" y="992317"/>
            <a:ext cx="9474200" cy="5322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95529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07EF17-EFBC-EFA0-20FD-6DCDD2D484E9}"/>
              </a:ext>
            </a:extLst>
          </p:cNvPr>
          <p:cNvSpPr txBox="1">
            <a:spLocks/>
          </p:cNvSpPr>
          <p:nvPr/>
        </p:nvSpPr>
        <p:spPr>
          <a:xfrm>
            <a:off x="548640" y="208257"/>
            <a:ext cx="10967720" cy="84162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ROUND ROBIN (RR) SCHEDULING</a:t>
            </a:r>
            <a:endParaRPr lang="en-PK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109690-1062-020E-7E59-E5B6B7DF353B}"/>
              </a:ext>
            </a:extLst>
          </p:cNvPr>
          <p:cNvSpPr txBox="1"/>
          <p:nvPr/>
        </p:nvSpPr>
        <p:spPr>
          <a:xfrm>
            <a:off x="4841240" y="1318804"/>
            <a:ext cx="3606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Criteria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Time Quantum (2)</a:t>
            </a:r>
            <a:endParaRPr lang="en-US" sz="1800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 - Preemptive </a:t>
            </a:r>
            <a:endParaRPr lang="en-PK" sz="1800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2BDDD1A-BF56-30EB-6396-B61B6019A8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3609113"/>
              </p:ext>
            </p:extLst>
          </p:nvPr>
        </p:nvGraphicFramePr>
        <p:xfrm>
          <a:off x="883921" y="2039517"/>
          <a:ext cx="10413998" cy="243132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87714">
                  <a:extLst>
                    <a:ext uri="{9D8B030D-6E8A-4147-A177-3AD203B41FA5}">
                      <a16:colId xmlns:a16="http://schemas.microsoft.com/office/drawing/2014/main" val="715791180"/>
                    </a:ext>
                  </a:extLst>
                </a:gridCol>
                <a:gridCol w="1487714">
                  <a:extLst>
                    <a:ext uri="{9D8B030D-6E8A-4147-A177-3AD203B41FA5}">
                      <a16:colId xmlns:a16="http://schemas.microsoft.com/office/drawing/2014/main" val="256905436"/>
                    </a:ext>
                  </a:extLst>
                </a:gridCol>
                <a:gridCol w="1487714">
                  <a:extLst>
                    <a:ext uri="{9D8B030D-6E8A-4147-A177-3AD203B41FA5}">
                      <a16:colId xmlns:a16="http://schemas.microsoft.com/office/drawing/2014/main" val="741906096"/>
                    </a:ext>
                  </a:extLst>
                </a:gridCol>
                <a:gridCol w="1487714">
                  <a:extLst>
                    <a:ext uri="{9D8B030D-6E8A-4147-A177-3AD203B41FA5}">
                      <a16:colId xmlns:a16="http://schemas.microsoft.com/office/drawing/2014/main" val="275725681"/>
                    </a:ext>
                  </a:extLst>
                </a:gridCol>
                <a:gridCol w="1487714">
                  <a:extLst>
                    <a:ext uri="{9D8B030D-6E8A-4147-A177-3AD203B41FA5}">
                      <a16:colId xmlns:a16="http://schemas.microsoft.com/office/drawing/2014/main" val="1522768377"/>
                    </a:ext>
                  </a:extLst>
                </a:gridCol>
                <a:gridCol w="1487714">
                  <a:extLst>
                    <a:ext uri="{9D8B030D-6E8A-4147-A177-3AD203B41FA5}">
                      <a16:colId xmlns:a16="http://schemas.microsoft.com/office/drawing/2014/main" val="1781014799"/>
                    </a:ext>
                  </a:extLst>
                </a:gridCol>
                <a:gridCol w="1487714">
                  <a:extLst>
                    <a:ext uri="{9D8B030D-6E8A-4147-A177-3AD203B41FA5}">
                      <a16:colId xmlns:a16="http://schemas.microsoft.com/office/drawing/2014/main" val="28449544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Process</a:t>
                      </a:r>
                      <a:endParaRPr lang="en-PK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Arrival Time (AT)</a:t>
                      </a:r>
                      <a:endParaRPr lang="en-PK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Burst Time / Execution Time</a:t>
                      </a:r>
                      <a:endParaRPr lang="en-PK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Completion Time (CT)</a:t>
                      </a:r>
                      <a:endParaRPr lang="en-PK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Turnaround Time (TAT)</a:t>
                      </a:r>
                      <a:endParaRPr lang="en-PK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Waiting Time (WT)</a:t>
                      </a:r>
                      <a:endParaRPr lang="en-PK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Response Time (RT)</a:t>
                      </a:r>
                      <a:endParaRPr lang="en-PK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43892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P1</a:t>
                      </a:r>
                      <a:endParaRPr lang="en-PK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PK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PK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en-PK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en-PK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PK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PK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42868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P2</a:t>
                      </a:r>
                      <a:endParaRPr lang="en-PK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PK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PK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en-PK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PK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PK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PK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0273599"/>
                  </a:ext>
                </a:extLst>
              </a:tr>
              <a:tr h="404404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P3</a:t>
                      </a:r>
                      <a:endParaRPr lang="en-PK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PK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PK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PK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PK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PK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PK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98601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P4</a:t>
                      </a:r>
                      <a:endParaRPr lang="en-PK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PK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PK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en-PK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PK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PK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PK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1380242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3F51E25D-022F-2E11-4A3C-E2792F41BDB6}"/>
              </a:ext>
            </a:extLst>
          </p:cNvPr>
          <p:cNvSpPr txBox="1"/>
          <p:nvPr/>
        </p:nvSpPr>
        <p:spPr>
          <a:xfrm>
            <a:off x="482600" y="1318804"/>
            <a:ext cx="33426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Solved Example </a:t>
            </a:r>
            <a:endParaRPr lang="en-PK" sz="2800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08C2C84-D751-29D3-A43E-95ADE6637F1E}"/>
              </a:ext>
            </a:extLst>
          </p:cNvPr>
          <p:cNvSpPr txBox="1"/>
          <p:nvPr/>
        </p:nvSpPr>
        <p:spPr>
          <a:xfrm>
            <a:off x="457200" y="5205868"/>
            <a:ext cx="225552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Gantt Chart</a:t>
            </a:r>
          </a:p>
          <a:p>
            <a:pPr algn="ctr"/>
            <a:r>
              <a:rPr lang="en-US" sz="20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Running Queue</a:t>
            </a:r>
            <a:endParaRPr lang="en-PK" sz="2000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C295C21-7EC0-58D2-BF74-D0CF0CF0A452}"/>
              </a:ext>
            </a:extLst>
          </p:cNvPr>
          <p:cNvSpPr txBox="1"/>
          <p:nvPr/>
        </p:nvSpPr>
        <p:spPr>
          <a:xfrm>
            <a:off x="2123440" y="5684256"/>
            <a:ext cx="68275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0           2          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sz="20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sz="20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sz="20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en-US" sz="20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r>
              <a:rPr lang="en-US" sz="20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r>
              <a:rPr lang="en-US" sz="20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endParaRPr lang="en-PK" sz="2000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9FC76A5-19A2-3091-4911-B9A0CCA86232}"/>
              </a:ext>
            </a:extLst>
          </p:cNvPr>
          <p:cNvSpPr txBox="1"/>
          <p:nvPr/>
        </p:nvSpPr>
        <p:spPr>
          <a:xfrm>
            <a:off x="3962400" y="6069512"/>
            <a:ext cx="22555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</a:t>
            </a:r>
            <a:endParaRPr lang="en-PK" sz="2000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B75DB8F-40E9-8A49-B210-328D7F9B306E}"/>
              </a:ext>
            </a:extLst>
          </p:cNvPr>
          <p:cNvCxnSpPr/>
          <p:nvPr/>
        </p:nvCxnSpPr>
        <p:spPr>
          <a:xfrm>
            <a:off x="2153920" y="6249247"/>
            <a:ext cx="212344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D2AA365-EA52-0169-ACC1-23CB58BB583B}"/>
              </a:ext>
            </a:extLst>
          </p:cNvPr>
          <p:cNvCxnSpPr/>
          <p:nvPr/>
        </p:nvCxnSpPr>
        <p:spPr>
          <a:xfrm>
            <a:off x="6090920" y="6228927"/>
            <a:ext cx="212344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C467046-2557-6C93-DD73-6F69A2C3D3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4322626"/>
              </p:ext>
            </p:extLst>
          </p:nvPr>
        </p:nvGraphicFramePr>
        <p:xfrm>
          <a:off x="2580639" y="5262979"/>
          <a:ext cx="568960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83250386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80450417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08888721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867099095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13300174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8202459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90023497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P1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P2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P3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P1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P4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P2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P1</a:t>
                      </a:r>
                      <a:endParaRPr lang="en-P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3737018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F7265A0-4D7A-C22A-38B3-5D5951E483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5191321"/>
              </p:ext>
            </p:extLst>
          </p:nvPr>
        </p:nvGraphicFramePr>
        <p:xfrm>
          <a:off x="2580639" y="4763061"/>
          <a:ext cx="568960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83250386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80450417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08888721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867099095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13300174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8202459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90023497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P1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P2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P3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P1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P4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P2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P1</a:t>
                      </a:r>
                      <a:endParaRPr lang="en-P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3737018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0627C627-66C9-D2BE-8C56-5F38FECDEEA4}"/>
              </a:ext>
            </a:extLst>
          </p:cNvPr>
          <p:cNvSpPr txBox="1"/>
          <p:nvPr/>
        </p:nvSpPr>
        <p:spPr>
          <a:xfrm>
            <a:off x="548640" y="4798330"/>
            <a:ext cx="22555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Ready Queue</a:t>
            </a:r>
            <a:endParaRPr lang="en-PK" sz="2000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7776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1FBD54-3457-B8B3-434C-529B0B9C52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25B78B6-C245-9642-72C8-58E47BF473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0074116"/>
              </p:ext>
            </p:extLst>
          </p:nvPr>
        </p:nvGraphicFramePr>
        <p:xfrm>
          <a:off x="5791200" y="4297671"/>
          <a:ext cx="4463142" cy="2021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87714">
                  <a:extLst>
                    <a:ext uri="{9D8B030D-6E8A-4147-A177-3AD203B41FA5}">
                      <a16:colId xmlns:a16="http://schemas.microsoft.com/office/drawing/2014/main" val="715791180"/>
                    </a:ext>
                  </a:extLst>
                </a:gridCol>
                <a:gridCol w="1487714">
                  <a:extLst>
                    <a:ext uri="{9D8B030D-6E8A-4147-A177-3AD203B41FA5}">
                      <a16:colId xmlns:a16="http://schemas.microsoft.com/office/drawing/2014/main" val="256905436"/>
                    </a:ext>
                  </a:extLst>
                </a:gridCol>
                <a:gridCol w="1487714">
                  <a:extLst>
                    <a:ext uri="{9D8B030D-6E8A-4147-A177-3AD203B41FA5}">
                      <a16:colId xmlns:a16="http://schemas.microsoft.com/office/drawing/2014/main" val="7419060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Process</a:t>
                      </a:r>
                      <a:endParaRPr lang="en-PK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Arrival Time (AT)</a:t>
                      </a:r>
                      <a:endParaRPr lang="en-PK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Burst Time / Execution Time</a:t>
                      </a:r>
                      <a:endParaRPr lang="en-PK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43892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P1</a:t>
                      </a:r>
                      <a:endParaRPr lang="en-PK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PK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PK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42868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P2</a:t>
                      </a:r>
                      <a:endParaRPr lang="en-PK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PK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PK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02735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P3</a:t>
                      </a:r>
                      <a:endParaRPr lang="en-PK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PK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PK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9860184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3444A2D4-C3F3-4AED-57FC-57014C42474A}"/>
              </a:ext>
            </a:extLst>
          </p:cNvPr>
          <p:cNvSpPr txBox="1"/>
          <p:nvPr/>
        </p:nvSpPr>
        <p:spPr>
          <a:xfrm>
            <a:off x="716280" y="1333843"/>
            <a:ext cx="10439400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Question: 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Consider the following set of processes with their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Arrival Time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Burst Time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(in milliseconds).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Criteria – Time Quantum (1) &amp; Mode – Preemptive. 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Turnaround Time (TAT)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Waiting Time (WT)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Turnaround Time (AVG TAT)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Waiting Time (AVG WT)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Time of Process Execution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Context Switching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745FF57-9481-7B38-A491-2DB24890F648}"/>
              </a:ext>
            </a:extLst>
          </p:cNvPr>
          <p:cNvSpPr txBox="1">
            <a:spLocks/>
          </p:cNvSpPr>
          <p:nvPr/>
        </p:nvSpPr>
        <p:spPr>
          <a:xfrm>
            <a:off x="716280" y="367411"/>
            <a:ext cx="10967720" cy="84162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Shortest Remaining Time First (SRTF) Scheduling </a:t>
            </a:r>
            <a:endParaRPr lang="en-PK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59948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24840-87B7-5C2F-E6CB-CE9BD61D2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7928" y="1588500"/>
            <a:ext cx="6194552" cy="2807208"/>
          </a:xfrm>
        </p:spPr>
        <p:txBody>
          <a:bodyPr>
            <a:normAutofit/>
          </a:bodyPr>
          <a:lstStyle/>
          <a:p>
            <a:r>
              <a:rPr lang="en-US" sz="8000" dirty="0"/>
              <a:t>Thank you!</a:t>
            </a:r>
            <a:endParaRPr lang="en-PK" sz="8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19812F-AABC-0688-A538-8A303FE5DAE1}"/>
              </a:ext>
            </a:extLst>
          </p:cNvPr>
          <p:cNvSpPr txBox="1"/>
          <p:nvPr/>
        </p:nvSpPr>
        <p:spPr>
          <a:xfrm>
            <a:off x="640080" y="3429000"/>
            <a:ext cx="10535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Thank you for being attentive </a:t>
            </a:r>
            <a:r>
              <a:rPr lang="en-US"/>
              <a:t>and engaged!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19586899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{45F63935-1AF4-4F8C-991F-4D25D3E9C223}TF2ec419c9-97c3-4958-b02a-0886397d33afcfe10e4b-d68909c4b1b0</Template>
  <TotalTime>2254</TotalTime>
  <Words>674</Words>
  <Application>Microsoft Office PowerPoint</Application>
  <PresentationFormat>Widescreen</PresentationFormat>
  <Paragraphs>120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Calibri</vt:lpstr>
      <vt:lpstr>Rockwell</vt:lpstr>
      <vt:lpstr>Rockwell Condensed</vt:lpstr>
      <vt:lpstr>Times New Roman</vt:lpstr>
      <vt:lpstr>Wingdings</vt:lpstr>
      <vt:lpstr>Wood Type</vt:lpstr>
      <vt:lpstr>Operating systems</vt:lpstr>
      <vt:lpstr>Lecture Overview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Dell</dc:creator>
  <cp:lastModifiedBy>Adil Ahmed</cp:lastModifiedBy>
  <cp:revision>1189</cp:revision>
  <dcterms:created xsi:type="dcterms:W3CDTF">2025-10-15T06:15:30Z</dcterms:created>
  <dcterms:modified xsi:type="dcterms:W3CDTF">2025-11-07T04:51:07Z</dcterms:modified>
</cp:coreProperties>
</file>