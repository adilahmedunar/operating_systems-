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3"/>
  </p:notesMasterIdLst>
  <p:sldIdLst>
    <p:sldId id="256" r:id="rId2"/>
    <p:sldId id="261" r:id="rId3"/>
    <p:sldId id="271" r:id="rId4"/>
    <p:sldId id="355" r:id="rId5"/>
    <p:sldId id="357" r:id="rId6"/>
    <p:sldId id="329" r:id="rId7"/>
    <p:sldId id="359" r:id="rId8"/>
    <p:sldId id="342" r:id="rId9"/>
    <p:sldId id="360" r:id="rId10"/>
    <p:sldId id="36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13/11/2025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11/13/2025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1432223"/>
            <a:ext cx="10551160" cy="3035808"/>
          </a:xfrm>
        </p:spPr>
        <p:txBody>
          <a:bodyPr/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endParaRPr lang="en-PK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611884" y="455557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12 &amp; 13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328" y="47447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0740F-FC80-CFC7-E7B9-046A9B19DD75}"/>
              </a:ext>
            </a:extLst>
          </p:cNvPr>
          <p:cNvSpPr txBox="1"/>
          <p:nvPr/>
        </p:nvSpPr>
        <p:spPr>
          <a:xfrm>
            <a:off x="184404" y="1842165"/>
            <a:ext cx="118231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 Algorithms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43100" lvl="3" indent="-5715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– Preemptive</a:t>
            </a:r>
          </a:p>
          <a:p>
            <a:pPr marL="1943100" lvl="3" indent="-5715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– Non-Preemptive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0B81A-2B3D-3AE2-97F0-D7309A42B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B4B1-5B40-CC4C-739A-C7DB899B604D}"/>
              </a:ext>
            </a:extLst>
          </p:cNvPr>
          <p:cNvSpPr txBox="1">
            <a:spLocks/>
          </p:cNvSpPr>
          <p:nvPr/>
        </p:nvSpPr>
        <p:spPr>
          <a:xfrm>
            <a:off x="447040" y="582202"/>
            <a:ext cx="1096772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– Preemptive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6E3949-761D-8E1A-4E90-C9EB16776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660" y="1860121"/>
            <a:ext cx="993648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assigned a </a:t>
            </a: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number (integer)</a:t>
            </a:r>
            <a:r>
              <a:rPr lang="en-PK" altLang="en-P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with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priority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selected for execution first. 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multiple processes sharing the same priority, they are scheduled in the order they arrived, following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First-Come, First-Served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approach. 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chosen process is then executed, either until completion or until it is preempted, depending on whether the scheduling is preemptive or non-preemptive.</a:t>
            </a: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103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5C12E-EAE3-D607-1F7B-2FF1356AE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FA3E-B8E2-E240-2A04-24BBFE3C4BBF}"/>
              </a:ext>
            </a:extLst>
          </p:cNvPr>
          <p:cNvSpPr txBox="1">
            <a:spLocks/>
          </p:cNvSpPr>
          <p:nvPr/>
        </p:nvSpPr>
        <p:spPr>
          <a:xfrm>
            <a:off x="447040" y="582202"/>
            <a:ext cx="1096772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– Preemptive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92850EB-EEFE-4D1A-3FAB-8BDA8C524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780" y="1476492"/>
            <a:ext cx="993648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considered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case of Priority Scheduling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Here,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= inverse of predicted next CPU burst 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(shorter burst   → higher priority).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Starvation (Indefinite Blocking):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Low-priority processes may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get CPU 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high-priority processes keep arriving.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Aging: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priority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process the longer it waits in the system.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process starves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forever.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round-robin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86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C0BDC-E434-1064-65D1-18A2B59E2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826C-48AE-228D-14D9-F4D583B64017}"/>
              </a:ext>
            </a:extLst>
          </p:cNvPr>
          <p:cNvSpPr txBox="1">
            <a:spLocks/>
          </p:cNvSpPr>
          <p:nvPr/>
        </p:nvSpPr>
        <p:spPr>
          <a:xfrm>
            <a:off x="447040" y="582202"/>
            <a:ext cx="1096772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– Preemptive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B9216E-E8CC-5873-10EA-EDD534FB1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660" y="1768682"/>
            <a:ext cx="993648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can be implemented in two ways: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Preemptive Priority Scheduling: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new process arrives with a higher priority than the currently running process, the CPU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(taken away) and given to the higher-priority process.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Non-Preemptive Priority Scheduling: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 process gets the CPU, it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continues until it finishes or blocks,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a higher-priority process arrives later.</a:t>
            </a:r>
          </a:p>
        </p:txBody>
      </p:sp>
    </p:spTree>
    <p:extLst>
      <p:ext uri="{BB962C8B-B14F-4D97-AF65-F5344CB8AC3E}">
        <p14:creationId xmlns:p14="http://schemas.microsoft.com/office/powerpoint/2010/main" val="1523217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EF17-EFBC-EFA0-20FD-6DCDD2D484E9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Preemptive Priority Scheduling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09690-1062-020E-7E59-E5B6B7DF353B}"/>
              </a:ext>
            </a:extLst>
          </p:cNvPr>
          <p:cNvSpPr txBox="1"/>
          <p:nvPr/>
        </p:nvSpPr>
        <p:spPr>
          <a:xfrm>
            <a:off x="4142740" y="1017441"/>
            <a:ext cx="601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Priority</a:t>
            </a:r>
            <a:endParaRPr lang="en-US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– Preemptive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Condition: Higher the number, higher the priority</a:t>
            </a:r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PK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BDDD1A-BF56-30EB-6396-B61B6019A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80364"/>
              </p:ext>
            </p:extLst>
          </p:nvPr>
        </p:nvGraphicFramePr>
        <p:xfrm>
          <a:off x="883921" y="2039517"/>
          <a:ext cx="10413998" cy="2431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714">
                  <a:extLst>
                    <a:ext uri="{9D8B030D-6E8A-4147-A177-3AD203B41FA5}">
                      <a16:colId xmlns:a16="http://schemas.microsoft.com/office/drawing/2014/main" val="715791180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56905436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741906096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75725681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1522768377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1781014799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8449544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/ Execution 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Completion Time (CT)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Turnaround Time (TAT)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Waiting Time (WT)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389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8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73599"/>
                  </a:ext>
                </a:extLst>
              </a:tr>
              <a:tr h="4044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6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3802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F51E25D-022F-2E11-4A3C-E2792F41BDB6}"/>
              </a:ext>
            </a:extLst>
          </p:cNvPr>
          <p:cNvSpPr txBox="1"/>
          <p:nvPr/>
        </p:nvSpPr>
        <p:spPr>
          <a:xfrm>
            <a:off x="452120" y="1433857"/>
            <a:ext cx="3342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 Example # 01</a:t>
            </a:r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8C2C84-D751-29D3-A43E-95ADE6637F1E}"/>
              </a:ext>
            </a:extLst>
          </p:cNvPr>
          <p:cNvSpPr txBox="1"/>
          <p:nvPr/>
        </p:nvSpPr>
        <p:spPr>
          <a:xfrm>
            <a:off x="457200" y="5205868"/>
            <a:ext cx="2255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  <a:p>
            <a:pPr algn="ctr"/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Queue</a:t>
            </a:r>
            <a:endParaRPr lang="en-PK" sz="2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295C21-7EC0-58D2-BF74-D0CF0CF0A452}"/>
              </a:ext>
            </a:extLst>
          </p:cNvPr>
          <p:cNvSpPr txBox="1"/>
          <p:nvPr/>
        </p:nvSpPr>
        <p:spPr>
          <a:xfrm>
            <a:off x="2123440" y="5684256"/>
            <a:ext cx="682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0           1           2          3           4          5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en-PK" sz="2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FC76A5-19A2-3091-4911-B9A0CCA86232}"/>
              </a:ext>
            </a:extLst>
          </p:cNvPr>
          <p:cNvSpPr txBox="1"/>
          <p:nvPr/>
        </p:nvSpPr>
        <p:spPr>
          <a:xfrm>
            <a:off x="3962400" y="6069512"/>
            <a:ext cx="2255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endParaRPr lang="en-PK" sz="2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75DB8F-40E9-8A49-B210-328D7F9B306E}"/>
              </a:ext>
            </a:extLst>
          </p:cNvPr>
          <p:cNvCxnSpPr/>
          <p:nvPr/>
        </p:nvCxnSpPr>
        <p:spPr>
          <a:xfrm>
            <a:off x="2153920" y="6249247"/>
            <a:ext cx="2123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2AA365-EA52-0169-ACC1-23CB58BB583B}"/>
              </a:ext>
            </a:extLst>
          </p:cNvPr>
          <p:cNvCxnSpPr/>
          <p:nvPr/>
        </p:nvCxnSpPr>
        <p:spPr>
          <a:xfrm>
            <a:off x="5857240" y="6228927"/>
            <a:ext cx="2123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467046-2557-6C93-DD73-6F69A2C3D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368633"/>
              </p:ext>
            </p:extLst>
          </p:nvPr>
        </p:nvGraphicFramePr>
        <p:xfrm>
          <a:off x="2580639" y="5262979"/>
          <a:ext cx="5689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8325038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045041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888872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86709909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3300174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20245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00234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P4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737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77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90EA1-077E-5B5A-4751-6A1FA9AF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8ADE1A-4100-F1E2-4870-7BE5E1B2F252}"/>
              </a:ext>
            </a:extLst>
          </p:cNvPr>
          <p:cNvSpPr txBox="1"/>
          <p:nvPr/>
        </p:nvSpPr>
        <p:spPr>
          <a:xfrm>
            <a:off x="4142740" y="1017441"/>
            <a:ext cx="6019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Priority</a:t>
            </a:r>
            <a:endParaRPr lang="en-US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– Preemptive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Condition: Smaller the number, higher the priority</a:t>
            </a:r>
          </a:p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Quantum = 2 </a:t>
            </a:r>
            <a:endParaRPr lang="en-PK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DFD27-B5B0-9DED-DC89-64C8DCFD7DF1}"/>
              </a:ext>
            </a:extLst>
          </p:cNvPr>
          <p:cNvSpPr txBox="1"/>
          <p:nvPr/>
        </p:nvSpPr>
        <p:spPr>
          <a:xfrm>
            <a:off x="548640" y="1720754"/>
            <a:ext cx="3342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 Example # 02</a:t>
            </a:r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F80C8F-FBA6-1C96-01FF-94C35C0C3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055" y="2680400"/>
            <a:ext cx="7875905" cy="3867254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864F164A-205A-2079-C9CC-40E3662252BC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Preemptive Priority Scheduling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233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BD54-3457-B8B3-434C-529B0B9C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5B78B6-C245-9642-72C8-58E47BF47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208122"/>
              </p:ext>
            </p:extLst>
          </p:nvPr>
        </p:nvGraphicFramePr>
        <p:xfrm>
          <a:off x="5935980" y="3502317"/>
          <a:ext cx="4463142" cy="202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714">
                  <a:extLst>
                    <a:ext uri="{9D8B030D-6E8A-4147-A177-3AD203B41FA5}">
                      <a16:colId xmlns:a16="http://schemas.microsoft.com/office/drawing/2014/main" val="715791180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56905436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741906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/ Execution 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389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86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73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601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444A2D4-C3F3-4AED-57FC-57014C42474A}"/>
              </a:ext>
            </a:extLst>
          </p:cNvPr>
          <p:cNvSpPr txBox="1"/>
          <p:nvPr/>
        </p:nvSpPr>
        <p:spPr>
          <a:xfrm>
            <a:off x="716280" y="1333843"/>
            <a:ext cx="10439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following set of processes with priorities (where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number indicates higher priority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arrival 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 milliseconds). Scheduling criteria: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Quantum = 2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= Preemptive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following: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Turnaround Time (TAT)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(WT)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Turnaround Time (Avg. TAT)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Time (Avg. WT)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Process Execution Time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Context Switches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A9026C-3914-41EC-B7D9-A932777B895F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Preemptive Priority Scheduling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994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0C45D-0A6D-C6A0-3DA6-41C5FA1E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1C6D56-C124-013A-28ED-2C7B28562F45}"/>
              </a:ext>
            </a:extLst>
          </p:cNvPr>
          <p:cNvSpPr txBox="1"/>
          <p:nvPr/>
        </p:nvSpPr>
        <p:spPr>
          <a:xfrm>
            <a:off x="4142740" y="1017441"/>
            <a:ext cx="601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Criteria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Priority</a:t>
            </a:r>
            <a:endParaRPr lang="en-US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– Preemptive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Condition: Smaller the number, Higher the priority</a:t>
            </a:r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PK" sz="1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DAAD62-04C4-4DB7-975C-AF216B1CF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056299"/>
              </p:ext>
            </p:extLst>
          </p:nvPr>
        </p:nvGraphicFramePr>
        <p:xfrm>
          <a:off x="3625669" y="2135869"/>
          <a:ext cx="4463142" cy="2802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7714">
                  <a:extLst>
                    <a:ext uri="{9D8B030D-6E8A-4147-A177-3AD203B41FA5}">
                      <a16:colId xmlns:a16="http://schemas.microsoft.com/office/drawing/2014/main" val="715791180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56905436"/>
                    </a:ext>
                  </a:extLst>
                </a:gridCol>
                <a:gridCol w="1487714">
                  <a:extLst>
                    <a:ext uri="{9D8B030D-6E8A-4147-A177-3AD203B41FA5}">
                      <a16:colId xmlns:a16="http://schemas.microsoft.com/office/drawing/2014/main" val="275725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/ Execution 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389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86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73599"/>
                  </a:ext>
                </a:extLst>
              </a:tr>
              <a:tr h="40440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6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843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3802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0F10095-123B-6ADE-73B9-616BE94B9178}"/>
              </a:ext>
            </a:extLst>
          </p:cNvPr>
          <p:cNvSpPr txBox="1"/>
          <p:nvPr/>
        </p:nvSpPr>
        <p:spPr>
          <a:xfrm>
            <a:off x="452120" y="1433857"/>
            <a:ext cx="3342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 Example </a:t>
            </a:r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05A83C-E747-D1EC-7D40-684740EA5169}"/>
              </a:ext>
            </a:extLst>
          </p:cNvPr>
          <p:cNvSpPr txBox="1"/>
          <p:nvPr/>
        </p:nvSpPr>
        <p:spPr>
          <a:xfrm>
            <a:off x="492760" y="5185752"/>
            <a:ext cx="2255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  <a:p>
            <a:pPr algn="ctr"/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Queue</a:t>
            </a:r>
            <a:endParaRPr lang="en-PK" sz="2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2BBC9C-6E20-9B55-F45F-FA903A75F02B}"/>
              </a:ext>
            </a:extLst>
          </p:cNvPr>
          <p:cNvSpPr txBox="1"/>
          <p:nvPr/>
        </p:nvSpPr>
        <p:spPr>
          <a:xfrm>
            <a:off x="2804160" y="5722614"/>
            <a:ext cx="682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19                   </a:t>
            </a:r>
            <a:endParaRPr lang="en-PK" sz="2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A3EC02-4B1B-0040-FB7B-F0F42D04202A}"/>
              </a:ext>
            </a:extLst>
          </p:cNvPr>
          <p:cNvSpPr txBox="1"/>
          <p:nvPr/>
        </p:nvSpPr>
        <p:spPr>
          <a:xfrm>
            <a:off x="3962400" y="6069512"/>
            <a:ext cx="2255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endParaRPr lang="en-PK" sz="2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97A9C8-EB48-629A-7B94-53C36FEAE76F}"/>
              </a:ext>
            </a:extLst>
          </p:cNvPr>
          <p:cNvCxnSpPr/>
          <p:nvPr/>
        </p:nvCxnSpPr>
        <p:spPr>
          <a:xfrm>
            <a:off x="2153920" y="6249247"/>
            <a:ext cx="2123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5832EE-1340-AC8D-3927-D7963252CFD0}"/>
              </a:ext>
            </a:extLst>
          </p:cNvPr>
          <p:cNvCxnSpPr/>
          <p:nvPr/>
        </p:nvCxnSpPr>
        <p:spPr>
          <a:xfrm>
            <a:off x="7152640" y="6260254"/>
            <a:ext cx="21234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0FB5A9-A965-3631-2569-F66CB648C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41261"/>
              </p:ext>
            </p:extLst>
          </p:nvPr>
        </p:nvGraphicFramePr>
        <p:xfrm>
          <a:off x="3916680" y="5296500"/>
          <a:ext cx="4064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83250386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045041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8888721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86709909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330017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P5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P3</a:t>
                      </a:r>
                      <a:endParaRPr lang="en-P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P4</a:t>
                      </a:r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737018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2979D04-8D1E-07BB-0D80-8B0A5B743873}"/>
              </a:ext>
            </a:extLst>
          </p:cNvPr>
          <p:cNvSpPr txBox="1">
            <a:spLocks/>
          </p:cNvSpPr>
          <p:nvPr/>
        </p:nvSpPr>
        <p:spPr>
          <a:xfrm>
            <a:off x="373380" y="220442"/>
            <a:ext cx="10967720" cy="8907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 – Non-Preemptive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AA09A-C9F1-8B44-7B52-119FF3DB74A8}"/>
              </a:ext>
            </a:extLst>
          </p:cNvPr>
          <p:cNvSpPr txBox="1"/>
          <p:nvPr/>
        </p:nvSpPr>
        <p:spPr>
          <a:xfrm>
            <a:off x="4729480" y="6049192"/>
            <a:ext cx="2255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endParaRPr lang="en-PK" sz="2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438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38AAF-2C04-100F-FE79-936FEA2A7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D6ACA3-B415-4A0A-A829-326AA1B01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962375"/>
              </p:ext>
            </p:extLst>
          </p:nvPr>
        </p:nvGraphicFramePr>
        <p:xfrm>
          <a:off x="6301740" y="3072780"/>
          <a:ext cx="4463144" cy="229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5786">
                  <a:extLst>
                    <a:ext uri="{9D8B030D-6E8A-4147-A177-3AD203B41FA5}">
                      <a16:colId xmlns:a16="http://schemas.microsoft.com/office/drawing/2014/main" val="715791180"/>
                    </a:ext>
                  </a:extLst>
                </a:gridCol>
                <a:gridCol w="1115786">
                  <a:extLst>
                    <a:ext uri="{9D8B030D-6E8A-4147-A177-3AD203B41FA5}">
                      <a16:colId xmlns:a16="http://schemas.microsoft.com/office/drawing/2014/main" val="256905436"/>
                    </a:ext>
                  </a:extLst>
                </a:gridCol>
                <a:gridCol w="1115786">
                  <a:extLst>
                    <a:ext uri="{9D8B030D-6E8A-4147-A177-3AD203B41FA5}">
                      <a16:colId xmlns:a16="http://schemas.microsoft.com/office/drawing/2014/main" val="2849153352"/>
                    </a:ext>
                  </a:extLst>
                </a:gridCol>
                <a:gridCol w="1115786">
                  <a:extLst>
                    <a:ext uri="{9D8B030D-6E8A-4147-A177-3AD203B41FA5}">
                      <a16:colId xmlns:a16="http://schemas.microsoft.com/office/drawing/2014/main" val="741906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Arrival Time (AT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Time / Execution Time</a:t>
                      </a:r>
                      <a:endParaRPr lang="en-PK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389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86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273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601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A28A75B-7FEA-B2A5-3EAD-E6223E4770E0}"/>
              </a:ext>
            </a:extLst>
          </p:cNvPr>
          <p:cNvSpPr txBox="1"/>
          <p:nvPr/>
        </p:nvSpPr>
        <p:spPr>
          <a:xfrm>
            <a:off x="716280" y="1333843"/>
            <a:ext cx="104394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following set of processes with priorities (where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number indicates higher priority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Scheduling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= Non-Preemptive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following: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Turnaround Time (TAT)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Time (WT)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Turnaround Time (Avg. TAT)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Time (Avg. WT)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Process Execution Time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B20CB-21A2-4F86-F6ED-D71859039993}"/>
              </a:ext>
            </a:extLst>
          </p:cNvPr>
          <p:cNvSpPr txBox="1">
            <a:spLocks/>
          </p:cNvSpPr>
          <p:nvPr/>
        </p:nvSpPr>
        <p:spPr>
          <a:xfrm>
            <a:off x="548640" y="2082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Preemptive Priority Scheduling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126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8" y="158850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Solve the problems and save </a:t>
            </a:r>
            <a:r>
              <a:rPr lang="en-US"/>
              <a:t>your numbers!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2318</TotalTime>
  <Words>642</Words>
  <Application>Microsoft Office PowerPoint</Application>
  <PresentationFormat>Widescreen</PresentationFormat>
  <Paragraphs>173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Operating systems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1287</cp:revision>
  <dcterms:created xsi:type="dcterms:W3CDTF">2025-10-15T06:15:30Z</dcterms:created>
  <dcterms:modified xsi:type="dcterms:W3CDTF">2025-11-13T07:58:53Z</dcterms:modified>
</cp:coreProperties>
</file>