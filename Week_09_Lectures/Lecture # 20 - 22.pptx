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31"/>
  </p:notesMasterIdLst>
  <p:sldIdLst>
    <p:sldId id="256" r:id="rId2"/>
    <p:sldId id="261" r:id="rId3"/>
    <p:sldId id="413" r:id="rId4"/>
    <p:sldId id="414" r:id="rId5"/>
    <p:sldId id="415" r:id="rId6"/>
    <p:sldId id="417" r:id="rId7"/>
    <p:sldId id="418" r:id="rId8"/>
    <p:sldId id="420" r:id="rId9"/>
    <p:sldId id="419" r:id="rId10"/>
    <p:sldId id="421" r:id="rId11"/>
    <p:sldId id="424" r:id="rId12"/>
    <p:sldId id="422" r:id="rId13"/>
    <p:sldId id="423" r:id="rId14"/>
    <p:sldId id="425" r:id="rId15"/>
    <p:sldId id="426" r:id="rId16"/>
    <p:sldId id="427" r:id="rId17"/>
    <p:sldId id="429" r:id="rId18"/>
    <p:sldId id="428" r:id="rId19"/>
    <p:sldId id="430" r:id="rId20"/>
    <p:sldId id="433" r:id="rId21"/>
    <p:sldId id="431" r:id="rId22"/>
    <p:sldId id="432" r:id="rId23"/>
    <p:sldId id="434" r:id="rId24"/>
    <p:sldId id="436" r:id="rId25"/>
    <p:sldId id="437" r:id="rId26"/>
    <p:sldId id="438" r:id="rId27"/>
    <p:sldId id="435" r:id="rId28"/>
    <p:sldId id="439" r:id="rId29"/>
    <p:sldId id="266"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42" autoAdjust="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BE7D3E-4D6D-4A9E-AA24-8E11DFA8298B}" type="datetimeFigureOut">
              <a:rPr lang="en-PK" smtClean="0"/>
              <a:t>18/01/2026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9A406AE-9E8D-4B19-A8A6-37C9AB1FA076}" type="slidenum">
              <a:rPr lang="en-PK" smtClean="0"/>
              <a:t>‹#›</a:t>
            </a:fld>
            <a:endParaRPr lang="en-PK"/>
          </a:p>
        </p:txBody>
      </p:sp>
    </p:spTree>
    <p:extLst>
      <p:ext uri="{BB962C8B-B14F-4D97-AF65-F5344CB8AC3E}">
        <p14:creationId xmlns:p14="http://schemas.microsoft.com/office/powerpoint/2010/main" val="2438086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PK"/>
          </a:p>
        </p:txBody>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39A406AE-9E8D-4B19-A8A6-37C9AB1FA076}" type="slidenum">
              <a:rPr lang="en-PK" smtClean="0"/>
              <a:t>1</a:t>
            </a:fld>
            <a:endParaRPr lang="en-PK"/>
          </a:p>
        </p:txBody>
      </p:sp>
    </p:spTree>
    <p:extLst>
      <p:ext uri="{BB962C8B-B14F-4D97-AF65-F5344CB8AC3E}">
        <p14:creationId xmlns:p14="http://schemas.microsoft.com/office/powerpoint/2010/main" val="3141284625"/>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3284890-85D2-4D7B-8EF5-15A9C1DB8F4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F5661D-6934-4B32-B92C-470368BF1EC6}"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6F822A4-8DA6-4447-9B1F-C5DB58435268}" type="datetimeFigureOut">
              <a:rPr lang="en-US" dirty="0"/>
              <a:t>1/18/2026</a:t>
            </a:fld>
            <a:endParaRPr lang="en-US" dirty="0"/>
          </a:p>
        </p:txBody>
      </p:sp>
      <p:sp>
        <p:nvSpPr>
          <p:cNvPr id="5" name="Footer Placeholder 4"/>
          <p:cNvSpPr>
            <a:spLocks noGrp="1"/>
          </p:cNvSpPr>
          <p:nvPr>
            <p:ph type="ftr" sz="quarter" idx="11"/>
          </p:nvPr>
        </p:nvSpPr>
        <p:spPr>
          <a:xfrm>
            <a:off x="2182708" y="6272784"/>
            <a:ext cx="6327648" cy="365125"/>
          </a:xfrm>
        </p:spPr>
        <p:txBody>
          <a:bodyPr/>
          <a:lstStyle/>
          <a:p>
            <a:endParaRPr lang="en-US"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a:lstStyle/>
            <a:p>
              <a:endParaRPr lang="en-PK"/>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a:lstStyle/>
            <a:p>
              <a:endParaRPr lang="en-PK"/>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48D31E-DCDA-41A7-9C67-C4B11B94D21D}"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3762C0-B258-48F1-ADE6-176B4174CCDD}" type="datetimeFigureOut">
              <a:rPr lang="en-US" dirty="0"/>
              <a:t>1/18/2026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7919A6-33EB-49BD-A62F-1FA56B9F9712}" type="datetimeFigureOut">
              <a:rPr lang="en-US" dirty="0"/>
              <a:t>1/18/2026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4E7D1B-D673-4CF6-8672-009D42ABD2A0}" type="datetimeFigureOut">
              <a:rPr lang="en-US" dirty="0"/>
              <a:t>1/18/2026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A16AA21-1863-4931-97CB-99D0A168701B}" type="datetimeFigureOut">
              <a:rPr lang="en-US" dirty="0"/>
              <a:t>1/18/2026</a:t>
            </a:fld>
            <a:endParaRPr lang="en-US" dirty="0"/>
          </a:p>
        </p:txBody>
      </p:sp>
      <p:sp>
        <p:nvSpPr>
          <p:cNvPr id="6" name="Footer Placeholder 5"/>
          <p:cNvSpPr>
            <a:spLocks noGrp="1"/>
          </p:cNvSpPr>
          <p:nvPr>
            <p:ph type="ftr" sz="quarter" idx="11"/>
          </p:nvPr>
        </p:nvSpPr>
        <p:spPr/>
        <p:txBody>
          <a:bodyPr/>
          <a:lstStyle/>
          <a:p>
            <a:endParaRPr lang="en-US"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72C379-9A7C-4C87-A116-CBE9F58B04C5}" type="datetimeFigureOut">
              <a:rPr lang="en-US" dirty="0"/>
              <a:t>1/18/2026</a:t>
            </a:fld>
            <a:endParaRPr lang="en-US"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a:lstStyle/>
            <a:p>
              <a:endParaRPr lang="en-PK"/>
            </a:p>
          </p:txBody>
        </p:sp>
      </p:gr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157CC2-0FC8-4686-B024-99790E0F5162}"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764DA5-CD3D-4590-A511-FCD3BC7A793E}" type="datetimeFigureOut">
              <a:rPr lang="en-US" dirty="0"/>
              <a:t>1/18/2026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8664C608-40B1-4030-A28D-5B74BC98ADCE}" type="datetimeFigureOut">
              <a:rPr lang="en-US" dirty="0"/>
              <a:t>1/18/2026</a:t>
            </a:fld>
            <a:endParaRPr lang="en-US"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US"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PK"/>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PK"/>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ECB6B-98B0-7DD3-973D-99D900F05140}"/>
              </a:ext>
            </a:extLst>
          </p:cNvPr>
          <p:cNvSpPr>
            <a:spLocks noGrp="1"/>
          </p:cNvSpPr>
          <p:nvPr>
            <p:ph type="ctrTitle"/>
          </p:nvPr>
        </p:nvSpPr>
        <p:spPr>
          <a:xfrm>
            <a:off x="467360" y="1432223"/>
            <a:ext cx="10551160" cy="3035808"/>
          </a:xfrm>
        </p:spPr>
        <p:txBody>
          <a:bodyPr/>
          <a:lstStyle/>
          <a:p>
            <a:pPr algn="ctr"/>
            <a:r>
              <a:rPr lang="en-US" sz="6600" b="1" dirty="0">
                <a:latin typeface="Times New Roman" panose="02020603050405020304" pitchFamily="18" charset="0"/>
                <a:cs typeface="Times New Roman" panose="02020603050405020304" pitchFamily="18" charset="0"/>
              </a:rPr>
              <a:t>Operating systems</a:t>
            </a:r>
            <a:endParaRPr lang="en-PK" sz="6600" b="1" dirty="0">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A4B46766-25E3-5BCC-FCFC-68333EE8C7DA}"/>
              </a:ext>
            </a:extLst>
          </p:cNvPr>
          <p:cNvSpPr txBox="1">
            <a:spLocks/>
          </p:cNvSpPr>
          <p:nvPr/>
        </p:nvSpPr>
        <p:spPr>
          <a:xfrm>
            <a:off x="1611884" y="4555573"/>
            <a:ext cx="8053832" cy="1273048"/>
          </a:xfrm>
          <a:prstGeom prst="rect">
            <a:avLst/>
          </a:prstGeom>
        </p:spPr>
        <p:txBody>
          <a:bodyPr vert="horz" lIns="91440" tIns="45720" rIns="91440" bIns="45720" rtlCol="0" anchor="ctr">
            <a:normAutofit/>
          </a:bodyPr>
          <a:lstStyle>
            <a:lvl1pPr algn="l" defTabSz="914400" rtl="0" eaLnBrk="1" latinLnBrk="0" hangingPunct="1">
              <a:lnSpc>
                <a:spcPct val="80000"/>
              </a:lnSpc>
              <a:spcBef>
                <a:spcPct val="0"/>
              </a:spcBef>
              <a:buNone/>
              <a:defRPr sz="9600" kern="1200" cap="all" baseline="0">
                <a:blipFill dpi="0" rotWithShape="1">
                  <a:blip r:embed="rId3"/>
                  <a:srcRect/>
                  <a:tile tx="6350" ty="-127000" sx="65000" sy="64000" flip="none" algn="tl"/>
                </a:blipFill>
                <a:latin typeface="+mj-lt"/>
                <a:ea typeface="+mj-ea"/>
                <a:cs typeface="+mj-cs"/>
              </a:defRPr>
            </a:lvl1pPr>
          </a:lstStyle>
          <a:p>
            <a:pPr algn="ctr"/>
            <a:r>
              <a:rPr lang="en-US" sz="6600" b="1" dirty="0">
                <a:latin typeface="Times New Roman" panose="02020603050405020304" pitchFamily="18" charset="0"/>
                <a:cs typeface="Times New Roman" panose="02020603050405020304" pitchFamily="18" charset="0"/>
              </a:rPr>
              <a:t>Lecture</a:t>
            </a:r>
            <a:r>
              <a:rPr lang="en-US" sz="7200" b="1" dirty="0">
                <a:latin typeface="Times New Roman" panose="02020603050405020304" pitchFamily="18" charset="0"/>
                <a:cs typeface="Times New Roman" panose="02020603050405020304" pitchFamily="18" charset="0"/>
              </a:rPr>
              <a:t> </a:t>
            </a:r>
            <a:r>
              <a:rPr lang="en-US" sz="7200" b="1">
                <a:latin typeface="Times New Roman" panose="02020603050405020304" pitchFamily="18" charset="0"/>
                <a:cs typeface="Times New Roman" panose="02020603050405020304" pitchFamily="18" charset="0"/>
              </a:rPr>
              <a:t># 20 - 22</a:t>
            </a:r>
            <a:endParaRPr lang="en-PK" sz="7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7502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B506D-D8CE-6C1D-091D-252ED65791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E51294-A245-19C5-6231-4502DD714494}"/>
              </a:ext>
            </a:extLst>
          </p:cNvPr>
          <p:cNvSpPr>
            <a:spLocks noGrp="1"/>
          </p:cNvSpPr>
          <p:nvPr>
            <p:ph type="title"/>
          </p:nvPr>
        </p:nvSpPr>
        <p:spPr>
          <a:xfrm>
            <a:off x="1227328" y="474472"/>
            <a:ext cx="8053832" cy="1273048"/>
          </a:xfrm>
        </p:spPr>
        <p:txBody>
          <a:bodyPr>
            <a:normAutofit/>
          </a:bodyPr>
          <a:lstStyle/>
          <a:p>
            <a:r>
              <a:rPr lang="en-US" b="1" dirty="0">
                <a:latin typeface="Times New Roman" panose="02020603050405020304" pitchFamily="18" charset="0"/>
                <a:cs typeface="Times New Roman" panose="02020603050405020304" pitchFamily="18" charset="0"/>
              </a:rPr>
              <a:t>Lecture Overview</a:t>
            </a:r>
            <a:endParaRPr lang="en-PK"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F40740F-FC80-CFC7-E7B9-046A9B19DD75}"/>
              </a:ext>
            </a:extLst>
          </p:cNvPr>
          <p:cNvSpPr txBox="1"/>
          <p:nvPr/>
        </p:nvSpPr>
        <p:spPr>
          <a:xfrm>
            <a:off x="428244" y="1842165"/>
            <a:ext cx="10026396" cy="4278094"/>
          </a:xfrm>
          <a:prstGeom prst="rect">
            <a:avLst/>
          </a:prstGeom>
          <a:noFill/>
        </p:spPr>
        <p:txBody>
          <a:bodyPr wrap="square">
            <a:spAutoFit/>
          </a:bodyPr>
          <a:lstStyle/>
          <a:p>
            <a:pPr marL="1485900" lvl="2" indent="-571500">
              <a:buFont typeface="Wingdings" panose="05000000000000000000" pitchFamily="2" charset="2"/>
              <a:buChar char="q"/>
            </a:pPr>
            <a:r>
              <a:rPr lang="en-US" sz="4000" b="1" dirty="0">
                <a:latin typeface="Times New Roman" panose="02020603050405020304" pitchFamily="18" charset="0"/>
                <a:cs typeface="Times New Roman" panose="02020603050405020304" pitchFamily="18" charset="0"/>
              </a:rPr>
              <a:t>Deadlock</a:t>
            </a:r>
          </a:p>
          <a:p>
            <a:pPr marL="1485900" lvl="2" indent="-571500">
              <a:buFont typeface="Wingdings" panose="05000000000000000000" pitchFamily="2" charset="2"/>
              <a:buChar char="q"/>
            </a:pPr>
            <a:r>
              <a:rPr lang="en-US" sz="4000" b="1" dirty="0">
                <a:latin typeface="Times New Roman" panose="02020603050405020304" pitchFamily="18" charset="0"/>
                <a:cs typeface="Times New Roman" panose="02020603050405020304" pitchFamily="18" charset="0"/>
              </a:rPr>
              <a:t>Necessary Conditions for Deadlock </a:t>
            </a:r>
          </a:p>
          <a:p>
            <a:pPr marL="1485900" lvl="2" indent="-571500">
              <a:buFont typeface="Wingdings" panose="05000000000000000000" pitchFamily="2" charset="2"/>
              <a:buChar char="q"/>
            </a:pPr>
            <a:r>
              <a:rPr lang="en-US" sz="4000" b="1" dirty="0">
                <a:latin typeface="Times New Roman" panose="02020603050405020304" pitchFamily="18" charset="0"/>
                <a:cs typeface="Times New Roman" panose="02020603050405020304" pitchFamily="18" charset="0"/>
              </a:rPr>
              <a:t>Resource Allocation Graph (RAG) </a:t>
            </a:r>
          </a:p>
          <a:p>
            <a:pPr marL="1485900" lvl="2" indent="-571500">
              <a:buFont typeface="Wingdings" panose="05000000000000000000" pitchFamily="2" charset="2"/>
              <a:buChar char="q"/>
            </a:pPr>
            <a:r>
              <a:rPr lang="en-US" sz="4000" b="1" dirty="0">
                <a:latin typeface="Times New Roman" panose="02020603050405020304" pitchFamily="18" charset="0"/>
                <a:cs typeface="Times New Roman" panose="02020603050405020304" pitchFamily="18" charset="0"/>
              </a:rPr>
              <a:t>Methods of Handling Deadlocks</a:t>
            </a:r>
          </a:p>
          <a:p>
            <a:pPr marL="1943100" lvl="3" indent="-571500">
              <a:buFont typeface="Wingdings" panose="05000000000000000000" pitchFamily="2" charset="2"/>
              <a:buChar char="q"/>
            </a:pPr>
            <a:r>
              <a:rPr lang="en-US" sz="4000" b="1" dirty="0">
                <a:latin typeface="Times New Roman" panose="02020603050405020304" pitchFamily="18" charset="0"/>
                <a:cs typeface="Times New Roman" panose="02020603050405020304" pitchFamily="18" charset="0"/>
              </a:rPr>
              <a:t>Banker’s Algorithm</a:t>
            </a:r>
          </a:p>
          <a:p>
            <a:pPr marL="1485900" lvl="2" indent="-571500">
              <a:buFont typeface="Wingdings" panose="05000000000000000000" pitchFamily="2" charset="2"/>
              <a:buChar char="q"/>
            </a:pPr>
            <a:r>
              <a:rPr lang="en-US" sz="3600" b="1" dirty="0">
                <a:latin typeface="Times New Roman" panose="02020603050405020304" pitchFamily="18" charset="0"/>
                <a:cs typeface="Times New Roman" panose="02020603050405020304" pitchFamily="18" charset="0"/>
              </a:rPr>
              <a:t>Resource-Allocation Graph (RAG)</a:t>
            </a:r>
          </a:p>
          <a:p>
            <a:pPr algn="ctr"/>
            <a:r>
              <a:rPr lang="en-US" sz="3600" b="1" dirty="0">
                <a:latin typeface="Times New Roman" panose="02020603050405020304" pitchFamily="18" charset="0"/>
                <a:cs typeface="Times New Roman" panose="02020603050405020304" pitchFamily="18" charset="0"/>
              </a:rPr>
              <a:t> and Wait-for Graph AND (WFG)</a:t>
            </a:r>
          </a:p>
        </p:txBody>
      </p:sp>
    </p:spTree>
    <p:extLst>
      <p:ext uri="{BB962C8B-B14F-4D97-AF65-F5344CB8AC3E}">
        <p14:creationId xmlns:p14="http://schemas.microsoft.com/office/powerpoint/2010/main" val="3442067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7655D-08FA-362F-F860-4AB996567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BFC0AD-8D18-B343-6335-FD9A89486E3F}"/>
              </a:ext>
            </a:extLst>
          </p:cNvPr>
          <p:cNvSpPr txBox="1">
            <a:spLocks/>
          </p:cNvSpPr>
          <p:nvPr/>
        </p:nvSpPr>
        <p:spPr>
          <a:xfrm>
            <a:off x="393700" y="137716"/>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DEADLOCKS</a:t>
            </a:r>
          </a:p>
        </p:txBody>
      </p:sp>
      <p:sp>
        <p:nvSpPr>
          <p:cNvPr id="4" name="TextBox 3">
            <a:extLst>
              <a:ext uri="{FF2B5EF4-FFF2-40B4-BE49-F238E27FC236}">
                <a16:creationId xmlns:a16="http://schemas.microsoft.com/office/drawing/2014/main" id="{7567EC07-E1AD-1BBE-30A7-5B36C3A06B8F}"/>
              </a:ext>
            </a:extLst>
          </p:cNvPr>
          <p:cNvSpPr txBox="1"/>
          <p:nvPr/>
        </p:nvSpPr>
        <p:spPr>
          <a:xfrm>
            <a:off x="1158240" y="1233716"/>
            <a:ext cx="10111740" cy="1200329"/>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A </a:t>
            </a:r>
            <a:r>
              <a:rPr lang="en-US" sz="2400" b="1" dirty="0">
                <a:latin typeface="Times New Roman" panose="02020603050405020304" pitchFamily="18" charset="0"/>
                <a:cs typeface="Times New Roman" panose="02020603050405020304" pitchFamily="18" charset="0"/>
              </a:rPr>
              <a:t>deadlock</a:t>
            </a:r>
            <a:r>
              <a:rPr lang="en-US" sz="2400" dirty="0">
                <a:latin typeface="Times New Roman" panose="02020603050405020304" pitchFamily="18" charset="0"/>
                <a:cs typeface="Times New Roman" panose="02020603050405020304" pitchFamily="18" charset="0"/>
              </a:rPr>
              <a:t> is a situation in which a set of processes are </a:t>
            </a:r>
            <a:r>
              <a:rPr lang="en-US" sz="2400" b="1" dirty="0">
                <a:latin typeface="Times New Roman" panose="02020603050405020304" pitchFamily="18" charset="0"/>
                <a:cs typeface="Times New Roman" panose="02020603050405020304" pitchFamily="18" charset="0"/>
              </a:rPr>
              <a:t>permanently blocked</a:t>
            </a:r>
            <a:r>
              <a:rPr lang="en-US" sz="2400" dirty="0">
                <a:latin typeface="Times New Roman" panose="02020603050405020304" pitchFamily="18" charset="0"/>
                <a:cs typeface="Times New Roman" panose="02020603050405020304" pitchFamily="18" charset="0"/>
              </a:rPr>
              <a:t> because each process is </a:t>
            </a:r>
            <a:r>
              <a:rPr lang="en-US" sz="2400" b="1" dirty="0">
                <a:latin typeface="Times New Roman" panose="02020603050405020304" pitchFamily="18" charset="0"/>
                <a:cs typeface="Times New Roman" panose="02020603050405020304" pitchFamily="18" charset="0"/>
              </a:rPr>
              <a:t>waiting for a resource</a:t>
            </a:r>
            <a:r>
              <a:rPr lang="en-US" sz="2400" dirty="0">
                <a:latin typeface="Times New Roman" panose="02020603050405020304" pitchFamily="18" charset="0"/>
                <a:cs typeface="Times New Roman" panose="02020603050405020304" pitchFamily="18" charset="0"/>
              </a:rPr>
              <a:t> that is held by another process in the same set. None of the processes can proceed.</a:t>
            </a:r>
            <a:endParaRPr lang="en-PK"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15C3E49-505C-266D-2497-C49722E2E2C5}"/>
              </a:ext>
            </a:extLst>
          </p:cNvPr>
          <p:cNvPicPr>
            <a:picLocks noChangeAspect="1"/>
          </p:cNvPicPr>
          <p:nvPr/>
        </p:nvPicPr>
        <p:blipFill>
          <a:blip r:embed="rId3"/>
          <a:stretch>
            <a:fillRect/>
          </a:stretch>
        </p:blipFill>
        <p:spPr>
          <a:xfrm>
            <a:off x="5805566" y="2688416"/>
            <a:ext cx="4919187" cy="3459406"/>
          </a:xfrm>
          <a:prstGeom prst="rect">
            <a:avLst/>
          </a:prstGeom>
        </p:spPr>
      </p:pic>
      <p:sp>
        <p:nvSpPr>
          <p:cNvPr id="10" name="TextBox 9">
            <a:extLst>
              <a:ext uri="{FF2B5EF4-FFF2-40B4-BE49-F238E27FC236}">
                <a16:creationId xmlns:a16="http://schemas.microsoft.com/office/drawing/2014/main" id="{46361C06-0A84-9BCC-6230-433E7C341743}"/>
              </a:ext>
            </a:extLst>
          </p:cNvPr>
          <p:cNvSpPr txBox="1"/>
          <p:nvPr/>
        </p:nvSpPr>
        <p:spPr>
          <a:xfrm>
            <a:off x="924560" y="4011348"/>
            <a:ext cx="6096000" cy="1477328"/>
          </a:xfrm>
          <a:prstGeom prst="rect">
            <a:avLst/>
          </a:prstGeom>
          <a:noFill/>
        </p:spPr>
        <p:txBody>
          <a:bodyPr wrap="square">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Circle → Process (P1, P2)</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Rectangle → Resource (R1, R2)</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Arrow </a:t>
            </a: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 → R</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Request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Arrow </a:t>
            </a: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 → P</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Allocation</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a:t>
            </a: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cycle</a:t>
            </a:r>
            <a:r>
              <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the graph indicates </a:t>
            </a:r>
            <a:r>
              <a:rPr kumimoji="0" lang="en-PK" altLang="en-PK"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deadlock</a:t>
            </a:r>
            <a:endParaRPr kumimoji="0" lang="en-PK" altLang="en-PK"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696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0C3F5-F736-AD14-E4F8-BE2DF9D144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C51AC-2F2F-25CE-9148-4E85BD1184E3}"/>
              </a:ext>
            </a:extLst>
          </p:cNvPr>
          <p:cNvSpPr txBox="1">
            <a:spLocks/>
          </p:cNvSpPr>
          <p:nvPr/>
        </p:nvSpPr>
        <p:spPr>
          <a:xfrm>
            <a:off x="454660" y="392087"/>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Necessary Conditions for Deadlock (Coffman Conditions)</a:t>
            </a:r>
          </a:p>
        </p:txBody>
      </p:sp>
      <p:sp>
        <p:nvSpPr>
          <p:cNvPr id="4" name="TextBox 3">
            <a:extLst>
              <a:ext uri="{FF2B5EF4-FFF2-40B4-BE49-F238E27FC236}">
                <a16:creationId xmlns:a16="http://schemas.microsoft.com/office/drawing/2014/main" id="{7B854789-E7F9-1C6C-F6AC-848B3CC27570}"/>
              </a:ext>
            </a:extLst>
          </p:cNvPr>
          <p:cNvSpPr txBox="1"/>
          <p:nvPr/>
        </p:nvSpPr>
        <p:spPr>
          <a:xfrm>
            <a:off x="1158240" y="1422202"/>
            <a:ext cx="10111740" cy="5047536"/>
          </a:xfrm>
          <a:prstGeom prst="rect">
            <a:avLst/>
          </a:prstGeom>
          <a:noFill/>
        </p:spPr>
        <p:txBody>
          <a:bodyPr wrap="square">
            <a:spAutoFit/>
          </a:bodyPr>
          <a:lstStyle/>
          <a:p>
            <a:r>
              <a:rPr lang="en-US" sz="2300" dirty="0">
                <a:latin typeface="Times New Roman" panose="02020603050405020304" pitchFamily="18" charset="0"/>
                <a:cs typeface="Times New Roman" panose="02020603050405020304" pitchFamily="18" charset="0"/>
              </a:rPr>
              <a:t>All </a:t>
            </a:r>
            <a:r>
              <a:rPr lang="en-US" sz="2300" b="1" dirty="0">
                <a:latin typeface="Times New Roman" panose="02020603050405020304" pitchFamily="18" charset="0"/>
                <a:cs typeface="Times New Roman" panose="02020603050405020304" pitchFamily="18" charset="0"/>
              </a:rPr>
              <a:t>four conditions must hold simultaneously</a:t>
            </a:r>
            <a:r>
              <a:rPr lang="en-US" sz="2300" dirty="0">
                <a:latin typeface="Times New Roman" panose="02020603050405020304" pitchFamily="18" charset="0"/>
                <a:cs typeface="Times New Roman" panose="02020603050405020304" pitchFamily="18" charset="0"/>
              </a:rPr>
              <a:t> for a deadlock to occur:</a:t>
            </a:r>
          </a:p>
          <a:p>
            <a:endParaRPr lang="en-US" sz="23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300" b="1" dirty="0">
                <a:latin typeface="Times New Roman" panose="02020603050405020304" pitchFamily="18" charset="0"/>
                <a:cs typeface="Times New Roman" panose="02020603050405020304" pitchFamily="18" charset="0"/>
              </a:rPr>
              <a:t>Mutual Exclusion</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At least one resource is non-sharable (only one process can use it at a time).</a:t>
            </a:r>
          </a:p>
          <a:p>
            <a:pPr marL="457200" indent="-457200">
              <a:buFont typeface="+mj-lt"/>
              <a:buAutoNum type="arabicPeriod"/>
            </a:pPr>
            <a:r>
              <a:rPr lang="en-US" sz="2300" b="1" dirty="0">
                <a:latin typeface="Times New Roman" panose="02020603050405020304" pitchFamily="18" charset="0"/>
                <a:cs typeface="Times New Roman" panose="02020603050405020304" pitchFamily="18" charset="0"/>
              </a:rPr>
              <a:t>Hold and Wait</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A process is holding at least one resource and waiting for additional resources.</a:t>
            </a:r>
          </a:p>
          <a:p>
            <a:pPr marL="457200" indent="-457200">
              <a:buFont typeface="+mj-lt"/>
              <a:buAutoNum type="arabicPeriod"/>
            </a:pPr>
            <a:r>
              <a:rPr lang="en-US" sz="2300" b="1" dirty="0">
                <a:latin typeface="Times New Roman" panose="02020603050405020304" pitchFamily="18" charset="0"/>
                <a:cs typeface="Times New Roman" panose="02020603050405020304" pitchFamily="18" charset="0"/>
              </a:rPr>
              <a:t>No Preemption</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resource can be released only voluntarily by the process holding it, after that process has completed its task</a:t>
            </a:r>
          </a:p>
          <a:p>
            <a:pPr marL="457200" indent="-457200">
              <a:buFont typeface="+mj-lt"/>
              <a:buAutoNum type="arabicPeriod"/>
            </a:pPr>
            <a:r>
              <a:rPr lang="en-US" sz="2300" b="1" dirty="0">
                <a:latin typeface="Times New Roman" panose="02020603050405020304" pitchFamily="18" charset="0"/>
                <a:cs typeface="Times New Roman" panose="02020603050405020304" pitchFamily="18" charset="0"/>
              </a:rPr>
              <a:t>Circular Wait</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there exists a set {P0, P1, …, </a:t>
            </a:r>
            <a:r>
              <a:rPr lang="en-US" sz="2300" dirty="0" err="1">
                <a:latin typeface="Times New Roman" panose="02020603050405020304" pitchFamily="18" charset="0"/>
                <a:cs typeface="Times New Roman" panose="02020603050405020304" pitchFamily="18" charset="0"/>
              </a:rPr>
              <a:t>Pn</a:t>
            </a:r>
            <a:r>
              <a:rPr lang="en-US" sz="2300" dirty="0">
                <a:latin typeface="Times New Roman" panose="02020603050405020304" pitchFamily="18" charset="0"/>
                <a:cs typeface="Times New Roman" panose="02020603050405020304" pitchFamily="18" charset="0"/>
              </a:rPr>
              <a:t>} of waiting processes such that P0is waiting for a resource that is held by P1, P1 is waiting for a resource that is held by P2, …, </a:t>
            </a:r>
            <a:r>
              <a:rPr lang="en-US" sz="2300" dirty="0" err="1">
                <a:latin typeface="Times New Roman" panose="02020603050405020304" pitchFamily="18" charset="0"/>
                <a:cs typeface="Times New Roman" panose="02020603050405020304" pitchFamily="18" charset="0"/>
              </a:rPr>
              <a:t>Pn</a:t>
            </a:r>
            <a:r>
              <a:rPr lang="en-US" sz="2300" dirty="0">
                <a:latin typeface="Times New Roman" panose="02020603050405020304" pitchFamily="18" charset="0"/>
                <a:cs typeface="Times New Roman" panose="02020603050405020304" pitchFamily="18" charset="0"/>
              </a:rPr>
              <a:t>–1 is waiting for a resource that is held by </a:t>
            </a:r>
            <a:r>
              <a:rPr lang="en-US" sz="2300" dirty="0" err="1">
                <a:latin typeface="Times New Roman" panose="02020603050405020304" pitchFamily="18" charset="0"/>
                <a:cs typeface="Times New Roman" panose="02020603050405020304" pitchFamily="18" charset="0"/>
              </a:rPr>
              <a:t>Pn</a:t>
            </a:r>
            <a:r>
              <a:rPr lang="en-US" sz="2300" dirty="0">
                <a:latin typeface="Times New Roman" panose="02020603050405020304" pitchFamily="18" charset="0"/>
                <a:cs typeface="Times New Roman" panose="02020603050405020304" pitchFamily="18" charset="0"/>
              </a:rPr>
              <a:t>, and </a:t>
            </a:r>
            <a:r>
              <a:rPr lang="en-US" sz="2300" dirty="0" err="1">
                <a:latin typeface="Times New Roman" panose="02020603050405020304" pitchFamily="18" charset="0"/>
                <a:cs typeface="Times New Roman" panose="02020603050405020304" pitchFamily="18" charset="0"/>
              </a:rPr>
              <a:t>Pn</a:t>
            </a:r>
            <a:r>
              <a:rPr lang="en-US" sz="2300" dirty="0">
                <a:latin typeface="Times New Roman" panose="02020603050405020304" pitchFamily="18" charset="0"/>
                <a:cs typeface="Times New Roman" panose="02020603050405020304" pitchFamily="18" charset="0"/>
              </a:rPr>
              <a:t> is waiting for a resource that is held by P0.</a:t>
            </a:r>
            <a:endParaRPr lang="en-PK"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53050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11F96F-8552-1B97-C93E-43DE1FB65A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39C1FD-0C50-9581-8FEF-DAC24D606098}"/>
              </a:ext>
            </a:extLst>
          </p:cNvPr>
          <p:cNvSpPr txBox="1">
            <a:spLocks/>
          </p:cNvSpPr>
          <p:nvPr/>
        </p:nvSpPr>
        <p:spPr>
          <a:xfrm>
            <a:off x="454660" y="29254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RESOURCE - ALLOCATION GRAPH (rag)</a:t>
            </a:r>
          </a:p>
        </p:txBody>
      </p:sp>
      <p:sp>
        <p:nvSpPr>
          <p:cNvPr id="4" name="TextBox 3">
            <a:extLst>
              <a:ext uri="{FF2B5EF4-FFF2-40B4-BE49-F238E27FC236}">
                <a16:creationId xmlns:a16="http://schemas.microsoft.com/office/drawing/2014/main" id="{8C9AE181-4B9C-F66F-BC72-4C6FFDA01F81}"/>
              </a:ext>
            </a:extLst>
          </p:cNvPr>
          <p:cNvSpPr txBox="1"/>
          <p:nvPr/>
        </p:nvSpPr>
        <p:spPr>
          <a:xfrm>
            <a:off x="1040130" y="1246943"/>
            <a:ext cx="10111740" cy="3539430"/>
          </a:xfrm>
          <a:prstGeom prst="rect">
            <a:avLst/>
          </a:prstGeom>
          <a:noFill/>
        </p:spPr>
        <p:txBody>
          <a:bodyPr wrap="square">
            <a:spAutoFit/>
          </a:bodyPr>
          <a:lstStyle/>
          <a:p>
            <a:r>
              <a:rPr lang="en-US" sz="2800" dirty="0">
                <a:latin typeface="Times New Roman" panose="02020603050405020304" pitchFamily="18" charset="0"/>
                <a:cs typeface="Times New Roman" panose="02020603050405020304" pitchFamily="18" charset="0"/>
              </a:rPr>
              <a:t>A set of </a:t>
            </a:r>
            <a:r>
              <a:rPr lang="en-US" sz="2800" b="1" dirty="0">
                <a:latin typeface="Times New Roman" panose="02020603050405020304" pitchFamily="18" charset="0"/>
                <a:cs typeface="Times New Roman" panose="02020603050405020304" pitchFamily="18" charset="0"/>
              </a:rPr>
              <a:t>Vertices V </a:t>
            </a:r>
            <a:r>
              <a:rPr lang="en-US" sz="2800" dirty="0">
                <a:latin typeface="Times New Roman" panose="02020603050405020304" pitchFamily="18" charset="0"/>
                <a:cs typeface="Times New Roman" panose="02020603050405020304" pitchFamily="18" charset="0"/>
              </a:rPr>
              <a:t>and a set of </a:t>
            </a:r>
            <a:r>
              <a:rPr lang="en-US" sz="2800" b="1" dirty="0">
                <a:latin typeface="Times New Roman" panose="02020603050405020304" pitchFamily="18" charset="0"/>
                <a:cs typeface="Times New Roman" panose="02020603050405020304" pitchFamily="18" charset="0"/>
              </a:rPr>
              <a:t>Edges E.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 is partitioned into two types: </a:t>
            </a:r>
          </a:p>
          <a:p>
            <a:pPr marL="971550" lvl="1" indent="-514350">
              <a:buFont typeface="+mj-lt"/>
              <a:buAutoNum type="arabicPeriod"/>
            </a:pPr>
            <a:r>
              <a:rPr lang="en-US" sz="2800" dirty="0">
                <a:latin typeface="Times New Roman" panose="02020603050405020304" pitchFamily="18" charset="0"/>
                <a:cs typeface="Times New Roman" panose="02020603050405020304" pitchFamily="18" charset="0"/>
              </a:rPr>
              <a:t>P = {P1, P2, …, </a:t>
            </a:r>
            <a:r>
              <a:rPr lang="en-US" sz="2800" dirty="0" err="1">
                <a:latin typeface="Times New Roman" panose="02020603050405020304" pitchFamily="18" charset="0"/>
                <a:cs typeface="Times New Roman" panose="02020603050405020304" pitchFamily="18" charset="0"/>
              </a:rPr>
              <a:t>Pn</a:t>
            </a:r>
            <a:r>
              <a:rPr lang="en-US" sz="2800" dirty="0">
                <a:latin typeface="Times New Roman" panose="02020603050405020304" pitchFamily="18" charset="0"/>
                <a:cs typeface="Times New Roman" panose="02020603050405020304" pitchFamily="18" charset="0"/>
              </a:rPr>
              <a:t>}, the set consisting of all the processes in the system.</a:t>
            </a:r>
          </a:p>
          <a:p>
            <a:pPr marL="971550" lvl="1" indent="-514350">
              <a:buFont typeface="+mj-lt"/>
              <a:buAutoNum type="arabicPeriod"/>
            </a:pPr>
            <a:r>
              <a:rPr lang="en-US" sz="2800" dirty="0">
                <a:latin typeface="Times New Roman" panose="02020603050405020304" pitchFamily="18" charset="0"/>
                <a:cs typeface="Times New Roman" panose="02020603050405020304" pitchFamily="18" charset="0"/>
              </a:rPr>
              <a:t>R={R1,R2, …,Rm}, the set </a:t>
            </a:r>
            <a:r>
              <a:rPr lang="en-US" sz="2800" dirty="0" err="1">
                <a:latin typeface="Times New Roman" panose="02020603050405020304" pitchFamily="18" charset="0"/>
                <a:cs typeface="Times New Roman" panose="02020603050405020304" pitchFamily="18" charset="0"/>
              </a:rPr>
              <a:t>consistingof</a:t>
            </a:r>
            <a:r>
              <a:rPr lang="en-US" sz="2800" dirty="0">
                <a:latin typeface="Times New Roman" panose="02020603050405020304" pitchFamily="18" charset="0"/>
                <a:cs typeface="Times New Roman" panose="02020603050405020304" pitchFamily="18" charset="0"/>
              </a:rPr>
              <a:t> all resource types in the system, </a:t>
            </a: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Request Edge</a:t>
            </a:r>
            <a:r>
              <a:rPr lang="en-US" sz="2800" dirty="0">
                <a:latin typeface="Times New Roman" panose="02020603050405020304" pitchFamily="18" charset="0"/>
                <a:cs typeface="Times New Roman" panose="02020603050405020304" pitchFamily="18" charset="0"/>
              </a:rPr>
              <a:t>– directed edge    Pi         </a:t>
            </a:r>
            <a:r>
              <a:rPr lang="en-US" sz="2800" dirty="0" err="1">
                <a:latin typeface="Times New Roman" panose="02020603050405020304" pitchFamily="18" charset="0"/>
                <a:cs typeface="Times New Roman" panose="02020603050405020304" pitchFamily="18" charset="0"/>
              </a:rPr>
              <a:t>Rj</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Assignment Edge</a:t>
            </a:r>
            <a:r>
              <a:rPr lang="en-US" sz="2800" dirty="0">
                <a:latin typeface="Times New Roman" panose="02020603050405020304" pitchFamily="18" charset="0"/>
                <a:cs typeface="Times New Roman" panose="02020603050405020304" pitchFamily="18" charset="0"/>
              </a:rPr>
              <a:t>– directed edge </a:t>
            </a:r>
            <a:r>
              <a:rPr lang="en-US" sz="2800" dirty="0" err="1">
                <a:latin typeface="Times New Roman" panose="02020603050405020304" pitchFamily="18" charset="0"/>
                <a:cs typeface="Times New Roman" panose="02020603050405020304" pitchFamily="18" charset="0"/>
              </a:rPr>
              <a:t>Rj</a:t>
            </a:r>
            <a:r>
              <a:rPr lang="en-US" sz="2800" dirty="0">
                <a:latin typeface="Times New Roman" panose="02020603050405020304" pitchFamily="18" charset="0"/>
                <a:cs typeface="Times New Roman" panose="02020603050405020304" pitchFamily="18" charset="0"/>
              </a:rPr>
              <a:t>      Pi</a:t>
            </a:r>
            <a:endParaRPr lang="en-PK" sz="2400" dirty="0">
              <a:latin typeface="Times New Roman" panose="02020603050405020304" pitchFamily="18" charset="0"/>
              <a:cs typeface="Times New Roman" panose="02020603050405020304" pitchFamily="18" charset="0"/>
            </a:endParaRPr>
          </a:p>
        </p:txBody>
      </p:sp>
      <p:cxnSp>
        <p:nvCxnSpPr>
          <p:cNvPr id="5" name="Straight Arrow Connector 4">
            <a:extLst>
              <a:ext uri="{FF2B5EF4-FFF2-40B4-BE49-F238E27FC236}">
                <a16:creationId xmlns:a16="http://schemas.microsoft.com/office/drawing/2014/main" id="{D3EEE068-FF82-43FB-6CD0-9EBBE4A82347}"/>
              </a:ext>
            </a:extLst>
          </p:cNvPr>
          <p:cNvCxnSpPr/>
          <p:nvPr/>
        </p:nvCxnSpPr>
        <p:spPr>
          <a:xfrm>
            <a:off x="6604000" y="4094480"/>
            <a:ext cx="4876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16DED07-90DB-613A-6099-86AA766767EE}"/>
              </a:ext>
            </a:extLst>
          </p:cNvPr>
          <p:cNvCxnSpPr/>
          <p:nvPr/>
        </p:nvCxnSpPr>
        <p:spPr>
          <a:xfrm>
            <a:off x="6847839" y="4511040"/>
            <a:ext cx="48768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AEC2793-1867-D0C1-F87F-8E9D05BA0E90}"/>
              </a:ext>
            </a:extLst>
          </p:cNvPr>
          <p:cNvSpPr txBox="1"/>
          <p:nvPr/>
        </p:nvSpPr>
        <p:spPr>
          <a:xfrm>
            <a:off x="315709" y="5875246"/>
            <a:ext cx="12330430" cy="400110"/>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Process                    Resource Type with 4 instances     Pi requests instance of </a:t>
            </a:r>
            <a:r>
              <a:rPr lang="en-US" sz="2000" dirty="0" err="1">
                <a:latin typeface="Times New Roman" panose="02020603050405020304" pitchFamily="18" charset="0"/>
                <a:cs typeface="Times New Roman" panose="02020603050405020304" pitchFamily="18" charset="0"/>
              </a:rPr>
              <a:t>Rj</a:t>
            </a:r>
            <a:r>
              <a:rPr lang="en-US" sz="2000" dirty="0">
                <a:latin typeface="Times New Roman" panose="02020603050405020304" pitchFamily="18" charset="0"/>
                <a:cs typeface="Times New Roman" panose="02020603050405020304" pitchFamily="18" charset="0"/>
              </a:rPr>
              <a:t>      Pi is holding an instance of </a:t>
            </a:r>
            <a:r>
              <a:rPr lang="en-US" sz="2000" dirty="0" err="1">
                <a:latin typeface="Times New Roman" panose="02020603050405020304" pitchFamily="18" charset="0"/>
                <a:cs typeface="Times New Roman" panose="02020603050405020304" pitchFamily="18" charset="0"/>
              </a:rPr>
              <a:t>Rj</a:t>
            </a:r>
            <a:endParaRPr lang="en-US" sz="20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01D58B9C-DFB4-1422-6EBE-136169C33DDC}"/>
              </a:ext>
            </a:extLst>
          </p:cNvPr>
          <p:cNvPicPr>
            <a:picLocks noChangeAspect="1"/>
          </p:cNvPicPr>
          <p:nvPr/>
        </p:nvPicPr>
        <p:blipFill>
          <a:blip r:embed="rId3"/>
          <a:stretch>
            <a:fillRect/>
          </a:stretch>
        </p:blipFill>
        <p:spPr>
          <a:xfrm>
            <a:off x="315709" y="5060979"/>
            <a:ext cx="842531" cy="687328"/>
          </a:xfrm>
          <a:prstGeom prst="rect">
            <a:avLst/>
          </a:prstGeom>
        </p:spPr>
      </p:pic>
      <p:pic>
        <p:nvPicPr>
          <p:cNvPr id="12" name="Picture 11">
            <a:extLst>
              <a:ext uri="{FF2B5EF4-FFF2-40B4-BE49-F238E27FC236}">
                <a16:creationId xmlns:a16="http://schemas.microsoft.com/office/drawing/2014/main" id="{2E68C189-F041-05FC-8554-6DD31AB7EC14}"/>
              </a:ext>
            </a:extLst>
          </p:cNvPr>
          <p:cNvPicPr>
            <a:picLocks noChangeAspect="1"/>
          </p:cNvPicPr>
          <p:nvPr/>
        </p:nvPicPr>
        <p:blipFill>
          <a:blip r:embed="rId4"/>
          <a:stretch>
            <a:fillRect/>
          </a:stretch>
        </p:blipFill>
        <p:spPr>
          <a:xfrm>
            <a:off x="3274377" y="5101619"/>
            <a:ext cx="1000125" cy="800100"/>
          </a:xfrm>
          <a:prstGeom prst="rect">
            <a:avLst/>
          </a:prstGeom>
        </p:spPr>
      </p:pic>
      <p:pic>
        <p:nvPicPr>
          <p:cNvPr id="14" name="Picture 13">
            <a:extLst>
              <a:ext uri="{FF2B5EF4-FFF2-40B4-BE49-F238E27FC236}">
                <a16:creationId xmlns:a16="http://schemas.microsoft.com/office/drawing/2014/main" id="{0590D9B1-DA67-52BA-4538-508FD4400D01}"/>
              </a:ext>
            </a:extLst>
          </p:cNvPr>
          <p:cNvPicPr>
            <a:picLocks noChangeAspect="1"/>
          </p:cNvPicPr>
          <p:nvPr/>
        </p:nvPicPr>
        <p:blipFill>
          <a:blip r:embed="rId5"/>
          <a:stretch>
            <a:fillRect/>
          </a:stretch>
        </p:blipFill>
        <p:spPr>
          <a:xfrm>
            <a:off x="5820092" y="5019040"/>
            <a:ext cx="2543175" cy="904875"/>
          </a:xfrm>
          <a:prstGeom prst="rect">
            <a:avLst/>
          </a:prstGeom>
        </p:spPr>
      </p:pic>
      <p:pic>
        <p:nvPicPr>
          <p:cNvPr id="16" name="Picture 15">
            <a:extLst>
              <a:ext uri="{FF2B5EF4-FFF2-40B4-BE49-F238E27FC236}">
                <a16:creationId xmlns:a16="http://schemas.microsoft.com/office/drawing/2014/main" id="{C5E14C57-5530-8E6B-FECA-E28B74B912FC}"/>
              </a:ext>
            </a:extLst>
          </p:cNvPr>
          <p:cNvPicPr>
            <a:picLocks noChangeAspect="1"/>
          </p:cNvPicPr>
          <p:nvPr/>
        </p:nvPicPr>
        <p:blipFill>
          <a:blip r:embed="rId6"/>
          <a:stretch>
            <a:fillRect/>
          </a:stretch>
        </p:blipFill>
        <p:spPr>
          <a:xfrm>
            <a:off x="9106738" y="5029200"/>
            <a:ext cx="2581275" cy="971550"/>
          </a:xfrm>
          <a:prstGeom prst="rect">
            <a:avLst/>
          </a:prstGeom>
        </p:spPr>
      </p:pic>
    </p:spTree>
    <p:extLst>
      <p:ext uri="{BB962C8B-B14F-4D97-AF65-F5344CB8AC3E}">
        <p14:creationId xmlns:p14="http://schemas.microsoft.com/office/powerpoint/2010/main" val="3870419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6EB15-6DD3-5F59-FED7-B9518F869D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82BC82-BF1E-A9B9-4D56-2C084567C4C2}"/>
              </a:ext>
            </a:extLst>
          </p:cNvPr>
          <p:cNvSpPr txBox="1">
            <a:spLocks/>
          </p:cNvSpPr>
          <p:nvPr/>
        </p:nvSpPr>
        <p:spPr>
          <a:xfrm>
            <a:off x="454660" y="41446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RESOURCE - ALLOCATION GRAPH (rag) </a:t>
            </a:r>
          </a:p>
        </p:txBody>
      </p:sp>
      <p:sp>
        <p:nvSpPr>
          <p:cNvPr id="3" name="Title 1">
            <a:extLst>
              <a:ext uri="{FF2B5EF4-FFF2-40B4-BE49-F238E27FC236}">
                <a16:creationId xmlns:a16="http://schemas.microsoft.com/office/drawing/2014/main" id="{E75F2533-7FA4-10BB-E3B0-4A40908D24A4}"/>
              </a:ext>
            </a:extLst>
          </p:cNvPr>
          <p:cNvSpPr txBox="1">
            <a:spLocks/>
          </p:cNvSpPr>
          <p:nvPr/>
        </p:nvSpPr>
        <p:spPr>
          <a:xfrm>
            <a:off x="3194049" y="5759937"/>
            <a:ext cx="548894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Deadlock</a:t>
            </a:r>
          </a:p>
        </p:txBody>
      </p:sp>
      <p:pic>
        <p:nvPicPr>
          <p:cNvPr id="8" name="Picture 7">
            <a:extLst>
              <a:ext uri="{FF2B5EF4-FFF2-40B4-BE49-F238E27FC236}">
                <a16:creationId xmlns:a16="http://schemas.microsoft.com/office/drawing/2014/main" id="{D03666AC-BF2D-DF91-F532-E317E476D5BA}"/>
              </a:ext>
            </a:extLst>
          </p:cNvPr>
          <p:cNvPicPr>
            <a:picLocks noChangeAspect="1"/>
          </p:cNvPicPr>
          <p:nvPr/>
        </p:nvPicPr>
        <p:blipFill>
          <a:blip r:embed="rId3"/>
          <a:stretch>
            <a:fillRect/>
          </a:stretch>
        </p:blipFill>
        <p:spPr>
          <a:xfrm>
            <a:off x="2410969" y="1613387"/>
            <a:ext cx="7055101" cy="4146550"/>
          </a:xfrm>
          <a:prstGeom prst="rect">
            <a:avLst/>
          </a:prstGeom>
        </p:spPr>
      </p:pic>
    </p:spTree>
    <p:extLst>
      <p:ext uri="{BB962C8B-B14F-4D97-AF65-F5344CB8AC3E}">
        <p14:creationId xmlns:p14="http://schemas.microsoft.com/office/powerpoint/2010/main" val="695262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19F3D-0831-2DA7-D7CB-950F5ACB94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212A3E-17F9-17A3-8793-D8D34FA205C6}"/>
              </a:ext>
            </a:extLst>
          </p:cNvPr>
          <p:cNvSpPr txBox="1">
            <a:spLocks/>
          </p:cNvSpPr>
          <p:nvPr/>
        </p:nvSpPr>
        <p:spPr>
          <a:xfrm>
            <a:off x="454660" y="41446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RESOURCE - ALLOCATION GRAPH (rag) </a:t>
            </a:r>
          </a:p>
        </p:txBody>
      </p:sp>
      <p:sp>
        <p:nvSpPr>
          <p:cNvPr id="3" name="Title 1">
            <a:extLst>
              <a:ext uri="{FF2B5EF4-FFF2-40B4-BE49-F238E27FC236}">
                <a16:creationId xmlns:a16="http://schemas.microsoft.com/office/drawing/2014/main" id="{69B9C2E7-F3B8-E0DF-E133-2DC48D02F8FA}"/>
              </a:ext>
            </a:extLst>
          </p:cNvPr>
          <p:cNvSpPr txBox="1">
            <a:spLocks/>
          </p:cNvSpPr>
          <p:nvPr/>
        </p:nvSpPr>
        <p:spPr>
          <a:xfrm>
            <a:off x="3482340" y="5739617"/>
            <a:ext cx="548894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Deadlock</a:t>
            </a:r>
          </a:p>
        </p:txBody>
      </p:sp>
      <p:pic>
        <p:nvPicPr>
          <p:cNvPr id="8" name="Picture 7">
            <a:extLst>
              <a:ext uri="{FF2B5EF4-FFF2-40B4-BE49-F238E27FC236}">
                <a16:creationId xmlns:a16="http://schemas.microsoft.com/office/drawing/2014/main" id="{84C41D77-E486-FD73-5D81-FE90F515A8C0}"/>
              </a:ext>
            </a:extLst>
          </p:cNvPr>
          <p:cNvPicPr>
            <a:picLocks noChangeAspect="1"/>
          </p:cNvPicPr>
          <p:nvPr/>
        </p:nvPicPr>
        <p:blipFill>
          <a:blip r:embed="rId3"/>
          <a:stretch>
            <a:fillRect/>
          </a:stretch>
        </p:blipFill>
        <p:spPr>
          <a:xfrm>
            <a:off x="4469765" y="1429067"/>
            <a:ext cx="3252470" cy="4436933"/>
          </a:xfrm>
          <a:prstGeom prst="rect">
            <a:avLst/>
          </a:prstGeom>
        </p:spPr>
      </p:pic>
    </p:spTree>
    <p:extLst>
      <p:ext uri="{BB962C8B-B14F-4D97-AF65-F5344CB8AC3E}">
        <p14:creationId xmlns:p14="http://schemas.microsoft.com/office/powerpoint/2010/main" val="48286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0482D-C208-02C0-53F0-BDF23B0B8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C7C08E-1FA0-7D39-8A03-5212D0041006}"/>
              </a:ext>
            </a:extLst>
          </p:cNvPr>
          <p:cNvSpPr txBox="1">
            <a:spLocks/>
          </p:cNvSpPr>
          <p:nvPr/>
        </p:nvSpPr>
        <p:spPr>
          <a:xfrm>
            <a:off x="454660" y="41446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RESOURCE - ALLOCATION GRAPH (rag) </a:t>
            </a:r>
          </a:p>
        </p:txBody>
      </p:sp>
      <p:sp>
        <p:nvSpPr>
          <p:cNvPr id="3" name="Title 1">
            <a:extLst>
              <a:ext uri="{FF2B5EF4-FFF2-40B4-BE49-F238E27FC236}">
                <a16:creationId xmlns:a16="http://schemas.microsoft.com/office/drawing/2014/main" id="{D0E4EB35-9D5F-3BA5-6B4C-645CEE53BEC8}"/>
              </a:ext>
            </a:extLst>
          </p:cNvPr>
          <p:cNvSpPr txBox="1">
            <a:spLocks/>
          </p:cNvSpPr>
          <p:nvPr/>
        </p:nvSpPr>
        <p:spPr>
          <a:xfrm>
            <a:off x="3716020" y="5759937"/>
            <a:ext cx="548894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No Deadlock</a:t>
            </a:r>
          </a:p>
        </p:txBody>
      </p:sp>
      <p:pic>
        <p:nvPicPr>
          <p:cNvPr id="5" name="Picture 4">
            <a:extLst>
              <a:ext uri="{FF2B5EF4-FFF2-40B4-BE49-F238E27FC236}">
                <a16:creationId xmlns:a16="http://schemas.microsoft.com/office/drawing/2014/main" id="{F184C2A0-CA31-4828-354B-224640A6FB3F}"/>
              </a:ext>
            </a:extLst>
          </p:cNvPr>
          <p:cNvPicPr>
            <a:picLocks noChangeAspect="1"/>
          </p:cNvPicPr>
          <p:nvPr/>
        </p:nvPicPr>
        <p:blipFill>
          <a:blip r:embed="rId3"/>
          <a:stretch>
            <a:fillRect/>
          </a:stretch>
        </p:blipFill>
        <p:spPr>
          <a:xfrm>
            <a:off x="4322633" y="1401382"/>
            <a:ext cx="3546733" cy="4358555"/>
          </a:xfrm>
          <a:prstGeom prst="rect">
            <a:avLst/>
          </a:prstGeom>
        </p:spPr>
      </p:pic>
    </p:spTree>
    <p:extLst>
      <p:ext uri="{BB962C8B-B14F-4D97-AF65-F5344CB8AC3E}">
        <p14:creationId xmlns:p14="http://schemas.microsoft.com/office/powerpoint/2010/main" val="42101029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B3D0-54B5-6E99-D234-77957CF664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FFA2C-E19D-4DF7-73F2-1A0CD0510480}"/>
              </a:ext>
            </a:extLst>
          </p:cNvPr>
          <p:cNvSpPr txBox="1">
            <a:spLocks/>
          </p:cNvSpPr>
          <p:nvPr/>
        </p:nvSpPr>
        <p:spPr>
          <a:xfrm>
            <a:off x="505460" y="22142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Deadlock vs starvation </a:t>
            </a:r>
          </a:p>
        </p:txBody>
      </p:sp>
      <p:sp>
        <p:nvSpPr>
          <p:cNvPr id="6" name="TextBox 5">
            <a:extLst>
              <a:ext uri="{FF2B5EF4-FFF2-40B4-BE49-F238E27FC236}">
                <a16:creationId xmlns:a16="http://schemas.microsoft.com/office/drawing/2014/main" id="{9F0A512D-4612-C298-C14B-1FF4FE017DFF}"/>
              </a:ext>
            </a:extLst>
          </p:cNvPr>
          <p:cNvSpPr txBox="1"/>
          <p:nvPr/>
        </p:nvSpPr>
        <p:spPr>
          <a:xfrm>
            <a:off x="980440" y="1377018"/>
            <a:ext cx="10017760" cy="4832092"/>
          </a:xfrm>
          <a:prstGeom prst="rect">
            <a:avLst/>
          </a:prstGeom>
          <a:noFill/>
        </p:spPr>
        <p:txBody>
          <a:bodyPr wrap="square">
            <a:spAutoFit/>
          </a:bodyPr>
          <a:lstStyle/>
          <a:p>
            <a:pPr marL="342900" indent="-3429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Infinite waiting ≠ Deadlock (always false)</a:t>
            </a:r>
            <a:endParaRPr lang="en-US"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Deadlock ⟹ Infinite waiting (always true)</a:t>
            </a:r>
            <a:endParaRPr lang="en-US"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Starvation ⟹ Infinite waiting (possible, not guaranteed)</a:t>
            </a:r>
          </a:p>
          <a:p>
            <a:endParaRPr lang="en-US" sz="2800" dirty="0">
              <a:latin typeface="Times New Roman" panose="02020603050405020304" pitchFamily="18" charset="0"/>
              <a:cs typeface="Times New Roman" panose="02020603050405020304" pitchFamily="18" charset="0"/>
            </a:endParaRPr>
          </a:p>
          <a:p>
            <a:pPr algn="ctr"/>
            <a:r>
              <a:rPr lang="en-US" sz="2800" dirty="0">
                <a:latin typeface="Times New Roman" panose="02020603050405020304" pitchFamily="18" charset="0"/>
                <a:cs typeface="Times New Roman" panose="02020603050405020304" pitchFamily="18" charset="0"/>
              </a:rPr>
              <a:t>Every deadlock causes infinite waiting, but not every infinite waiting is a deadlock — it can be starvation.</a:t>
            </a:r>
          </a:p>
          <a:p>
            <a:pPr algn="ctr"/>
            <a:endParaRPr lang="en-US" sz="28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If graph contains no cycles  - no deadlock </a:t>
            </a:r>
          </a:p>
          <a:p>
            <a:pPr marL="342900" indent="-3429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If graph contains a cycle -  </a:t>
            </a:r>
          </a:p>
          <a:p>
            <a:pPr marL="800100" lvl="1" indent="-3429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if only one instance per resource type, then deadlock </a:t>
            </a:r>
          </a:p>
          <a:p>
            <a:pPr marL="800100" lvl="1" indent="-342900">
              <a:buFont typeface="Wingdings" panose="05000000000000000000" pitchFamily="2" charset="2"/>
              <a:buChar char="ü"/>
            </a:pPr>
            <a:r>
              <a:rPr lang="en-US" sz="2800" dirty="0">
                <a:latin typeface="Times New Roman" panose="02020603050405020304" pitchFamily="18" charset="0"/>
                <a:cs typeface="Times New Roman" panose="02020603050405020304" pitchFamily="18" charset="0"/>
              </a:rPr>
              <a:t>	if several instances per resource type, possibility of deadlock</a:t>
            </a:r>
          </a:p>
        </p:txBody>
      </p:sp>
    </p:spTree>
    <p:extLst>
      <p:ext uri="{BB962C8B-B14F-4D97-AF65-F5344CB8AC3E}">
        <p14:creationId xmlns:p14="http://schemas.microsoft.com/office/powerpoint/2010/main" val="3640302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98FF3-CC29-E033-A93E-0337CD90EE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86EEC1-56A7-339A-5EEF-33B47892E98E}"/>
              </a:ext>
            </a:extLst>
          </p:cNvPr>
          <p:cNvSpPr txBox="1">
            <a:spLocks/>
          </p:cNvSpPr>
          <p:nvPr/>
        </p:nvSpPr>
        <p:spPr>
          <a:xfrm>
            <a:off x="505460" y="22142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Methods of handling deadlocks</a:t>
            </a:r>
          </a:p>
        </p:txBody>
      </p:sp>
      <p:sp>
        <p:nvSpPr>
          <p:cNvPr id="6" name="TextBox 5">
            <a:extLst>
              <a:ext uri="{FF2B5EF4-FFF2-40B4-BE49-F238E27FC236}">
                <a16:creationId xmlns:a16="http://schemas.microsoft.com/office/drawing/2014/main" id="{9DF07239-C42B-4A4F-E395-34562E84AADC}"/>
              </a:ext>
            </a:extLst>
          </p:cNvPr>
          <p:cNvSpPr txBox="1"/>
          <p:nvPr/>
        </p:nvSpPr>
        <p:spPr>
          <a:xfrm>
            <a:off x="980440" y="1251679"/>
            <a:ext cx="10017760" cy="6124754"/>
          </a:xfrm>
          <a:prstGeom prst="rect">
            <a:avLst/>
          </a:prstGeom>
          <a:noFill/>
        </p:spPr>
        <p:txBody>
          <a:bodyPr wrap="square">
            <a:spAutoFit/>
          </a:bodyPr>
          <a:lstStyle/>
          <a:p>
            <a:pPr marL="342900" indent="-342900" algn="just">
              <a:buFont typeface="Arial" panose="020B0604020202020204" pitchFamily="34" charset="0"/>
              <a:buChar char="•"/>
            </a:pPr>
            <a:r>
              <a:rPr lang="en-US" sz="2800" dirty="0">
                <a:latin typeface="Times New Roman" panose="02020603050405020304" pitchFamily="18" charset="0"/>
                <a:ea typeface="Tahoma" panose="020B0604030504040204" pitchFamily="34" charset="0"/>
                <a:cs typeface="Times New Roman" panose="02020603050405020304" pitchFamily="18" charset="0"/>
              </a:rPr>
              <a:t>Deadlock handling methods are strategies used in operating systems to ensure processes do not remain permanently blocked, maintaining smooth execution and system reliability.</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Ensure that the system will never enter a deadlock state:.</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Allow the system to enter a deadlock state and then recover</a:t>
            </a:r>
            <a:endParaRPr lang="en-US" sz="2800" dirty="0">
              <a:latin typeface="Times New Roman" panose="02020603050405020304" pitchFamily="18" charset="0"/>
              <a:ea typeface="Tahoma" panose="020B0604030504040204" pitchFamily="34" charset="0"/>
              <a:cs typeface="Times New Roman" panose="02020603050405020304" pitchFamily="18" charset="0"/>
            </a:endParaRPr>
          </a:p>
          <a:p>
            <a:pPr marL="342900" indent="-342900" algn="just">
              <a:buFont typeface="Arial" panose="020B0604020202020204" pitchFamily="34" charset="0"/>
              <a:buChar char="•"/>
            </a:pPr>
            <a:r>
              <a:rPr lang="en-US" sz="2800" dirty="0">
                <a:latin typeface="Times New Roman" panose="02020603050405020304" pitchFamily="18" charset="0"/>
                <a:ea typeface="Tahoma" panose="020B0604030504040204" pitchFamily="34" charset="0"/>
                <a:cs typeface="Times New Roman" panose="02020603050405020304" pitchFamily="18" charset="0"/>
              </a:rPr>
              <a:t>There are four approaches to dealing with deadlocks.</a:t>
            </a:r>
          </a:p>
          <a:p>
            <a:pPr marL="800100" lvl="1" indent="-342900" algn="just">
              <a:buFont typeface="+mj-lt"/>
              <a:buAutoNum type="arabicPeriod"/>
            </a:pPr>
            <a:r>
              <a:rPr lang="en-US" sz="2800" b="1" dirty="0">
                <a:latin typeface="Times New Roman" panose="02020603050405020304" pitchFamily="18" charset="0"/>
                <a:ea typeface="Tahoma" panose="020B0604030504040204" pitchFamily="34" charset="0"/>
                <a:cs typeface="Times New Roman" panose="02020603050405020304" pitchFamily="18" charset="0"/>
              </a:rPr>
              <a:t>Deadlock Ignorance (Ostrich Algorithm)</a:t>
            </a:r>
          </a:p>
          <a:p>
            <a:pPr marL="800100" lvl="1" indent="-342900" algn="just">
              <a:buFont typeface="+mj-lt"/>
              <a:buAutoNum type="arabicPeriod"/>
            </a:pPr>
            <a:r>
              <a:rPr lang="en-US" sz="2800" b="1" dirty="0">
                <a:latin typeface="Times New Roman" panose="02020603050405020304" pitchFamily="18" charset="0"/>
                <a:ea typeface="Tahoma" panose="020B0604030504040204" pitchFamily="34" charset="0"/>
                <a:cs typeface="Times New Roman" panose="02020603050405020304" pitchFamily="18" charset="0"/>
              </a:rPr>
              <a:t>Deadlock Prevention</a:t>
            </a:r>
          </a:p>
          <a:p>
            <a:pPr marL="800100" lvl="1" indent="-342900" algn="just">
              <a:buFont typeface="+mj-lt"/>
              <a:buAutoNum type="arabicPeriod"/>
            </a:pPr>
            <a:r>
              <a:rPr lang="en-US" sz="2800" b="1" dirty="0">
                <a:latin typeface="Times New Roman" panose="02020603050405020304" pitchFamily="18" charset="0"/>
                <a:ea typeface="Tahoma" panose="020B0604030504040204" pitchFamily="34" charset="0"/>
                <a:cs typeface="Times New Roman" panose="02020603050405020304" pitchFamily="18" charset="0"/>
              </a:rPr>
              <a:t>Deadlock Avoidance (Banker’s Algorithm)</a:t>
            </a:r>
          </a:p>
          <a:p>
            <a:pPr marL="800100" lvl="1" indent="-342900" algn="just">
              <a:buFont typeface="+mj-lt"/>
              <a:buAutoNum type="arabicPeriod"/>
            </a:pPr>
            <a:r>
              <a:rPr lang="en-US" sz="2800" b="1" dirty="0">
                <a:latin typeface="Times New Roman" panose="02020603050405020304" pitchFamily="18" charset="0"/>
                <a:ea typeface="Tahoma" panose="020B0604030504040204" pitchFamily="34" charset="0"/>
                <a:cs typeface="Times New Roman" panose="02020603050405020304" pitchFamily="18" charset="0"/>
              </a:rPr>
              <a:t>Deadlock Detection and Recovery</a:t>
            </a:r>
          </a:p>
          <a:p>
            <a:pPr marL="800100" lvl="1" indent="-342900" algn="just">
              <a:buFont typeface="+mj-lt"/>
              <a:buAutoNum type="arabicPeriod"/>
            </a:pPr>
            <a:endParaRPr lang="en-US" sz="2800" dirty="0">
              <a:latin typeface="Times New Roman" panose="02020603050405020304" pitchFamily="18" charset="0"/>
              <a:ea typeface="Tahoma" panose="020B0604030504040204" pitchFamily="34" charset="0"/>
              <a:cs typeface="Times New Roman" panose="02020603050405020304" pitchFamily="18" charset="0"/>
            </a:endParaRPr>
          </a:p>
          <a:p>
            <a:pPr marL="800100" lvl="1" indent="-342900" algn="just">
              <a:buFont typeface="+mj-lt"/>
              <a:buAutoNum type="arabicPeriod"/>
            </a:pPr>
            <a:endParaRPr lang="en-US" sz="2800" dirty="0">
              <a:latin typeface="Times New Roman" panose="02020603050405020304" pitchFamily="18" charset="0"/>
              <a:ea typeface="Tahoma" panose="020B0604030504040204" pitchFamily="34" charset="0"/>
              <a:cs typeface="Times New Roman" panose="02020603050405020304" pitchFamily="18" charset="0"/>
            </a:endParaRPr>
          </a:p>
          <a:p>
            <a:pPr algn="just"/>
            <a:br>
              <a:rPr lang="en-US" sz="2800" dirty="0">
                <a:latin typeface="Times New Roman" panose="02020603050405020304" pitchFamily="18" charset="0"/>
                <a:ea typeface="Tahoma" panose="020B0604030504040204" pitchFamily="34" charset="0"/>
                <a:cs typeface="Times New Roman" panose="02020603050405020304" pitchFamily="18" charset="0"/>
              </a:rPr>
            </a:br>
            <a:endParaRPr lang="en-US" sz="28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670007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6B270-0490-7A35-47DD-5E0E1669EE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D5FA38-960F-A787-6674-4A276DB08538}"/>
              </a:ext>
            </a:extLst>
          </p:cNvPr>
          <p:cNvSpPr txBox="1">
            <a:spLocks/>
          </p:cNvSpPr>
          <p:nvPr/>
        </p:nvSpPr>
        <p:spPr>
          <a:xfrm>
            <a:off x="505460" y="22142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1. Deadlock ignorance</a:t>
            </a:r>
          </a:p>
        </p:txBody>
      </p:sp>
      <p:sp>
        <p:nvSpPr>
          <p:cNvPr id="6" name="TextBox 5">
            <a:extLst>
              <a:ext uri="{FF2B5EF4-FFF2-40B4-BE49-F238E27FC236}">
                <a16:creationId xmlns:a16="http://schemas.microsoft.com/office/drawing/2014/main" id="{4169AF13-BEEF-AAA0-D443-1DB49F4186B4}"/>
              </a:ext>
            </a:extLst>
          </p:cNvPr>
          <p:cNvSpPr txBox="1"/>
          <p:nvPr/>
        </p:nvSpPr>
        <p:spPr>
          <a:xfrm>
            <a:off x="1008380" y="1063051"/>
            <a:ext cx="10464800" cy="5262979"/>
          </a:xfrm>
          <a:prstGeom prst="rect">
            <a:avLst/>
          </a:prstGeom>
          <a:noFill/>
        </p:spPr>
        <p:txBody>
          <a:bodyPr wrap="square">
            <a:spAutoFit/>
          </a:bodyPr>
          <a:lstStyle/>
          <a:p>
            <a:pPr algn="just" fontAlgn="base"/>
            <a:r>
              <a:rPr lang="en-US" sz="2400" dirty="0">
                <a:latin typeface="Times New Roman" panose="02020603050405020304" pitchFamily="18" charset="0"/>
                <a:cs typeface="Times New Roman" panose="02020603050405020304" pitchFamily="18" charset="0"/>
              </a:rPr>
              <a:t>In the Deadlock ignorance method, the OS acts like the deadlock never occurs and completely ignores it even if the deadlock occurs. This method only applies if the deadlock occurs very rarely.</a:t>
            </a:r>
          </a:p>
          <a:p>
            <a:pPr algn="just" fontAlgn="base"/>
            <a:r>
              <a:rPr lang="en-US" sz="2400" dirty="0">
                <a:latin typeface="Times New Roman" panose="02020603050405020304" pitchFamily="18" charset="0"/>
                <a:cs typeface="Times New Roman" panose="02020603050405020304" pitchFamily="18" charset="0"/>
              </a:rPr>
              <a:t> </a:t>
            </a:r>
          </a:p>
          <a:p>
            <a:pPr algn="ctr" fontAlgn="base"/>
            <a:r>
              <a:rPr lang="en-US" sz="2400" dirty="0">
                <a:latin typeface="Times New Roman" panose="02020603050405020304" pitchFamily="18" charset="0"/>
                <a:cs typeface="Times New Roman" panose="02020603050405020304" pitchFamily="18" charset="0"/>
              </a:rPr>
              <a:t>The algorithm is very simple. It says, " if the deadlock occurs, simply reboot the system and act like the deadlock never occurred." That's why the algorithm is called the </a:t>
            </a:r>
            <a:r>
              <a:rPr lang="en-US" sz="2400" b="1" dirty="0">
                <a:latin typeface="Times New Roman" panose="02020603050405020304" pitchFamily="18" charset="0"/>
                <a:cs typeface="Times New Roman" panose="02020603050405020304" pitchFamily="18" charset="0"/>
              </a:rPr>
              <a:t>Ostrich Algorithm</a:t>
            </a:r>
            <a:r>
              <a:rPr lang="en-US" sz="2400" dirty="0">
                <a:latin typeface="Times New Roman" panose="02020603050405020304" pitchFamily="18" charset="0"/>
                <a:cs typeface="Times New Roman" panose="02020603050405020304" pitchFamily="18" charset="0"/>
              </a:rPr>
              <a:t>.</a:t>
            </a:r>
          </a:p>
          <a:p>
            <a:pPr algn="ctr" fontAlgn="base"/>
            <a:endParaRPr lang="en-US" sz="2400" dirty="0">
              <a:latin typeface="Times New Roman" panose="02020603050405020304" pitchFamily="18" charset="0"/>
              <a:cs typeface="Times New Roman" panose="02020603050405020304" pitchFamily="18" charset="0"/>
            </a:endParaRPr>
          </a:p>
          <a:p>
            <a:pPr marL="914400" lvl="1" indent="-457200" algn="just"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That deadlocks are so rare that it is not worth the cost of preventing or detecting them.</a:t>
            </a:r>
          </a:p>
          <a:p>
            <a:pPr marL="914400" lvl="1" indent="-457200" algn="just"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a deadlock does occur, the operating system may take drastic measures such as rebooting to recover.</a:t>
            </a:r>
          </a:p>
          <a:p>
            <a:pPr marL="914400" lvl="1" indent="-457200" algn="just" fontAlgn="base">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approach is called the Ostrich Algorithm, because it resembles the ostrich burying its head in the sand and pretending the problem doesn’t exist</a:t>
            </a:r>
          </a:p>
        </p:txBody>
      </p:sp>
    </p:spTree>
    <p:extLst>
      <p:ext uri="{BB962C8B-B14F-4D97-AF65-F5344CB8AC3E}">
        <p14:creationId xmlns:p14="http://schemas.microsoft.com/office/powerpoint/2010/main" val="338882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92B5E-DEFE-C65C-589C-71DFDB5BA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66A7DA-AB73-20DF-A5F4-053766DA5581}"/>
              </a:ext>
            </a:extLst>
          </p:cNvPr>
          <p:cNvSpPr txBox="1">
            <a:spLocks/>
          </p:cNvSpPr>
          <p:nvPr/>
        </p:nvSpPr>
        <p:spPr>
          <a:xfrm>
            <a:off x="505460" y="22142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2. Deadlock prevention</a:t>
            </a:r>
          </a:p>
        </p:txBody>
      </p:sp>
      <p:sp>
        <p:nvSpPr>
          <p:cNvPr id="6" name="TextBox 5">
            <a:extLst>
              <a:ext uri="{FF2B5EF4-FFF2-40B4-BE49-F238E27FC236}">
                <a16:creationId xmlns:a16="http://schemas.microsoft.com/office/drawing/2014/main" id="{B8832E96-A22A-B794-FBF3-8715C4758A06}"/>
              </a:ext>
            </a:extLst>
          </p:cNvPr>
          <p:cNvSpPr txBox="1"/>
          <p:nvPr/>
        </p:nvSpPr>
        <p:spPr>
          <a:xfrm>
            <a:off x="828040" y="1241519"/>
            <a:ext cx="10215880" cy="5293757"/>
          </a:xfrm>
          <a:prstGeom prst="rect">
            <a:avLst/>
          </a:prstGeom>
          <a:noFill/>
        </p:spPr>
        <p:txBody>
          <a:bodyPr wrap="square">
            <a:spAutoFit/>
          </a:bodyPr>
          <a:lstStyle/>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Deadlock Prevention is a method of handling deadlocks where the operating system ensures that at least one of the necessary conditions for deadlock never occurs. </a:t>
            </a:r>
          </a:p>
          <a:p>
            <a:pPr marL="342900" indent="-3429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By breaking these conditions in advance, the system prevents deadlock from happening.</a:t>
            </a:r>
          </a:p>
          <a:p>
            <a:pPr marL="914400" lvl="1" indent="-457200" algn="just">
              <a:buFont typeface="+mj-lt"/>
              <a:buAutoNum type="arabicPeriod"/>
            </a:pPr>
            <a:r>
              <a:rPr lang="en-US" sz="2600" b="1" dirty="0">
                <a:latin typeface="Times New Roman" panose="02020603050405020304" pitchFamily="18" charset="0"/>
                <a:cs typeface="Times New Roman" panose="02020603050405020304" pitchFamily="18" charset="0"/>
              </a:rPr>
              <a:t>Eliminate Mutual Exclusion– </a:t>
            </a:r>
            <a:r>
              <a:rPr lang="en-US" sz="2600" dirty="0">
                <a:latin typeface="Times New Roman" panose="02020603050405020304" pitchFamily="18" charset="0"/>
                <a:cs typeface="Times New Roman" panose="02020603050405020304" pitchFamily="18" charset="0"/>
              </a:rPr>
              <a:t>not required for sharable resources (e.g., read only files); must hold for non-sharable resources.</a:t>
            </a:r>
          </a:p>
          <a:p>
            <a:pPr marL="914400" lvl="1" indent="-457200" algn="just">
              <a:buFont typeface="+mj-lt"/>
              <a:buAutoNum type="arabicPeriod"/>
            </a:pPr>
            <a:r>
              <a:rPr lang="en-US" sz="2600" b="1" dirty="0">
                <a:latin typeface="Times New Roman" panose="02020603050405020304" pitchFamily="18" charset="0"/>
                <a:cs typeface="Times New Roman" panose="02020603050405020304" pitchFamily="18" charset="0"/>
              </a:rPr>
              <a:t>Eliminate Hold and Wait– </a:t>
            </a:r>
            <a:r>
              <a:rPr lang="en-US" sz="2600" dirty="0">
                <a:latin typeface="Times New Roman" panose="02020603050405020304" pitchFamily="18" charset="0"/>
                <a:cs typeface="Times New Roman" panose="02020603050405020304" pitchFamily="18" charset="0"/>
              </a:rPr>
              <a:t>must guarantee that whenever a process requests a resource, it does not hold any other resources.</a:t>
            </a:r>
          </a:p>
          <a:p>
            <a:pPr marL="1371600" lvl="2"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Require process to request and be allocated all its resources before it begins execution, or allow process to request resources only when the process has none allocated to it. </a:t>
            </a:r>
          </a:p>
          <a:p>
            <a:pPr marL="1371600" lvl="2" indent="-457200"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Low resource utilization; starvation possible.</a:t>
            </a:r>
            <a:endParaRPr lang="en-US" sz="26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1852035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290FA-D56A-ED73-9AD6-90BC4ED3BF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04808A-5F4B-5E12-3462-3A52AF68AEC6}"/>
              </a:ext>
            </a:extLst>
          </p:cNvPr>
          <p:cNvSpPr txBox="1">
            <a:spLocks/>
          </p:cNvSpPr>
          <p:nvPr/>
        </p:nvSpPr>
        <p:spPr>
          <a:xfrm>
            <a:off x="505460" y="22142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2. Deadlock prevention</a:t>
            </a:r>
          </a:p>
        </p:txBody>
      </p:sp>
      <p:sp>
        <p:nvSpPr>
          <p:cNvPr id="6" name="TextBox 5">
            <a:extLst>
              <a:ext uri="{FF2B5EF4-FFF2-40B4-BE49-F238E27FC236}">
                <a16:creationId xmlns:a16="http://schemas.microsoft.com/office/drawing/2014/main" id="{F5FFCAC8-1293-3B98-6397-EC520218314A}"/>
              </a:ext>
            </a:extLst>
          </p:cNvPr>
          <p:cNvSpPr txBox="1"/>
          <p:nvPr/>
        </p:nvSpPr>
        <p:spPr>
          <a:xfrm>
            <a:off x="695960" y="1221199"/>
            <a:ext cx="10551160" cy="4832092"/>
          </a:xfrm>
          <a:prstGeom prst="rect">
            <a:avLst/>
          </a:prstGeom>
          <a:noFill/>
        </p:spPr>
        <p:txBody>
          <a:bodyPr wrap="square">
            <a:spAutoFit/>
          </a:bodyPr>
          <a:lstStyle/>
          <a:p>
            <a:pPr algn="just"/>
            <a:r>
              <a:rPr lang="en-US" sz="2800" b="1" dirty="0">
                <a:latin typeface="Times New Roman" panose="02020603050405020304" pitchFamily="18" charset="0"/>
                <a:cs typeface="Times New Roman" panose="02020603050405020304" pitchFamily="18" charset="0"/>
              </a:rPr>
              <a:t>     3. Eliminate No Preemption </a:t>
            </a:r>
          </a:p>
          <a:p>
            <a:pPr marL="914400" lvl="1"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If a process that is holding some resources requests another resource that cannot be immediately allocated to it, then all resources currently being held are released.</a:t>
            </a:r>
          </a:p>
          <a:p>
            <a:pPr marL="914400" lvl="1"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Preempted resources are added to the list of resources for which the process is waiting.</a:t>
            </a:r>
          </a:p>
          <a:p>
            <a:pPr marL="914400" lvl="1" indent="-4572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Process will be restarted only when it can regain its old resources, as well as the new ones that it is requesting </a:t>
            </a:r>
          </a:p>
          <a:p>
            <a:pPr lvl="1" algn="just"/>
            <a:r>
              <a:rPr lang="en-US" sz="2800" b="1" dirty="0">
                <a:latin typeface="Times New Roman" panose="02020603050405020304" pitchFamily="18" charset="0"/>
                <a:cs typeface="Times New Roman" panose="02020603050405020304" pitchFamily="18" charset="0"/>
              </a:rPr>
              <a:t>4. Eliminate Circular Wait– </a:t>
            </a:r>
            <a:r>
              <a:rPr lang="en-US" sz="2800" dirty="0">
                <a:latin typeface="Times New Roman" panose="02020603050405020304" pitchFamily="18" charset="0"/>
                <a:cs typeface="Times New Roman" panose="02020603050405020304" pitchFamily="18" charset="0"/>
              </a:rPr>
              <a:t>impose a total ordering of all resource types, and require that each process requests resources in an increasing order of enumeration</a:t>
            </a:r>
            <a:endParaRPr lang="en-US" sz="26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200225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8E1C7-7328-9D72-F7FA-17B7508000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B41577-90F1-1E81-C800-6FB8DB26C6DE}"/>
              </a:ext>
            </a:extLst>
          </p:cNvPr>
          <p:cNvSpPr txBox="1">
            <a:spLocks/>
          </p:cNvSpPr>
          <p:nvPr/>
        </p:nvSpPr>
        <p:spPr>
          <a:xfrm>
            <a:off x="505460" y="22142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3. Deadlock Detection and Recovery</a:t>
            </a:r>
          </a:p>
        </p:txBody>
      </p:sp>
      <p:sp>
        <p:nvSpPr>
          <p:cNvPr id="4" name="TextBox 3">
            <a:extLst>
              <a:ext uri="{FF2B5EF4-FFF2-40B4-BE49-F238E27FC236}">
                <a16:creationId xmlns:a16="http://schemas.microsoft.com/office/drawing/2014/main" id="{DC547413-53CF-E491-D900-B177C3ED9FE3}"/>
              </a:ext>
            </a:extLst>
          </p:cNvPr>
          <p:cNvSpPr txBox="1"/>
          <p:nvPr/>
        </p:nvSpPr>
        <p:spPr>
          <a:xfrm>
            <a:off x="725170" y="1188933"/>
            <a:ext cx="10741660" cy="5447645"/>
          </a:xfrm>
          <a:prstGeom prst="rect">
            <a:avLst/>
          </a:prstGeom>
          <a:noFill/>
        </p:spPr>
        <p:txBody>
          <a:bodyPr wrap="square">
            <a:spAutoFit/>
          </a:bodyPr>
          <a:lstStyle/>
          <a:p>
            <a:pPr marL="342900" indent="-342900" algn="just" fontAlgn="base">
              <a:spcAft>
                <a:spcPts val="1800"/>
              </a:spcAft>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It is a mechanism to </a:t>
            </a:r>
            <a:r>
              <a:rPr lang="en-US" sz="2400" b="1" dirty="0">
                <a:latin typeface="Times New Roman" panose="02020603050405020304" pitchFamily="18" charset="0"/>
                <a:cs typeface="Times New Roman" panose="02020603050405020304" pitchFamily="18" charset="0"/>
              </a:rPr>
              <a:t>identify and resolve deadlocks</a:t>
            </a:r>
            <a:r>
              <a:rPr lang="en-US" sz="2400" dirty="0">
                <a:latin typeface="Times New Roman" panose="02020603050405020304" pitchFamily="18" charset="0"/>
                <a:cs typeface="Times New Roman" panose="02020603050405020304" pitchFamily="18" charset="0"/>
              </a:rPr>
              <a:t> so that system execution can continue smoothly. A </a:t>
            </a:r>
            <a:r>
              <a:rPr lang="en-US" sz="2400" b="1" dirty="0">
                <a:latin typeface="Times New Roman" panose="02020603050405020304" pitchFamily="18" charset="0"/>
                <a:cs typeface="Times New Roman" panose="02020603050405020304" pitchFamily="18" charset="0"/>
              </a:rPr>
              <a:t>deadlock</a:t>
            </a:r>
            <a:r>
              <a:rPr lang="en-US" sz="2400" dirty="0">
                <a:latin typeface="Times New Roman" panose="02020603050405020304" pitchFamily="18" charset="0"/>
                <a:cs typeface="Times New Roman" panose="02020603050405020304" pitchFamily="18" charset="0"/>
              </a:rPr>
              <a:t> occurs when two or more processes are permanently blocked because each is waiting for a resource held by another process in the set.</a:t>
            </a:r>
            <a:endParaRPr lang="en-US" sz="2400" b="0" i="0" dirty="0">
              <a:solidFill>
                <a:srgbClr val="273239"/>
              </a:solidFill>
              <a:effectLst/>
              <a:latin typeface="Times New Roman" panose="02020603050405020304" pitchFamily="18" charset="0"/>
              <a:cs typeface="Times New Roman" panose="02020603050405020304" pitchFamily="18" charset="0"/>
            </a:endParaRPr>
          </a:p>
          <a:p>
            <a:pPr marL="342900" indent="-342900" algn="just" fontAlgn="base">
              <a:spcAft>
                <a:spcPts val="1800"/>
              </a:spcAft>
              <a:buFont typeface="Wingdings" panose="05000000000000000000" pitchFamily="2" charset="2"/>
              <a:buChar char="§"/>
            </a:pPr>
            <a:r>
              <a:rPr lang="en-US" sz="2400" b="1" i="0" dirty="0">
                <a:solidFill>
                  <a:srgbClr val="273239"/>
                </a:solidFill>
                <a:effectLst/>
                <a:latin typeface="Times New Roman" panose="02020603050405020304" pitchFamily="18" charset="0"/>
                <a:cs typeface="Times New Roman" panose="02020603050405020304" pitchFamily="18" charset="0"/>
              </a:rPr>
              <a:t>Deadlock detection </a:t>
            </a:r>
            <a:r>
              <a:rPr lang="en-US" sz="2400" b="0" i="0" dirty="0">
                <a:solidFill>
                  <a:srgbClr val="273239"/>
                </a:solidFill>
                <a:effectLst/>
                <a:latin typeface="Times New Roman" panose="02020603050405020304" pitchFamily="18" charset="0"/>
                <a:cs typeface="Times New Roman" panose="02020603050405020304" pitchFamily="18" charset="0"/>
              </a:rPr>
              <a:t>is the process of </a:t>
            </a:r>
            <a:r>
              <a:rPr lang="en-US" sz="2400" b="1" i="0" dirty="0">
                <a:solidFill>
                  <a:srgbClr val="273239"/>
                </a:solidFill>
                <a:effectLst/>
                <a:latin typeface="Times New Roman" panose="02020603050405020304" pitchFamily="18" charset="0"/>
                <a:cs typeface="Times New Roman" panose="02020603050405020304" pitchFamily="18" charset="0"/>
              </a:rPr>
              <a:t>identifying</a:t>
            </a:r>
            <a:r>
              <a:rPr lang="en-US" sz="2400" b="0" i="0" dirty="0">
                <a:solidFill>
                  <a:srgbClr val="273239"/>
                </a:solidFill>
                <a:effectLst/>
                <a:latin typeface="Times New Roman" panose="02020603050405020304" pitchFamily="18" charset="0"/>
                <a:cs typeface="Times New Roman" panose="02020603050405020304" pitchFamily="18" charset="0"/>
              </a:rPr>
              <a:t> when processes are stuck waiting for resources held by other processes.</a:t>
            </a:r>
          </a:p>
          <a:p>
            <a:pPr marL="342900" indent="-342900" algn="just" fontAlgn="base">
              <a:spcAft>
                <a:spcPts val="1800"/>
              </a:spcAft>
              <a:buFont typeface="Wingdings" panose="05000000000000000000" pitchFamily="2" charset="2"/>
              <a:buChar char="§"/>
            </a:pPr>
            <a:r>
              <a:rPr lang="en-US" sz="2400" b="1" i="0" dirty="0">
                <a:solidFill>
                  <a:srgbClr val="273239"/>
                </a:solidFill>
                <a:effectLst/>
                <a:latin typeface="Times New Roman" panose="02020603050405020304" pitchFamily="18" charset="0"/>
                <a:cs typeface="Times New Roman" panose="02020603050405020304" pitchFamily="18" charset="0"/>
              </a:rPr>
              <a:t>Recovery</a:t>
            </a:r>
            <a:r>
              <a:rPr lang="en-US" sz="2400" b="0" i="0" dirty="0">
                <a:solidFill>
                  <a:srgbClr val="273239"/>
                </a:solidFill>
                <a:effectLst/>
                <a:latin typeface="Times New Roman" panose="02020603050405020304" pitchFamily="18" charset="0"/>
                <a:cs typeface="Times New Roman" panose="02020603050405020304" pitchFamily="18" charset="0"/>
              </a:rPr>
              <a:t> is the method of </a:t>
            </a:r>
            <a:r>
              <a:rPr lang="en-US" sz="2400" b="1" i="0" dirty="0">
                <a:solidFill>
                  <a:srgbClr val="273239"/>
                </a:solidFill>
                <a:effectLst/>
                <a:latin typeface="Times New Roman" panose="02020603050405020304" pitchFamily="18" charset="0"/>
                <a:cs typeface="Times New Roman" panose="02020603050405020304" pitchFamily="18" charset="0"/>
              </a:rPr>
              <a:t>resolving the deadlock </a:t>
            </a:r>
            <a:r>
              <a:rPr lang="en-US" sz="2400" b="0" i="0" dirty="0">
                <a:solidFill>
                  <a:srgbClr val="273239"/>
                </a:solidFill>
                <a:effectLst/>
                <a:latin typeface="Times New Roman" panose="02020603050405020304" pitchFamily="18" charset="0"/>
                <a:cs typeface="Times New Roman" panose="02020603050405020304" pitchFamily="18" charset="0"/>
              </a:rPr>
              <a:t>to allow the system to continue functioning.</a:t>
            </a:r>
          </a:p>
          <a:p>
            <a:pPr marL="342900" indent="-342900" algn="just" fontAlgn="base">
              <a:spcAft>
                <a:spcPts val="1800"/>
              </a:spcAft>
              <a:buFont typeface="Wingdings" panose="05000000000000000000" pitchFamily="2" charset="2"/>
              <a:buChar char="§"/>
            </a:pPr>
            <a:r>
              <a:rPr lang="en-US" sz="2400" b="0" i="0" dirty="0">
                <a:solidFill>
                  <a:srgbClr val="273239"/>
                </a:solidFill>
                <a:effectLst/>
                <a:latin typeface="Times New Roman" panose="02020603050405020304" pitchFamily="18" charset="0"/>
                <a:cs typeface="Times New Roman" panose="02020603050405020304" pitchFamily="18" charset="0"/>
              </a:rPr>
              <a:t>Detection is done using </a:t>
            </a:r>
            <a:r>
              <a:rPr lang="en-US" sz="2400" b="1" i="0" dirty="0">
                <a:solidFill>
                  <a:srgbClr val="273239"/>
                </a:solidFill>
                <a:effectLst/>
                <a:latin typeface="Times New Roman" panose="02020603050405020304" pitchFamily="18" charset="0"/>
                <a:cs typeface="Times New Roman" panose="02020603050405020304" pitchFamily="18" charset="0"/>
              </a:rPr>
              <a:t>techniques</a:t>
            </a:r>
            <a:r>
              <a:rPr lang="en-US" sz="2400" b="0" i="0" dirty="0">
                <a:solidFill>
                  <a:srgbClr val="273239"/>
                </a:solidFill>
                <a:effectLst/>
                <a:latin typeface="Times New Roman" panose="02020603050405020304" pitchFamily="18" charset="0"/>
                <a:cs typeface="Times New Roman" panose="02020603050405020304" pitchFamily="18" charset="0"/>
              </a:rPr>
              <a:t> like Resource Allocation Graphs </a:t>
            </a:r>
            <a:r>
              <a:rPr lang="en-US" sz="2400" b="1" i="0" dirty="0">
                <a:solidFill>
                  <a:srgbClr val="273239"/>
                </a:solidFill>
                <a:effectLst/>
                <a:latin typeface="Times New Roman" panose="02020603050405020304" pitchFamily="18" charset="0"/>
                <a:cs typeface="Times New Roman" panose="02020603050405020304" pitchFamily="18" charset="0"/>
              </a:rPr>
              <a:t>(RAG) </a:t>
            </a:r>
            <a:r>
              <a:rPr lang="en-US" sz="2400" b="0" i="0" dirty="0">
                <a:solidFill>
                  <a:srgbClr val="273239"/>
                </a:solidFill>
                <a:effectLst/>
                <a:latin typeface="Times New Roman" panose="02020603050405020304" pitchFamily="18" charset="0"/>
                <a:cs typeface="Times New Roman" panose="02020603050405020304" pitchFamily="18" charset="0"/>
              </a:rPr>
              <a:t>or </a:t>
            </a:r>
            <a:r>
              <a:rPr lang="en-US" sz="2400" b="1" i="0" dirty="0">
                <a:solidFill>
                  <a:srgbClr val="273239"/>
                </a:solidFill>
                <a:effectLst/>
                <a:latin typeface="Times New Roman" panose="02020603050405020304" pitchFamily="18" charset="0"/>
                <a:cs typeface="Times New Roman" panose="02020603050405020304" pitchFamily="18" charset="0"/>
              </a:rPr>
              <a:t>Wait-for Graphs.</a:t>
            </a:r>
          </a:p>
          <a:p>
            <a:pPr marL="342900" indent="-342900" algn="just" fontAlgn="base">
              <a:spcAft>
                <a:spcPts val="1800"/>
              </a:spcAft>
              <a:buFont typeface="Wingdings" panose="05000000000000000000" pitchFamily="2" charset="2"/>
              <a:buChar char="§"/>
            </a:pPr>
            <a:r>
              <a:rPr lang="en-US" sz="2400" b="0" i="0" dirty="0">
                <a:solidFill>
                  <a:srgbClr val="273239"/>
                </a:solidFill>
                <a:effectLst/>
                <a:latin typeface="Times New Roman" panose="02020603050405020304" pitchFamily="18" charset="0"/>
                <a:cs typeface="Times New Roman" panose="02020603050405020304" pitchFamily="18" charset="0"/>
              </a:rPr>
              <a:t>Once a deadlock is detected, recovery methods include process termination, resource preemption, or process rollback</a:t>
            </a:r>
          </a:p>
        </p:txBody>
      </p:sp>
    </p:spTree>
    <p:extLst>
      <p:ext uri="{BB962C8B-B14F-4D97-AF65-F5344CB8AC3E}">
        <p14:creationId xmlns:p14="http://schemas.microsoft.com/office/powerpoint/2010/main" val="742175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20B83-B2FD-F492-B95A-8E23BADC61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E038-AB44-BFFF-EBF5-33811F82A9C0}"/>
              </a:ext>
            </a:extLst>
          </p:cNvPr>
          <p:cNvSpPr txBox="1">
            <a:spLocks/>
          </p:cNvSpPr>
          <p:nvPr/>
        </p:nvSpPr>
        <p:spPr>
          <a:xfrm>
            <a:off x="499110" y="28238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3. Deadlock Detection</a:t>
            </a:r>
          </a:p>
        </p:txBody>
      </p:sp>
      <p:sp>
        <p:nvSpPr>
          <p:cNvPr id="4" name="TextBox 3">
            <a:extLst>
              <a:ext uri="{FF2B5EF4-FFF2-40B4-BE49-F238E27FC236}">
                <a16:creationId xmlns:a16="http://schemas.microsoft.com/office/drawing/2014/main" id="{543988EA-7560-5FC5-0C3D-088194D7B92C}"/>
              </a:ext>
            </a:extLst>
          </p:cNvPr>
          <p:cNvSpPr txBox="1"/>
          <p:nvPr/>
        </p:nvSpPr>
        <p:spPr>
          <a:xfrm>
            <a:off x="725170" y="1412453"/>
            <a:ext cx="10741660" cy="4524315"/>
          </a:xfrm>
          <a:prstGeom prst="rect">
            <a:avLst/>
          </a:prstGeom>
          <a:noFill/>
        </p:spPr>
        <p:txBody>
          <a:bodyPr wrap="square">
            <a:spAutoFit/>
          </a:bodyPr>
          <a:lstStyle/>
          <a:p>
            <a:pPr algn="just"/>
            <a:r>
              <a:rPr lang="en-US" sz="3200" b="1" dirty="0">
                <a:latin typeface="Times New Roman" panose="02020603050405020304" pitchFamily="18" charset="0"/>
                <a:cs typeface="Times New Roman" panose="02020603050405020304" pitchFamily="18" charset="0"/>
              </a:rPr>
              <a:t>Deadlock detection</a:t>
            </a:r>
            <a:r>
              <a:rPr lang="en-US" sz="3200" dirty="0">
                <a:latin typeface="Times New Roman" panose="02020603050405020304" pitchFamily="18" charset="0"/>
                <a:cs typeface="Times New Roman" panose="02020603050405020304" pitchFamily="18" charset="0"/>
              </a:rPr>
              <a:t> is the process of determining whether a set of processes is stuck waiting for resources held by other processes.</a:t>
            </a:r>
          </a:p>
          <a:p>
            <a:pPr lvl="1" algn="just"/>
            <a:r>
              <a:rPr lang="en-US" sz="3200" b="1" dirty="0">
                <a:latin typeface="Times New Roman" panose="02020603050405020304" pitchFamily="18" charset="0"/>
                <a:cs typeface="Times New Roman" panose="02020603050405020304" pitchFamily="18" charset="0"/>
              </a:rPr>
              <a:t>1. Single Instance of Each Resource</a:t>
            </a:r>
          </a:p>
          <a:p>
            <a:pPr marL="1371600" lvl="2"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A </a:t>
            </a:r>
            <a:r>
              <a:rPr lang="en-US" sz="3200" b="1" dirty="0">
                <a:latin typeface="Times New Roman" panose="02020603050405020304" pitchFamily="18" charset="0"/>
                <a:cs typeface="Times New Roman" panose="02020603050405020304" pitchFamily="18" charset="0"/>
              </a:rPr>
              <a:t>Resource Allocation Graph (RAG)</a:t>
            </a:r>
            <a:r>
              <a:rPr lang="en-US" sz="3200" dirty="0">
                <a:latin typeface="Times New Roman" panose="02020603050405020304" pitchFamily="18" charset="0"/>
                <a:cs typeface="Times New Roman" panose="02020603050405020304" pitchFamily="18" charset="0"/>
              </a:rPr>
              <a:t> is used.</a:t>
            </a:r>
          </a:p>
          <a:p>
            <a:pPr marL="1371600" lvl="2"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If a </a:t>
            </a:r>
            <a:r>
              <a:rPr lang="en-US" sz="3200" b="1" dirty="0">
                <a:latin typeface="Times New Roman" panose="02020603050405020304" pitchFamily="18" charset="0"/>
                <a:cs typeface="Times New Roman" panose="02020603050405020304" pitchFamily="18" charset="0"/>
              </a:rPr>
              <a:t>cycle exists</a:t>
            </a:r>
            <a:r>
              <a:rPr lang="en-US" sz="3200" dirty="0">
                <a:latin typeface="Times New Roman" panose="02020603050405020304" pitchFamily="18" charset="0"/>
                <a:cs typeface="Times New Roman" panose="02020603050405020304" pitchFamily="18" charset="0"/>
              </a:rPr>
              <a:t> in the graph, a deadlock is </a:t>
            </a:r>
            <a:r>
              <a:rPr lang="en-US" sz="3200" b="1" dirty="0">
                <a:latin typeface="Times New Roman" panose="02020603050405020304" pitchFamily="18" charset="0"/>
                <a:cs typeface="Times New Roman" panose="02020603050405020304" pitchFamily="18" charset="0"/>
              </a:rPr>
              <a:t>confirmed</a:t>
            </a:r>
            <a:r>
              <a:rPr lang="en-US" sz="3200" dirty="0">
                <a:latin typeface="Times New Roman" panose="02020603050405020304" pitchFamily="18" charset="0"/>
                <a:cs typeface="Times New Roman" panose="02020603050405020304" pitchFamily="18" charset="0"/>
              </a:rPr>
              <a:t>.</a:t>
            </a:r>
          </a:p>
          <a:p>
            <a:pPr marL="1371600" lvl="2"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Cycle presence is a </a:t>
            </a:r>
            <a:r>
              <a:rPr lang="en-US" sz="3200" b="1" dirty="0">
                <a:latin typeface="Times New Roman" panose="02020603050405020304" pitchFamily="18" charset="0"/>
                <a:cs typeface="Times New Roman" panose="02020603050405020304" pitchFamily="18" charset="0"/>
              </a:rPr>
              <a:t>sufficient condition</a:t>
            </a:r>
            <a:r>
              <a:rPr lang="en-US" sz="3200" dirty="0">
                <a:latin typeface="Times New Roman" panose="02020603050405020304" pitchFamily="18" charset="0"/>
                <a:cs typeface="Times New Roman" panose="02020603050405020304" pitchFamily="18" charset="0"/>
              </a:rPr>
              <a:t> for deadlock.</a:t>
            </a:r>
          </a:p>
          <a:p>
            <a:pPr lvl="1"/>
            <a:r>
              <a:rPr lang="en-US" sz="3200" b="1" dirty="0">
                <a:latin typeface="Times New Roman" panose="02020603050405020304" pitchFamily="18" charset="0"/>
                <a:cs typeface="Times New Roman" panose="02020603050405020304" pitchFamily="18" charset="0"/>
              </a:rPr>
              <a:t>Example:</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R1 → P1 → R2 → P2 → R1 - A cycle confirms deadlock.</a:t>
            </a:r>
          </a:p>
        </p:txBody>
      </p:sp>
    </p:spTree>
    <p:extLst>
      <p:ext uri="{BB962C8B-B14F-4D97-AF65-F5344CB8AC3E}">
        <p14:creationId xmlns:p14="http://schemas.microsoft.com/office/powerpoint/2010/main" val="2877543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AFE2D-A952-9EE7-A171-3EDA3A31BE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69D74-CD35-7E88-E8A1-CCE821361119}"/>
              </a:ext>
            </a:extLst>
          </p:cNvPr>
          <p:cNvSpPr txBox="1">
            <a:spLocks/>
          </p:cNvSpPr>
          <p:nvPr/>
        </p:nvSpPr>
        <p:spPr>
          <a:xfrm>
            <a:off x="499110" y="28238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3. Deadlock Detection</a:t>
            </a:r>
          </a:p>
        </p:txBody>
      </p:sp>
      <p:sp>
        <p:nvSpPr>
          <p:cNvPr id="4" name="TextBox 3">
            <a:extLst>
              <a:ext uri="{FF2B5EF4-FFF2-40B4-BE49-F238E27FC236}">
                <a16:creationId xmlns:a16="http://schemas.microsoft.com/office/drawing/2014/main" id="{736D5F28-E72A-C4F5-EBDC-D9A7DDC1E601}"/>
              </a:ext>
            </a:extLst>
          </p:cNvPr>
          <p:cNvSpPr txBox="1"/>
          <p:nvPr/>
        </p:nvSpPr>
        <p:spPr>
          <a:xfrm>
            <a:off x="725170" y="1199093"/>
            <a:ext cx="10741660" cy="5262979"/>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2. Multiple Instances of Resources</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Cycle detection is </a:t>
            </a:r>
            <a:r>
              <a:rPr lang="en-US" sz="2800" b="1" dirty="0">
                <a:latin typeface="Times New Roman" panose="02020603050405020304" pitchFamily="18" charset="0"/>
                <a:cs typeface="Times New Roman" panose="02020603050405020304" pitchFamily="18" charset="0"/>
              </a:rPr>
              <a:t>necessary but not sufficient</a:t>
            </a:r>
            <a:r>
              <a:rPr lang="en-US" sz="28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system may or may not be in a deadlock.</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Detection algorithms similar to </a:t>
            </a:r>
            <a:r>
              <a:rPr lang="en-US" sz="2800" b="1" dirty="0">
                <a:latin typeface="Times New Roman" panose="02020603050405020304" pitchFamily="18" charset="0"/>
                <a:cs typeface="Times New Roman" panose="02020603050405020304" pitchFamily="18" charset="0"/>
              </a:rPr>
              <a:t>Banker’s Algorithm</a:t>
            </a:r>
            <a:r>
              <a:rPr lang="en-US" sz="2800" dirty="0">
                <a:latin typeface="Times New Roman" panose="02020603050405020304" pitchFamily="18" charset="0"/>
                <a:cs typeface="Times New Roman" panose="02020603050405020304" pitchFamily="18" charset="0"/>
              </a:rPr>
              <a:t> can be used periodically.</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3. Wait-For Graph Algorithm</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Used mainly when resources have </a:t>
            </a:r>
            <a:r>
              <a:rPr lang="en-US" sz="2800" b="1" dirty="0">
                <a:latin typeface="Times New Roman" panose="02020603050405020304" pitchFamily="18" charset="0"/>
                <a:cs typeface="Times New Roman" panose="02020603050405020304" pitchFamily="18" charset="0"/>
              </a:rPr>
              <a:t>multiple instances</a:t>
            </a:r>
            <a:r>
              <a:rPr lang="en-US" sz="28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Nodes represent </a:t>
            </a:r>
            <a:r>
              <a:rPr lang="en-US" sz="2800" b="1" dirty="0">
                <a:latin typeface="Times New Roman" panose="02020603050405020304" pitchFamily="18" charset="0"/>
                <a:cs typeface="Times New Roman" panose="02020603050405020304" pitchFamily="18" charset="0"/>
              </a:rPr>
              <a:t>processes only</a:t>
            </a:r>
            <a:r>
              <a:rPr lang="en-US" sz="28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An edge from Pi to </a:t>
            </a:r>
            <a:r>
              <a:rPr lang="en-US" sz="2800" dirty="0" err="1">
                <a:latin typeface="Times New Roman" panose="02020603050405020304" pitchFamily="18" charset="0"/>
                <a:cs typeface="Times New Roman" panose="02020603050405020304" pitchFamily="18" charset="0"/>
              </a:rPr>
              <a:t>Pj</a:t>
            </a:r>
            <a:r>
              <a:rPr lang="en-US" sz="2800" dirty="0">
                <a:latin typeface="Times New Roman" panose="02020603050405020304" pitchFamily="18" charset="0"/>
                <a:cs typeface="Times New Roman" panose="02020603050405020304" pitchFamily="18" charset="0"/>
              </a:rPr>
              <a:t> indicates Pi is waiting for a resource held by </a:t>
            </a:r>
            <a:r>
              <a:rPr lang="en-US" sz="2800" dirty="0" err="1">
                <a:latin typeface="Times New Roman" panose="02020603050405020304" pitchFamily="18" charset="0"/>
                <a:cs typeface="Times New Roman" panose="02020603050405020304" pitchFamily="18" charset="0"/>
              </a:rPr>
              <a:t>Pj</a:t>
            </a:r>
            <a:r>
              <a:rPr lang="en-US" sz="28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a:t>
            </a:r>
            <a:r>
              <a:rPr lang="en-US" sz="2800" b="1" dirty="0">
                <a:latin typeface="Times New Roman" panose="02020603050405020304" pitchFamily="18" charset="0"/>
                <a:cs typeface="Times New Roman" panose="02020603050405020304" pitchFamily="18" charset="0"/>
              </a:rPr>
              <a:t>cycle in the Wait-For Graph</a:t>
            </a:r>
            <a:r>
              <a:rPr lang="en-US" sz="2800" dirty="0">
                <a:latin typeface="Times New Roman" panose="02020603050405020304" pitchFamily="18" charset="0"/>
                <a:cs typeface="Times New Roman" panose="02020603050405020304" pitchFamily="18" charset="0"/>
              </a:rPr>
              <a:t> indicates deadlock.</a:t>
            </a:r>
          </a:p>
        </p:txBody>
      </p:sp>
    </p:spTree>
    <p:extLst>
      <p:ext uri="{BB962C8B-B14F-4D97-AF65-F5344CB8AC3E}">
        <p14:creationId xmlns:p14="http://schemas.microsoft.com/office/powerpoint/2010/main" val="18910622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9411E9-C879-A339-F32B-24D2CA29D491}"/>
              </a:ext>
            </a:extLst>
          </p:cNvPr>
          <p:cNvPicPr>
            <a:picLocks noChangeAspect="1"/>
          </p:cNvPicPr>
          <p:nvPr/>
        </p:nvPicPr>
        <p:blipFill>
          <a:blip r:embed="rId2"/>
          <a:stretch>
            <a:fillRect/>
          </a:stretch>
        </p:blipFill>
        <p:spPr>
          <a:xfrm>
            <a:off x="1253430" y="1361441"/>
            <a:ext cx="9685139" cy="5388292"/>
          </a:xfrm>
          <a:prstGeom prst="rect">
            <a:avLst/>
          </a:prstGeom>
        </p:spPr>
      </p:pic>
      <p:sp>
        <p:nvSpPr>
          <p:cNvPr id="4" name="Title 1">
            <a:extLst>
              <a:ext uri="{FF2B5EF4-FFF2-40B4-BE49-F238E27FC236}">
                <a16:creationId xmlns:a16="http://schemas.microsoft.com/office/drawing/2014/main" id="{7951F392-160F-587B-3F3D-FB1EA584353C}"/>
              </a:ext>
            </a:extLst>
          </p:cNvPr>
          <p:cNvSpPr txBox="1">
            <a:spLocks/>
          </p:cNvSpPr>
          <p:nvPr/>
        </p:nvSpPr>
        <p:spPr>
          <a:xfrm>
            <a:off x="499110" y="28238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3">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Resource-Allocation Graph (RAG)</a:t>
            </a:r>
          </a:p>
          <a:p>
            <a:pPr algn="ctr"/>
            <a:r>
              <a:rPr lang="en-US" sz="3600" b="1" dirty="0">
                <a:solidFill>
                  <a:srgbClr val="0070C0"/>
                </a:solidFill>
                <a:latin typeface="Times New Roman" panose="02020603050405020304" pitchFamily="18" charset="0"/>
                <a:cs typeface="Times New Roman" panose="02020603050405020304" pitchFamily="18" charset="0"/>
              </a:rPr>
              <a:t> and Wait-for Graph AND (WFG)</a:t>
            </a:r>
          </a:p>
        </p:txBody>
      </p:sp>
    </p:spTree>
    <p:extLst>
      <p:ext uri="{BB962C8B-B14F-4D97-AF65-F5344CB8AC3E}">
        <p14:creationId xmlns:p14="http://schemas.microsoft.com/office/powerpoint/2010/main" val="20394893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57B2A-FE20-35AC-8007-99E8C5009C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64D1B-BE6E-4D12-318C-25FD2618F593}"/>
              </a:ext>
            </a:extLst>
          </p:cNvPr>
          <p:cNvSpPr txBox="1">
            <a:spLocks/>
          </p:cNvSpPr>
          <p:nvPr/>
        </p:nvSpPr>
        <p:spPr>
          <a:xfrm>
            <a:off x="499110" y="28238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3. Deadlock RECOVERY</a:t>
            </a:r>
          </a:p>
        </p:txBody>
      </p:sp>
      <p:sp>
        <p:nvSpPr>
          <p:cNvPr id="4" name="TextBox 3">
            <a:extLst>
              <a:ext uri="{FF2B5EF4-FFF2-40B4-BE49-F238E27FC236}">
                <a16:creationId xmlns:a16="http://schemas.microsoft.com/office/drawing/2014/main" id="{A08E08DD-C262-F9BD-6FE0-75E062902DED}"/>
              </a:ext>
            </a:extLst>
          </p:cNvPr>
          <p:cNvSpPr txBox="1"/>
          <p:nvPr/>
        </p:nvSpPr>
        <p:spPr>
          <a:xfrm>
            <a:off x="725170" y="1124011"/>
            <a:ext cx="10741660" cy="5632311"/>
          </a:xfrm>
          <a:prstGeom prst="rect">
            <a:avLst/>
          </a:prstGeom>
          <a:noFill/>
        </p:spPr>
        <p:txBody>
          <a:bodyPr wrap="square">
            <a:spAutoFit/>
          </a:bodyPr>
          <a:lstStyle/>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Once a deadlock is detected, the operating system must take steps to </a:t>
            </a:r>
            <a:r>
              <a:rPr lang="en-US" sz="2400" b="1" dirty="0">
                <a:latin typeface="Times New Roman" panose="02020603050405020304" pitchFamily="18" charset="0"/>
                <a:cs typeface="Times New Roman" panose="02020603050405020304" pitchFamily="18" charset="0"/>
              </a:rPr>
              <a:t>break the circular wait</a:t>
            </a:r>
            <a:r>
              <a:rPr lang="en-US" sz="2400" dirty="0">
                <a:latin typeface="Times New Roman" panose="02020603050405020304" pitchFamily="18" charset="0"/>
                <a:cs typeface="Times New Roman" panose="02020603050405020304" pitchFamily="18" charset="0"/>
              </a:rPr>
              <a:t> and restore progress.</a:t>
            </a:r>
          </a:p>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Traditional operating systems (e.g., Windows) rarely implement recovery due to high overhead, while </a:t>
            </a:r>
            <a:r>
              <a:rPr lang="en-US" sz="2400" b="1" dirty="0">
                <a:latin typeface="Times New Roman" panose="02020603050405020304" pitchFamily="18" charset="0"/>
                <a:cs typeface="Times New Roman" panose="02020603050405020304" pitchFamily="18" charset="0"/>
              </a:rPr>
              <a:t>real-time systems</a:t>
            </a:r>
            <a:r>
              <a:rPr lang="en-US" sz="2400" dirty="0">
                <a:latin typeface="Times New Roman" panose="02020603050405020304" pitchFamily="18" charset="0"/>
                <a:cs typeface="Times New Roman" panose="02020603050405020304" pitchFamily="18" charset="0"/>
              </a:rPr>
              <a:t> may use recovery techniques.</a:t>
            </a:r>
          </a:p>
          <a:p>
            <a:pPr marL="342900" indent="-342900">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Recovery Techniques</a:t>
            </a:r>
          </a:p>
          <a:p>
            <a:pPr lvl="1"/>
            <a:r>
              <a:rPr lang="en-US" sz="2400" b="1" dirty="0">
                <a:latin typeface="Times New Roman" panose="02020603050405020304" pitchFamily="18" charset="0"/>
                <a:cs typeface="Times New Roman" panose="02020603050405020304" pitchFamily="18" charset="0"/>
              </a:rPr>
              <a:t>1. Process Termination: </a:t>
            </a:r>
            <a:r>
              <a:rPr lang="en-US" sz="2400" dirty="0">
                <a:latin typeface="Times New Roman" panose="02020603050405020304" pitchFamily="18" charset="0"/>
                <a:cs typeface="Times New Roman" panose="02020603050405020304" pitchFamily="18" charset="0"/>
              </a:rPr>
              <a:t>Abort all deadlocked processes, or Abort processes one by one until deadlock is resolved.</a:t>
            </a:r>
          </a:p>
          <a:p>
            <a:pPr lvl="1"/>
            <a:r>
              <a:rPr lang="en-US" sz="2400" b="1" dirty="0">
                <a:latin typeface="Times New Roman" panose="02020603050405020304" pitchFamily="18" charset="0"/>
                <a:cs typeface="Times New Roman" panose="02020603050405020304" pitchFamily="18" charset="0"/>
              </a:rPr>
              <a:t>2. Process Rollback: </a:t>
            </a:r>
            <a:r>
              <a:rPr lang="en-US" sz="2400" dirty="0">
                <a:latin typeface="Times New Roman" panose="02020603050405020304" pitchFamily="18" charset="0"/>
                <a:cs typeface="Times New Roman" panose="02020603050405020304" pitchFamily="18" charset="0"/>
              </a:rPr>
              <a:t>Roll back processes to a previously saved safe state. Requires </a:t>
            </a:r>
            <a:r>
              <a:rPr lang="en-US" sz="2400" b="1" dirty="0">
                <a:latin typeface="Times New Roman" panose="02020603050405020304" pitchFamily="18" charset="0"/>
                <a:cs typeface="Times New Roman" panose="02020603050405020304" pitchFamily="18" charset="0"/>
              </a:rPr>
              <a:t>checkpointing</a:t>
            </a:r>
            <a:r>
              <a:rPr lang="en-US" sz="2400" dirty="0">
                <a:latin typeface="Times New Roman" panose="02020603050405020304" pitchFamily="18" charset="0"/>
                <a:cs typeface="Times New Roman" panose="02020603050405020304" pitchFamily="18" charset="0"/>
              </a:rPr>
              <a:t>, which increases overhead.</a:t>
            </a:r>
          </a:p>
          <a:p>
            <a:pPr lvl="1"/>
            <a:r>
              <a:rPr lang="en-US" sz="2400" b="1" dirty="0">
                <a:latin typeface="Times New Roman" panose="02020603050405020304" pitchFamily="18" charset="0"/>
                <a:cs typeface="Times New Roman" panose="02020603050405020304" pitchFamily="18" charset="0"/>
              </a:rPr>
              <a:t>3. Resource Preemption: </a:t>
            </a:r>
            <a:r>
              <a:rPr lang="en-US" sz="2400" dirty="0">
                <a:latin typeface="Times New Roman" panose="02020603050405020304" pitchFamily="18" charset="0"/>
                <a:cs typeface="Times New Roman" panose="02020603050405020304" pitchFamily="18" charset="0"/>
              </a:rPr>
              <a:t>Temporarily take resources from selected processes.</a:t>
            </a:r>
          </a:p>
          <a:p>
            <a:pPr lvl="1"/>
            <a:r>
              <a:rPr lang="en-US" sz="2400" dirty="0">
                <a:latin typeface="Times New Roman" panose="02020603050405020304" pitchFamily="18" charset="0"/>
                <a:cs typeface="Times New Roman" panose="02020603050405020304" pitchFamily="18" charset="0"/>
              </a:rPr>
              <a:t>Can lead to </a:t>
            </a:r>
            <a:r>
              <a:rPr lang="en-US" sz="2400" b="1" dirty="0">
                <a:latin typeface="Times New Roman" panose="02020603050405020304" pitchFamily="18" charset="0"/>
                <a:cs typeface="Times New Roman" panose="02020603050405020304" pitchFamily="18" charset="0"/>
              </a:rPr>
              <a:t>starvation</a:t>
            </a:r>
            <a:r>
              <a:rPr lang="en-US" sz="2400" dirty="0">
                <a:latin typeface="Times New Roman" panose="02020603050405020304" pitchFamily="18" charset="0"/>
                <a:cs typeface="Times New Roman" panose="02020603050405020304" pitchFamily="18" charset="0"/>
              </a:rPr>
              <a:t> if not handled carefully.</a:t>
            </a:r>
          </a:p>
          <a:p>
            <a:pPr lvl="1"/>
            <a:r>
              <a:rPr lang="en-US" sz="2400" b="1" dirty="0">
                <a:latin typeface="Times New Roman" panose="02020603050405020304" pitchFamily="18" charset="0"/>
                <a:cs typeface="Times New Roman" panose="02020603050405020304" pitchFamily="18" charset="0"/>
              </a:rPr>
              <a:t>4. Concurrency Control: </a:t>
            </a:r>
            <a:r>
              <a:rPr lang="en-US" sz="2400" dirty="0">
                <a:latin typeface="Times New Roman" panose="02020603050405020304" pitchFamily="18" charset="0"/>
                <a:cs typeface="Times New Roman" panose="02020603050405020304" pitchFamily="18" charset="0"/>
              </a:rPr>
              <a:t>Manages access to shared resources. Prevents improper resource holding that may lead to deadlocks. Common in database and transaction systems.</a:t>
            </a:r>
          </a:p>
          <a:p>
            <a:pPr marL="457200" indent="-45720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3390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DA854-1188-709E-3BB8-460975EB5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2C9371-57A4-0CB6-DF81-5249475C88E4}"/>
              </a:ext>
            </a:extLst>
          </p:cNvPr>
          <p:cNvSpPr txBox="1">
            <a:spLocks/>
          </p:cNvSpPr>
          <p:nvPr/>
        </p:nvSpPr>
        <p:spPr>
          <a:xfrm>
            <a:off x="539750" y="406781"/>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Deadlock Detection with Multiple Resource Instances</a:t>
            </a:r>
          </a:p>
        </p:txBody>
      </p:sp>
      <p:sp>
        <p:nvSpPr>
          <p:cNvPr id="10" name="Title 1">
            <a:extLst>
              <a:ext uri="{FF2B5EF4-FFF2-40B4-BE49-F238E27FC236}">
                <a16:creationId xmlns:a16="http://schemas.microsoft.com/office/drawing/2014/main" id="{3B17B0AF-FF5C-D41D-F6AE-B98AC900B103}"/>
              </a:ext>
            </a:extLst>
          </p:cNvPr>
          <p:cNvSpPr txBox="1">
            <a:spLocks/>
          </p:cNvSpPr>
          <p:nvPr/>
        </p:nvSpPr>
        <p:spPr>
          <a:xfrm>
            <a:off x="1120457" y="1248410"/>
            <a:ext cx="202184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2400" b="1" dirty="0">
                <a:solidFill>
                  <a:schemeClr val="tx1"/>
                </a:solidFill>
                <a:latin typeface="Times New Roman" panose="02020603050405020304" pitchFamily="18" charset="0"/>
                <a:cs typeface="Times New Roman" panose="02020603050405020304" pitchFamily="18" charset="0"/>
              </a:rPr>
              <a:t>Problem:</a:t>
            </a:r>
          </a:p>
        </p:txBody>
      </p:sp>
      <p:pic>
        <p:nvPicPr>
          <p:cNvPr id="12" name="Picture 11">
            <a:extLst>
              <a:ext uri="{FF2B5EF4-FFF2-40B4-BE49-F238E27FC236}">
                <a16:creationId xmlns:a16="http://schemas.microsoft.com/office/drawing/2014/main" id="{30802CA1-66B8-D43E-DCF6-7FB2174B8D82}"/>
              </a:ext>
            </a:extLst>
          </p:cNvPr>
          <p:cNvPicPr>
            <a:picLocks noChangeAspect="1"/>
          </p:cNvPicPr>
          <p:nvPr/>
        </p:nvPicPr>
        <p:blipFill>
          <a:blip r:embed="rId3"/>
          <a:stretch>
            <a:fillRect/>
          </a:stretch>
        </p:blipFill>
        <p:spPr>
          <a:xfrm>
            <a:off x="1211897" y="1857741"/>
            <a:ext cx="10146983" cy="4694165"/>
          </a:xfrm>
          <a:prstGeom prst="rect">
            <a:avLst/>
          </a:prstGeom>
        </p:spPr>
      </p:pic>
    </p:spTree>
    <p:extLst>
      <p:ext uri="{BB962C8B-B14F-4D97-AF65-F5344CB8AC3E}">
        <p14:creationId xmlns:p14="http://schemas.microsoft.com/office/powerpoint/2010/main" val="22277155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6FD3-C742-FAA5-046E-CDCAA76377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86B0B3-57E0-0E21-D6BA-70B0CC84962C}"/>
              </a:ext>
            </a:extLst>
          </p:cNvPr>
          <p:cNvSpPr txBox="1">
            <a:spLocks/>
          </p:cNvSpPr>
          <p:nvPr/>
        </p:nvSpPr>
        <p:spPr>
          <a:xfrm>
            <a:off x="499110" y="28238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DETECTION ALGORITHM </a:t>
            </a:r>
          </a:p>
        </p:txBody>
      </p:sp>
      <p:pic>
        <p:nvPicPr>
          <p:cNvPr id="5" name="Picture 4">
            <a:extLst>
              <a:ext uri="{FF2B5EF4-FFF2-40B4-BE49-F238E27FC236}">
                <a16:creationId xmlns:a16="http://schemas.microsoft.com/office/drawing/2014/main" id="{19678891-CAD2-F91E-C73D-8BFAE153BBD3}"/>
              </a:ext>
            </a:extLst>
          </p:cNvPr>
          <p:cNvPicPr>
            <a:picLocks noChangeAspect="1"/>
          </p:cNvPicPr>
          <p:nvPr/>
        </p:nvPicPr>
        <p:blipFill>
          <a:blip r:embed="rId3"/>
          <a:stretch>
            <a:fillRect/>
          </a:stretch>
        </p:blipFill>
        <p:spPr>
          <a:xfrm>
            <a:off x="1049004" y="1668620"/>
            <a:ext cx="4095750" cy="2057400"/>
          </a:xfrm>
          <a:prstGeom prst="rect">
            <a:avLst/>
          </a:prstGeom>
        </p:spPr>
      </p:pic>
      <p:pic>
        <p:nvPicPr>
          <p:cNvPr id="7" name="Picture 6">
            <a:extLst>
              <a:ext uri="{FF2B5EF4-FFF2-40B4-BE49-F238E27FC236}">
                <a16:creationId xmlns:a16="http://schemas.microsoft.com/office/drawing/2014/main" id="{9B98E1EA-7930-4CCA-F005-EE00C7602F04}"/>
              </a:ext>
            </a:extLst>
          </p:cNvPr>
          <p:cNvPicPr>
            <a:picLocks noChangeAspect="1"/>
          </p:cNvPicPr>
          <p:nvPr/>
        </p:nvPicPr>
        <p:blipFill>
          <a:blip r:embed="rId4"/>
          <a:stretch>
            <a:fillRect/>
          </a:stretch>
        </p:blipFill>
        <p:spPr>
          <a:xfrm>
            <a:off x="3096879" y="2292350"/>
            <a:ext cx="8926859" cy="3873500"/>
          </a:xfrm>
          <a:prstGeom prst="rect">
            <a:avLst/>
          </a:prstGeom>
        </p:spPr>
      </p:pic>
      <p:sp>
        <p:nvSpPr>
          <p:cNvPr id="3" name="Title 1">
            <a:extLst>
              <a:ext uri="{FF2B5EF4-FFF2-40B4-BE49-F238E27FC236}">
                <a16:creationId xmlns:a16="http://schemas.microsoft.com/office/drawing/2014/main" id="{16348A7A-8835-F4B5-82C6-96888285DC5B}"/>
              </a:ext>
            </a:extLst>
          </p:cNvPr>
          <p:cNvSpPr txBox="1">
            <a:spLocks/>
          </p:cNvSpPr>
          <p:nvPr/>
        </p:nvSpPr>
        <p:spPr>
          <a:xfrm>
            <a:off x="1075039" y="967721"/>
            <a:ext cx="202184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2400" b="1" dirty="0">
                <a:solidFill>
                  <a:schemeClr val="tx1"/>
                </a:solidFill>
                <a:latin typeface="Times New Roman" panose="02020603050405020304" pitchFamily="18" charset="0"/>
                <a:cs typeface="Times New Roman" panose="02020603050405020304" pitchFamily="18" charset="0"/>
              </a:rPr>
              <a:t>solution</a:t>
            </a:r>
          </a:p>
        </p:txBody>
      </p:sp>
    </p:spTree>
    <p:extLst>
      <p:ext uri="{BB962C8B-B14F-4D97-AF65-F5344CB8AC3E}">
        <p14:creationId xmlns:p14="http://schemas.microsoft.com/office/powerpoint/2010/main" val="7261290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6220A-8EBF-96D6-7B29-B73BA0B37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DAF74B-A19F-CCF1-63F5-AD719B2329F0}"/>
              </a:ext>
            </a:extLst>
          </p:cNvPr>
          <p:cNvSpPr txBox="1">
            <a:spLocks/>
          </p:cNvSpPr>
          <p:nvPr/>
        </p:nvSpPr>
        <p:spPr>
          <a:xfrm>
            <a:off x="499110" y="28238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DETECTION ALGORITHM </a:t>
            </a:r>
          </a:p>
        </p:txBody>
      </p:sp>
      <p:pic>
        <p:nvPicPr>
          <p:cNvPr id="4" name="Picture 3">
            <a:extLst>
              <a:ext uri="{FF2B5EF4-FFF2-40B4-BE49-F238E27FC236}">
                <a16:creationId xmlns:a16="http://schemas.microsoft.com/office/drawing/2014/main" id="{AF02CB0F-3492-FF87-EECB-13EF74F322FC}"/>
              </a:ext>
            </a:extLst>
          </p:cNvPr>
          <p:cNvPicPr>
            <a:picLocks noChangeAspect="1"/>
          </p:cNvPicPr>
          <p:nvPr/>
        </p:nvPicPr>
        <p:blipFill>
          <a:blip r:embed="rId3"/>
          <a:stretch>
            <a:fillRect/>
          </a:stretch>
        </p:blipFill>
        <p:spPr>
          <a:xfrm>
            <a:off x="1949132" y="1230630"/>
            <a:ext cx="8067675" cy="3543300"/>
          </a:xfrm>
          <a:prstGeom prst="rect">
            <a:avLst/>
          </a:prstGeom>
        </p:spPr>
      </p:pic>
      <p:pic>
        <p:nvPicPr>
          <p:cNvPr id="8" name="Picture 7">
            <a:extLst>
              <a:ext uri="{FF2B5EF4-FFF2-40B4-BE49-F238E27FC236}">
                <a16:creationId xmlns:a16="http://schemas.microsoft.com/office/drawing/2014/main" id="{FB779CCD-C380-4119-8B82-4B1026AFAA12}"/>
              </a:ext>
            </a:extLst>
          </p:cNvPr>
          <p:cNvPicPr>
            <a:picLocks noChangeAspect="1"/>
          </p:cNvPicPr>
          <p:nvPr/>
        </p:nvPicPr>
        <p:blipFill>
          <a:blip r:embed="rId4"/>
          <a:stretch>
            <a:fillRect/>
          </a:stretch>
        </p:blipFill>
        <p:spPr>
          <a:xfrm>
            <a:off x="1977707" y="4632007"/>
            <a:ext cx="8039100" cy="1990725"/>
          </a:xfrm>
          <a:prstGeom prst="rect">
            <a:avLst/>
          </a:prstGeom>
        </p:spPr>
      </p:pic>
    </p:spTree>
    <p:extLst>
      <p:ext uri="{BB962C8B-B14F-4D97-AF65-F5344CB8AC3E}">
        <p14:creationId xmlns:p14="http://schemas.microsoft.com/office/powerpoint/2010/main" val="26463226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79585-27E1-266F-20FE-A20CFFB419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4D900-26E6-111F-0D8B-4256D0B91523}"/>
              </a:ext>
            </a:extLst>
          </p:cNvPr>
          <p:cNvSpPr txBox="1">
            <a:spLocks/>
          </p:cNvSpPr>
          <p:nvPr/>
        </p:nvSpPr>
        <p:spPr>
          <a:xfrm>
            <a:off x="499110" y="28238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DETECTION ALGORITHM </a:t>
            </a:r>
          </a:p>
        </p:txBody>
      </p:sp>
      <p:pic>
        <p:nvPicPr>
          <p:cNvPr id="5" name="Picture 4">
            <a:extLst>
              <a:ext uri="{FF2B5EF4-FFF2-40B4-BE49-F238E27FC236}">
                <a16:creationId xmlns:a16="http://schemas.microsoft.com/office/drawing/2014/main" id="{25C28927-CD94-1342-812E-E60A2CE10159}"/>
              </a:ext>
            </a:extLst>
          </p:cNvPr>
          <p:cNvPicPr>
            <a:picLocks noChangeAspect="1"/>
          </p:cNvPicPr>
          <p:nvPr/>
        </p:nvPicPr>
        <p:blipFill>
          <a:blip r:embed="rId3"/>
          <a:stretch>
            <a:fillRect/>
          </a:stretch>
        </p:blipFill>
        <p:spPr>
          <a:xfrm>
            <a:off x="627380" y="1077997"/>
            <a:ext cx="8729980" cy="2149427"/>
          </a:xfrm>
          <a:prstGeom prst="rect">
            <a:avLst/>
          </a:prstGeom>
        </p:spPr>
      </p:pic>
      <p:pic>
        <p:nvPicPr>
          <p:cNvPr id="7" name="Picture 6">
            <a:extLst>
              <a:ext uri="{FF2B5EF4-FFF2-40B4-BE49-F238E27FC236}">
                <a16:creationId xmlns:a16="http://schemas.microsoft.com/office/drawing/2014/main" id="{8FD6F05E-1E06-4D87-CC8E-EE10C7CE8882}"/>
              </a:ext>
            </a:extLst>
          </p:cNvPr>
          <p:cNvPicPr>
            <a:picLocks noChangeAspect="1"/>
          </p:cNvPicPr>
          <p:nvPr/>
        </p:nvPicPr>
        <p:blipFill>
          <a:blip r:embed="rId4"/>
          <a:stretch>
            <a:fillRect/>
          </a:stretch>
        </p:blipFill>
        <p:spPr>
          <a:xfrm>
            <a:off x="725169" y="3227424"/>
            <a:ext cx="1924050" cy="1028700"/>
          </a:xfrm>
          <a:prstGeom prst="rect">
            <a:avLst/>
          </a:prstGeom>
        </p:spPr>
      </p:pic>
      <p:pic>
        <p:nvPicPr>
          <p:cNvPr id="10" name="Picture 9">
            <a:extLst>
              <a:ext uri="{FF2B5EF4-FFF2-40B4-BE49-F238E27FC236}">
                <a16:creationId xmlns:a16="http://schemas.microsoft.com/office/drawing/2014/main" id="{7A6E4DB7-A33B-68ED-50E4-2E3A33310AB2}"/>
              </a:ext>
            </a:extLst>
          </p:cNvPr>
          <p:cNvPicPr>
            <a:picLocks noChangeAspect="1"/>
          </p:cNvPicPr>
          <p:nvPr/>
        </p:nvPicPr>
        <p:blipFill>
          <a:blip r:embed="rId5"/>
          <a:stretch>
            <a:fillRect/>
          </a:stretch>
        </p:blipFill>
        <p:spPr>
          <a:xfrm>
            <a:off x="726249" y="4256124"/>
            <a:ext cx="3638550" cy="2400300"/>
          </a:xfrm>
          <a:prstGeom prst="rect">
            <a:avLst/>
          </a:prstGeom>
        </p:spPr>
      </p:pic>
      <p:pic>
        <p:nvPicPr>
          <p:cNvPr id="12" name="Picture 11">
            <a:extLst>
              <a:ext uri="{FF2B5EF4-FFF2-40B4-BE49-F238E27FC236}">
                <a16:creationId xmlns:a16="http://schemas.microsoft.com/office/drawing/2014/main" id="{D6FBD33F-6C94-9607-EDED-31CDB4A49FF0}"/>
              </a:ext>
            </a:extLst>
          </p:cNvPr>
          <p:cNvPicPr>
            <a:picLocks noChangeAspect="1"/>
          </p:cNvPicPr>
          <p:nvPr/>
        </p:nvPicPr>
        <p:blipFill>
          <a:blip r:embed="rId6"/>
          <a:stretch>
            <a:fillRect/>
          </a:stretch>
        </p:blipFill>
        <p:spPr>
          <a:xfrm>
            <a:off x="4347717" y="2601876"/>
            <a:ext cx="4578985" cy="3880314"/>
          </a:xfrm>
          <a:prstGeom prst="rect">
            <a:avLst/>
          </a:prstGeom>
        </p:spPr>
      </p:pic>
      <p:sp>
        <p:nvSpPr>
          <p:cNvPr id="17" name="TextBox 16">
            <a:extLst>
              <a:ext uri="{FF2B5EF4-FFF2-40B4-BE49-F238E27FC236}">
                <a16:creationId xmlns:a16="http://schemas.microsoft.com/office/drawing/2014/main" id="{B2A93132-6BCC-FFA4-6C69-7BA5121329DB}"/>
              </a:ext>
            </a:extLst>
          </p:cNvPr>
          <p:cNvSpPr txBox="1"/>
          <p:nvPr/>
        </p:nvSpPr>
        <p:spPr>
          <a:xfrm>
            <a:off x="7606030" y="3469812"/>
            <a:ext cx="4657090" cy="923330"/>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ea typeface="Tahoma" panose="020B0604030504040204" pitchFamily="34" charset="0"/>
                <a:cs typeface="Times New Roman" panose="02020603050405020304" pitchFamily="18" charset="0"/>
              </a:rPr>
              <a:t>Finish vector = True for all processes</a:t>
            </a:r>
          </a:p>
          <a:p>
            <a:pPr marL="285750" indent="-285750">
              <a:buFont typeface="Arial" panose="020B0604020202020204" pitchFamily="34" charset="0"/>
              <a:buChar char="•"/>
            </a:pPr>
            <a:r>
              <a:rPr lang="en-US" b="1" dirty="0">
                <a:latin typeface="Times New Roman" panose="02020603050405020304" pitchFamily="18" charset="0"/>
                <a:ea typeface="Tahoma" panose="020B0604030504040204" pitchFamily="34" charset="0"/>
                <a:cs typeface="Times New Roman" panose="02020603050405020304" pitchFamily="18" charset="0"/>
              </a:rPr>
              <a:t>System is NOT in deadlock at T₀</a:t>
            </a:r>
          </a:p>
          <a:p>
            <a:pPr marL="285750" indent="-285750">
              <a:buFont typeface="Arial" panose="020B0604020202020204" pitchFamily="34" charset="0"/>
              <a:buChar char="•"/>
            </a:pPr>
            <a:r>
              <a:rPr lang="en-US" b="1" dirty="0">
                <a:latin typeface="Times New Roman" panose="02020603050405020304" pitchFamily="18" charset="0"/>
                <a:ea typeface="Tahoma" panose="020B0604030504040204" pitchFamily="34" charset="0"/>
                <a:cs typeface="Times New Roman" panose="02020603050405020304" pitchFamily="18" charset="0"/>
              </a:rPr>
              <a:t>Safe Sequence: </a:t>
            </a:r>
            <a:r>
              <a:rPr lang="en-PK" dirty="0">
                <a:latin typeface="Times New Roman" panose="02020603050405020304" pitchFamily="18" charset="0"/>
                <a:ea typeface="Tahoma" panose="020B0604030504040204" pitchFamily="34" charset="0"/>
                <a:cs typeface="Times New Roman" panose="02020603050405020304" pitchFamily="18" charset="0"/>
              </a:rPr>
              <a:t>&lt;P0, P2, P3, P1, P4&gt;</a:t>
            </a:r>
          </a:p>
        </p:txBody>
      </p:sp>
    </p:spTree>
    <p:extLst>
      <p:ext uri="{BB962C8B-B14F-4D97-AF65-F5344CB8AC3E}">
        <p14:creationId xmlns:p14="http://schemas.microsoft.com/office/powerpoint/2010/main" val="1814815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DA063-AD3A-B027-6661-4250538108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7D5D25-9DC6-A82F-93F0-4EFA3D902FA8}"/>
              </a:ext>
            </a:extLst>
          </p:cNvPr>
          <p:cNvSpPr txBox="1">
            <a:spLocks/>
          </p:cNvSpPr>
          <p:nvPr/>
        </p:nvSpPr>
        <p:spPr>
          <a:xfrm>
            <a:off x="539750" y="406781"/>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Deadlock Detection with Multiple Resource Instances</a:t>
            </a:r>
          </a:p>
        </p:txBody>
      </p:sp>
      <p:sp>
        <p:nvSpPr>
          <p:cNvPr id="10" name="Title 1">
            <a:extLst>
              <a:ext uri="{FF2B5EF4-FFF2-40B4-BE49-F238E27FC236}">
                <a16:creationId xmlns:a16="http://schemas.microsoft.com/office/drawing/2014/main" id="{8E165950-5A0E-AFA0-8EC5-D816F300A3C2}"/>
              </a:ext>
            </a:extLst>
          </p:cNvPr>
          <p:cNvSpPr txBox="1">
            <a:spLocks/>
          </p:cNvSpPr>
          <p:nvPr/>
        </p:nvSpPr>
        <p:spPr>
          <a:xfrm>
            <a:off x="1120457" y="1248410"/>
            <a:ext cx="202184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2400" b="1" dirty="0">
                <a:solidFill>
                  <a:schemeClr val="tx1"/>
                </a:solidFill>
                <a:latin typeface="Times New Roman" panose="02020603050405020304" pitchFamily="18" charset="0"/>
                <a:cs typeface="Times New Roman" panose="02020603050405020304" pitchFamily="18" charset="0"/>
              </a:rPr>
              <a:t>Problem:</a:t>
            </a:r>
          </a:p>
        </p:txBody>
      </p:sp>
      <p:pic>
        <p:nvPicPr>
          <p:cNvPr id="4" name="Picture 3">
            <a:extLst>
              <a:ext uri="{FF2B5EF4-FFF2-40B4-BE49-F238E27FC236}">
                <a16:creationId xmlns:a16="http://schemas.microsoft.com/office/drawing/2014/main" id="{5413C85F-204A-44CA-DC31-0A83B8342096}"/>
              </a:ext>
            </a:extLst>
          </p:cNvPr>
          <p:cNvPicPr>
            <a:picLocks noChangeAspect="1"/>
          </p:cNvPicPr>
          <p:nvPr/>
        </p:nvPicPr>
        <p:blipFill>
          <a:blip r:embed="rId3"/>
          <a:stretch>
            <a:fillRect/>
          </a:stretch>
        </p:blipFill>
        <p:spPr>
          <a:xfrm>
            <a:off x="810577" y="1907158"/>
            <a:ext cx="10792143" cy="4811059"/>
          </a:xfrm>
          <a:prstGeom prst="rect">
            <a:avLst/>
          </a:prstGeom>
        </p:spPr>
      </p:pic>
    </p:spTree>
    <p:extLst>
      <p:ext uri="{BB962C8B-B14F-4D97-AF65-F5344CB8AC3E}">
        <p14:creationId xmlns:p14="http://schemas.microsoft.com/office/powerpoint/2010/main" val="1196406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A3FE0-4733-F3E4-2980-73BA3AB7C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A91061-C30D-634D-E645-122208358483}"/>
              </a:ext>
            </a:extLst>
          </p:cNvPr>
          <p:cNvSpPr txBox="1">
            <a:spLocks/>
          </p:cNvSpPr>
          <p:nvPr/>
        </p:nvSpPr>
        <p:spPr>
          <a:xfrm>
            <a:off x="499110" y="28238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4. Deadlock Avoidance</a:t>
            </a:r>
          </a:p>
        </p:txBody>
      </p:sp>
      <p:sp>
        <p:nvSpPr>
          <p:cNvPr id="5" name="TextBox 4">
            <a:extLst>
              <a:ext uri="{FF2B5EF4-FFF2-40B4-BE49-F238E27FC236}">
                <a16:creationId xmlns:a16="http://schemas.microsoft.com/office/drawing/2014/main" id="{60E5D12C-B8AF-EC19-AC46-D895FDF0857B}"/>
              </a:ext>
            </a:extLst>
          </p:cNvPr>
          <p:cNvSpPr txBox="1"/>
          <p:nvPr/>
        </p:nvSpPr>
        <p:spPr>
          <a:xfrm>
            <a:off x="1108075" y="1124011"/>
            <a:ext cx="9975850" cy="4893647"/>
          </a:xfrm>
          <a:prstGeom prst="rect">
            <a:avLst/>
          </a:prstGeom>
          <a:noFill/>
        </p:spPr>
        <p:txBody>
          <a:bodyPr wrap="square">
            <a:spAutoFit/>
          </a:bodyPr>
          <a:lstStyle/>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Deadlock avoidance is a </a:t>
            </a:r>
            <a:r>
              <a:rPr lang="en-US" sz="2400" i="1" dirty="0">
                <a:latin typeface="Times New Roman" panose="02020603050405020304" pitchFamily="18" charset="0"/>
                <a:cs typeface="Times New Roman" panose="02020603050405020304" pitchFamily="18" charset="0"/>
              </a:rPr>
              <a:t>proactive</a:t>
            </a:r>
            <a:r>
              <a:rPr lang="en-US" sz="2400" dirty="0">
                <a:latin typeface="Times New Roman" panose="02020603050405020304" pitchFamily="18" charset="0"/>
                <a:cs typeface="Times New Roman" panose="02020603050405020304" pitchFamily="18" charset="0"/>
              </a:rPr>
              <a:t> strategy. The operating system </a:t>
            </a:r>
            <a:r>
              <a:rPr lang="en-US" sz="2400" b="1" dirty="0">
                <a:latin typeface="Times New Roman" panose="02020603050405020304" pitchFamily="18" charset="0"/>
                <a:cs typeface="Times New Roman" panose="02020603050405020304" pitchFamily="18" charset="0"/>
              </a:rPr>
              <a:t>decides in advance</a:t>
            </a:r>
            <a:r>
              <a:rPr lang="en-US" sz="2400" dirty="0">
                <a:latin typeface="Times New Roman" panose="02020603050405020304" pitchFamily="18" charset="0"/>
                <a:cs typeface="Times New Roman" panose="02020603050405020304" pitchFamily="18" charset="0"/>
              </a:rPr>
              <a:t> whether granting a resource request could lead the system into a deadlock. </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If risk exists, the request is delayed or denied.</a:t>
            </a:r>
          </a:p>
          <a:p>
            <a:pPr marL="285750" indent="-28575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system maintains a </a:t>
            </a:r>
            <a:r>
              <a:rPr lang="en-US" sz="2400" b="1" dirty="0">
                <a:latin typeface="Times New Roman" panose="02020603050405020304" pitchFamily="18" charset="0"/>
                <a:cs typeface="Times New Roman" panose="02020603050405020304" pitchFamily="18" charset="0"/>
              </a:rPr>
              <a:t>safe state</a:t>
            </a:r>
            <a:r>
              <a:rPr lang="en-US" sz="2400" dirty="0">
                <a:latin typeface="Times New Roman" panose="02020603050405020304" pitchFamily="18" charset="0"/>
                <a:cs typeface="Times New Roman" panose="02020603050405020304" pitchFamily="18" charset="0"/>
              </a:rPr>
              <a:t> at all times.</a:t>
            </a:r>
          </a:p>
          <a:p>
            <a:pPr marL="285750" indent="-28575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How it Works</a:t>
            </a:r>
            <a:endParaRPr lang="en-US" sz="24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Requires </a:t>
            </a:r>
            <a:r>
              <a:rPr lang="en-US" sz="2400" b="1" dirty="0">
                <a:latin typeface="Times New Roman" panose="02020603050405020304" pitchFamily="18" charset="0"/>
                <a:cs typeface="Times New Roman" panose="02020603050405020304" pitchFamily="18" charset="0"/>
              </a:rPr>
              <a:t>prior knowledge</a:t>
            </a:r>
            <a:r>
              <a:rPr lang="en-US" sz="2400" dirty="0">
                <a:latin typeface="Times New Roman" panose="02020603050405020304" pitchFamily="18" charset="0"/>
                <a:cs typeface="Times New Roman" panose="02020603050405020304" pitchFamily="18" charset="0"/>
              </a:rPr>
              <a:t> of each process’s maximum resource requirements.</a:t>
            </a: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Before allocating a resource, the OS simulates the allocation.</a:t>
            </a: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Allocation is allowed </a:t>
            </a:r>
            <a:r>
              <a:rPr lang="en-US" sz="2400" b="1" dirty="0">
                <a:latin typeface="Times New Roman" panose="02020603050405020304" pitchFamily="18" charset="0"/>
                <a:cs typeface="Times New Roman" panose="02020603050405020304" pitchFamily="18" charset="0"/>
              </a:rPr>
              <a:t>only if the system remains in a safe state</a:t>
            </a:r>
            <a:r>
              <a:rPr lang="en-US" sz="2400" dirty="0">
                <a:latin typeface="Times New Roman" panose="02020603050405020304" pitchFamily="18" charset="0"/>
                <a:cs typeface="Times New Roman" panose="02020603050405020304" pitchFamily="18" charset="0"/>
              </a:rPr>
              <a:t>.</a:t>
            </a:r>
          </a:p>
          <a:p>
            <a:pPr marL="285750" indent="-285750" algn="jus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Common Algorithm</a:t>
            </a:r>
            <a:endParaRPr lang="en-US" sz="2400" dirty="0">
              <a:latin typeface="Times New Roman" panose="02020603050405020304" pitchFamily="18" charset="0"/>
              <a:cs typeface="Times New Roman" panose="02020603050405020304" pitchFamily="18" charset="0"/>
            </a:endParaRPr>
          </a:p>
          <a:p>
            <a:pPr marL="800100" lvl="1" indent="-342900" algn="just">
              <a:buFont typeface="Wingdings" panose="05000000000000000000" pitchFamily="2" charset="2"/>
              <a:buChar char="ü"/>
            </a:pPr>
            <a:r>
              <a:rPr lang="en-US" sz="2400" dirty="0">
                <a:latin typeface="Times New Roman" panose="02020603050405020304" pitchFamily="18" charset="0"/>
                <a:cs typeface="Times New Roman" panose="02020603050405020304" pitchFamily="18" charset="0"/>
              </a:rPr>
              <a:t>Banker’s Algorithm</a:t>
            </a:r>
          </a:p>
          <a:p>
            <a:pPr marL="285750" indent="-285750"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79602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A8897-426A-319A-12BA-8B7211728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845656-A21A-4F60-60C7-C4BD528761D7}"/>
              </a:ext>
            </a:extLst>
          </p:cNvPr>
          <p:cNvSpPr txBox="1">
            <a:spLocks/>
          </p:cNvSpPr>
          <p:nvPr/>
        </p:nvSpPr>
        <p:spPr>
          <a:xfrm>
            <a:off x="499110" y="28238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Banker’s algorithm</a:t>
            </a:r>
          </a:p>
        </p:txBody>
      </p:sp>
      <p:sp>
        <p:nvSpPr>
          <p:cNvPr id="5" name="TextBox 4">
            <a:extLst>
              <a:ext uri="{FF2B5EF4-FFF2-40B4-BE49-F238E27FC236}">
                <a16:creationId xmlns:a16="http://schemas.microsoft.com/office/drawing/2014/main" id="{BF36D8FE-A651-32C7-B647-06E1EC90410C}"/>
              </a:ext>
            </a:extLst>
          </p:cNvPr>
          <p:cNvSpPr txBox="1"/>
          <p:nvPr/>
        </p:nvSpPr>
        <p:spPr>
          <a:xfrm>
            <a:off x="294640" y="2282251"/>
            <a:ext cx="3662997" cy="2985433"/>
          </a:xfrm>
          <a:prstGeom prst="rect">
            <a:avLst/>
          </a:prstGeom>
          <a:noFill/>
        </p:spPr>
        <p:txBody>
          <a:bodyPr wrap="square">
            <a:spAutoFit/>
          </a:bodyPr>
          <a:lstStyle/>
          <a:p>
            <a:r>
              <a:rPr lang="en-US" sz="2000" b="1" dirty="0">
                <a:latin typeface="Times New Roman" panose="02020603050405020304" pitchFamily="18" charset="0"/>
                <a:cs typeface="Times New Roman" panose="02020603050405020304" pitchFamily="18" charset="0"/>
              </a:rPr>
              <a:t>Problem Statement</a:t>
            </a:r>
          </a:p>
          <a:p>
            <a:r>
              <a:rPr lang="en-US" sz="2000" dirty="0">
                <a:latin typeface="Times New Roman" panose="02020603050405020304" pitchFamily="18" charset="0"/>
                <a:cs typeface="Times New Roman" panose="02020603050405020304" pitchFamily="18" charset="0"/>
              </a:rPr>
              <a:t>Consider a system with:</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5 processes</a:t>
            </a:r>
            <a:r>
              <a:rPr lang="en-US" sz="2000" dirty="0">
                <a:latin typeface="Times New Roman" panose="02020603050405020304" pitchFamily="18" charset="0"/>
                <a:cs typeface="Times New Roman" panose="02020603050405020304" pitchFamily="18" charset="0"/>
              </a:rPr>
              <a:t>: P0, P1, P2, P3, P4</a:t>
            </a:r>
          </a:p>
          <a:p>
            <a:pPr marL="342900" indent="-342900">
              <a:buFont typeface="Arial" panose="020B0604020202020204" pitchFamily="34" charset="0"/>
              <a:buChar char="•"/>
            </a:pPr>
            <a:r>
              <a:rPr lang="en-US" sz="2000" b="1" dirty="0">
                <a:latin typeface="Times New Roman" panose="02020603050405020304" pitchFamily="18" charset="0"/>
                <a:cs typeface="Times New Roman" panose="02020603050405020304" pitchFamily="18" charset="0"/>
              </a:rPr>
              <a:t>3 resource types</a:t>
            </a:r>
            <a:r>
              <a:rPr lang="en-US" sz="2000" dirty="0">
                <a:latin typeface="Times New Roman" panose="02020603050405020304" pitchFamily="18" charset="0"/>
                <a:cs typeface="Times New Roman" panose="02020603050405020304" pitchFamily="18" charset="0"/>
              </a:rPr>
              <a:t>:</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(10 instances)</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 (5 instances)</a:t>
            </a:r>
          </a:p>
          <a:p>
            <a:pPr marL="800100" lvl="1"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 (7 instances)</a:t>
            </a:r>
          </a:p>
          <a:p>
            <a:pPr marL="285750" indent="-285750" algn="just">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E6A9BA5-6B75-9ECD-4366-EEA7E8F3F4FB}"/>
              </a:ext>
            </a:extLst>
          </p:cNvPr>
          <p:cNvPicPr>
            <a:picLocks noChangeAspect="1"/>
          </p:cNvPicPr>
          <p:nvPr/>
        </p:nvPicPr>
        <p:blipFill>
          <a:blip r:embed="rId3"/>
          <a:stretch>
            <a:fillRect/>
          </a:stretch>
        </p:blipFill>
        <p:spPr>
          <a:xfrm>
            <a:off x="3683317" y="1472768"/>
            <a:ext cx="8031163" cy="4248096"/>
          </a:xfrm>
          <a:prstGeom prst="rect">
            <a:avLst/>
          </a:prstGeom>
        </p:spPr>
      </p:pic>
    </p:spTree>
    <p:extLst>
      <p:ext uri="{BB962C8B-B14F-4D97-AF65-F5344CB8AC3E}">
        <p14:creationId xmlns:p14="http://schemas.microsoft.com/office/powerpoint/2010/main" val="1876541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EDC83-C9FA-E939-8F55-52F57504D2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201B79-20D6-0E41-DD39-694213E974AE}"/>
              </a:ext>
            </a:extLst>
          </p:cNvPr>
          <p:cNvSpPr txBox="1">
            <a:spLocks/>
          </p:cNvSpPr>
          <p:nvPr/>
        </p:nvSpPr>
        <p:spPr>
          <a:xfrm>
            <a:off x="499110" y="282382"/>
            <a:ext cx="10967720" cy="84162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Banker’s algorithm</a:t>
            </a:r>
          </a:p>
        </p:txBody>
      </p:sp>
      <p:pic>
        <p:nvPicPr>
          <p:cNvPr id="6" name="Picture 5">
            <a:extLst>
              <a:ext uri="{FF2B5EF4-FFF2-40B4-BE49-F238E27FC236}">
                <a16:creationId xmlns:a16="http://schemas.microsoft.com/office/drawing/2014/main" id="{F5A77E0D-4918-DB8B-6752-215857034880}"/>
              </a:ext>
            </a:extLst>
          </p:cNvPr>
          <p:cNvPicPr>
            <a:picLocks noChangeAspect="1"/>
          </p:cNvPicPr>
          <p:nvPr/>
        </p:nvPicPr>
        <p:blipFill>
          <a:blip r:embed="rId3"/>
          <a:stretch>
            <a:fillRect/>
          </a:stretch>
        </p:blipFill>
        <p:spPr>
          <a:xfrm>
            <a:off x="1351728" y="1060886"/>
            <a:ext cx="9721402" cy="3661728"/>
          </a:xfrm>
          <a:prstGeom prst="rect">
            <a:avLst/>
          </a:prstGeom>
        </p:spPr>
      </p:pic>
      <p:sp>
        <p:nvSpPr>
          <p:cNvPr id="8" name="TextBox 7">
            <a:extLst>
              <a:ext uri="{FF2B5EF4-FFF2-40B4-BE49-F238E27FC236}">
                <a16:creationId xmlns:a16="http://schemas.microsoft.com/office/drawing/2014/main" id="{258766F1-356C-B5F9-30A7-BD54A5348569}"/>
              </a:ext>
            </a:extLst>
          </p:cNvPr>
          <p:cNvSpPr txBox="1"/>
          <p:nvPr/>
        </p:nvSpPr>
        <p:spPr>
          <a:xfrm>
            <a:off x="1351728" y="4722614"/>
            <a:ext cx="8747312" cy="1754326"/>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content of the matrix Need is defined to be Formula: </a:t>
            </a:r>
            <a:r>
              <a:rPr lang="en-US" b="1" dirty="0">
                <a:latin typeface="Times New Roman" panose="02020603050405020304" pitchFamily="18" charset="0"/>
                <a:cs typeface="Times New Roman" panose="02020603050405020304" pitchFamily="18" charset="0"/>
              </a:rPr>
              <a:t>Max– Allocation</a:t>
            </a:r>
          </a:p>
          <a:p>
            <a:pPr marL="285750" indent="-285750">
              <a:buFont typeface="Arial" panose="020B0604020202020204" pitchFamily="34" charset="0"/>
              <a:buChar char="•"/>
            </a:pPr>
            <a:r>
              <a:rPr lang="en-PK" dirty="0">
                <a:latin typeface="Times New Roman" panose="02020603050405020304" pitchFamily="18" charset="0"/>
                <a:cs typeface="Times New Roman" panose="02020603050405020304" pitchFamily="18" charset="0"/>
              </a:rPr>
              <a:t>Available = [3, 3, 2]</a:t>
            </a:r>
            <a:r>
              <a:rPr lang="en-US" dirty="0">
                <a:latin typeface="Times New Roman" panose="02020603050405020304" pitchFamily="18" charset="0"/>
                <a:cs typeface="Times New Roman" panose="02020603050405020304" pitchFamily="18" charset="0"/>
              </a:rPr>
              <a:t> - Let’s execute the process one by one: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Safe Sequence = ⟨ P1, P3, P0, P2, P4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Finish[4] = True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Since all processes can complete execution and a safe sequence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⟨P1, P3, P0, P2, P4⟩ exists, the system is in a </a:t>
            </a:r>
            <a:r>
              <a:rPr lang="en-US" b="1" dirty="0">
                <a:latin typeface="Times New Roman" panose="02020603050405020304" pitchFamily="18" charset="0"/>
                <a:cs typeface="Times New Roman" panose="02020603050405020304" pitchFamily="18" charset="0"/>
              </a:rPr>
              <a:t>safe state</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deadlock will not occur</a:t>
            </a:r>
            <a:r>
              <a:rPr lang="en-US" dirty="0">
                <a:latin typeface="Times New Roman" panose="02020603050405020304" pitchFamily="18" charset="0"/>
                <a:cs typeface="Times New Roman" panose="02020603050405020304" pitchFamily="18" charset="0"/>
              </a:rPr>
              <a:t>.</a:t>
            </a:r>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8323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2B6A6-1003-FEFD-6D04-BD83BE2870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BB1D95-BE3D-4B40-8720-404BAD560036}"/>
              </a:ext>
            </a:extLst>
          </p:cNvPr>
          <p:cNvSpPr txBox="1">
            <a:spLocks/>
          </p:cNvSpPr>
          <p:nvPr/>
        </p:nvSpPr>
        <p:spPr>
          <a:xfrm>
            <a:off x="539750" y="406781"/>
            <a:ext cx="10967720" cy="11375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Banker’s Problem</a:t>
            </a:r>
          </a:p>
          <a:p>
            <a:pPr algn="ctr"/>
            <a:endParaRPr lang="en-US" sz="3600" dirty="0">
              <a:solidFill>
                <a:srgbClr val="0070C0"/>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FF30498-0D20-F17F-B1D8-6BD26D670629}"/>
              </a:ext>
            </a:extLst>
          </p:cNvPr>
          <p:cNvPicPr>
            <a:picLocks noChangeAspect="1"/>
          </p:cNvPicPr>
          <p:nvPr/>
        </p:nvPicPr>
        <p:blipFill>
          <a:blip r:embed="rId3"/>
          <a:stretch>
            <a:fillRect/>
          </a:stretch>
        </p:blipFill>
        <p:spPr>
          <a:xfrm>
            <a:off x="1269841" y="1955799"/>
            <a:ext cx="9507538" cy="3641625"/>
          </a:xfrm>
          <a:prstGeom prst="rect">
            <a:avLst/>
          </a:prstGeom>
        </p:spPr>
      </p:pic>
      <p:sp>
        <p:nvSpPr>
          <p:cNvPr id="8" name="TextBox 7">
            <a:extLst>
              <a:ext uri="{FF2B5EF4-FFF2-40B4-BE49-F238E27FC236}">
                <a16:creationId xmlns:a16="http://schemas.microsoft.com/office/drawing/2014/main" id="{CA77D59D-EBB4-2A37-6D13-0DD9D0CBC318}"/>
              </a:ext>
            </a:extLst>
          </p:cNvPr>
          <p:cNvSpPr txBox="1"/>
          <p:nvPr/>
        </p:nvSpPr>
        <p:spPr>
          <a:xfrm>
            <a:off x="1269841" y="1221154"/>
            <a:ext cx="9652318" cy="646331"/>
          </a:xfrm>
          <a:prstGeom prst="rect">
            <a:avLst/>
          </a:prstGeom>
          <a:noFill/>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Consider a system with </a:t>
            </a:r>
            <a:r>
              <a:rPr lang="en-US" b="1" dirty="0">
                <a:latin typeface="Times New Roman" panose="02020603050405020304" pitchFamily="18" charset="0"/>
                <a:cs typeface="Times New Roman" panose="02020603050405020304" pitchFamily="18" charset="0"/>
              </a:rPr>
              <a:t>4 processes (P0–P3)</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3 resource types (E, F, G)</a:t>
            </a:r>
            <a:r>
              <a:rPr lang="en-US"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current system state is given below</a:t>
            </a:r>
            <a:endParaRPr lang="en-PK"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D1FA0EB-C607-8F8D-A8ED-241F16F2A09F}"/>
              </a:ext>
            </a:extLst>
          </p:cNvPr>
          <p:cNvSpPr txBox="1"/>
          <p:nvPr/>
        </p:nvSpPr>
        <p:spPr>
          <a:xfrm>
            <a:off x="1269841" y="5431472"/>
            <a:ext cx="9286240" cy="1200329"/>
          </a:xfrm>
          <a:prstGeom prst="rect">
            <a:avLst/>
          </a:prstGeom>
          <a:noFill/>
        </p:spPr>
        <p:txBody>
          <a:bodyPr wrap="square">
            <a:spAutoFit/>
          </a:bodyPr>
          <a:lstStyle/>
          <a:p>
            <a:pPr>
              <a:buNone/>
            </a:pPr>
            <a:r>
              <a:rPr lang="en-US" b="1" dirty="0">
                <a:latin typeface="Times New Roman" panose="02020603050405020304" pitchFamily="18" charset="0"/>
                <a:cs typeface="Times New Roman" panose="02020603050405020304" pitchFamily="18" charset="0"/>
              </a:rPr>
              <a:t>Tasks:</a:t>
            </a:r>
          </a:p>
          <a:p>
            <a:pPr>
              <a:buFont typeface="+mj-lt"/>
              <a:buAutoNum type="arabicPeriod"/>
            </a:pPr>
            <a:r>
              <a:rPr lang="en-US" dirty="0">
                <a:latin typeface="Times New Roman" panose="02020603050405020304" pitchFamily="18" charset="0"/>
                <a:cs typeface="Times New Roman" panose="02020603050405020304" pitchFamily="18" charset="0"/>
              </a:rPr>
              <a:t>Calculate the </a:t>
            </a:r>
            <a:r>
              <a:rPr lang="en-US" b="1" dirty="0">
                <a:latin typeface="Times New Roman" panose="02020603050405020304" pitchFamily="18" charset="0"/>
                <a:cs typeface="Times New Roman" panose="02020603050405020304" pitchFamily="18" charset="0"/>
              </a:rPr>
              <a:t>Need</a:t>
            </a:r>
            <a:r>
              <a:rPr lang="en-US" dirty="0">
                <a:latin typeface="Times New Roman" panose="02020603050405020304" pitchFamily="18" charset="0"/>
                <a:cs typeface="Times New Roman" panose="02020603050405020304" pitchFamily="18" charset="0"/>
              </a:rPr>
              <a:t> matrix.</a:t>
            </a:r>
          </a:p>
          <a:p>
            <a:pPr>
              <a:buFont typeface="+mj-lt"/>
              <a:buAutoNum type="arabicPeriod"/>
            </a:pPr>
            <a:r>
              <a:rPr lang="en-US" dirty="0">
                <a:latin typeface="Times New Roman" panose="02020603050405020304" pitchFamily="18" charset="0"/>
                <a:cs typeface="Times New Roman" panose="02020603050405020304" pitchFamily="18" charset="0"/>
              </a:rPr>
              <a:t>Apply the </a:t>
            </a:r>
            <a:r>
              <a:rPr lang="en-US" b="1" dirty="0">
                <a:latin typeface="Times New Roman" panose="02020603050405020304" pitchFamily="18" charset="0"/>
                <a:cs typeface="Times New Roman" panose="02020603050405020304" pitchFamily="18" charset="0"/>
              </a:rPr>
              <a:t>Banker’s Safety Algorithm</a:t>
            </a:r>
            <a:r>
              <a:rPr lang="en-US" dirty="0">
                <a:latin typeface="Times New Roman" panose="02020603050405020304" pitchFamily="18" charset="0"/>
                <a:cs typeface="Times New Roman" panose="02020603050405020304" pitchFamily="18" charset="0"/>
              </a:rPr>
              <a:t>.</a:t>
            </a:r>
          </a:p>
          <a:p>
            <a:pPr>
              <a:buFont typeface="+mj-lt"/>
              <a:buAutoNum type="arabicPeriod"/>
            </a:pPr>
            <a:r>
              <a:rPr lang="en-US" dirty="0">
                <a:latin typeface="Times New Roman" panose="02020603050405020304" pitchFamily="18" charset="0"/>
                <a:cs typeface="Times New Roman" panose="02020603050405020304" pitchFamily="18" charset="0"/>
              </a:rPr>
              <a:t>Determine whether the system is in a </a:t>
            </a:r>
            <a:r>
              <a:rPr lang="en-US" b="1" dirty="0">
                <a:latin typeface="Times New Roman" panose="02020603050405020304" pitchFamily="18" charset="0"/>
                <a:cs typeface="Times New Roman" panose="02020603050405020304" pitchFamily="18" charset="0"/>
              </a:rPr>
              <a:t>safe state or deadlock</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036327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74E7D-2788-B7CE-5B0C-1EDC74EC95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0986B9-3F8D-9551-2FBF-8B9EF22035DD}"/>
              </a:ext>
            </a:extLst>
          </p:cNvPr>
          <p:cNvSpPr txBox="1">
            <a:spLocks/>
          </p:cNvSpPr>
          <p:nvPr/>
        </p:nvSpPr>
        <p:spPr>
          <a:xfrm>
            <a:off x="539750" y="406781"/>
            <a:ext cx="10967720" cy="11375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5400" kern="1200" cap="all" baseline="0">
                <a:blipFill>
                  <a:blip r:embed="rId2">
                    <a:extLst>
                      <a:ext uri="{28A0092B-C50C-407E-A947-70E740481C1C}">
                        <a14:useLocalDpi xmlns:a14="http://schemas.microsoft.com/office/drawing/2010/main" val="0"/>
                      </a:ext>
                    </a:extLst>
                  </a:blip>
                  <a:tile tx="6350" ty="-127000" sx="65000" sy="64000" flip="none" algn="tl"/>
                </a:blipFill>
                <a:latin typeface="+mj-lt"/>
                <a:ea typeface="+mj-ea"/>
                <a:cs typeface="+mj-cs"/>
              </a:defRPr>
            </a:lvl1pPr>
          </a:lstStyle>
          <a:p>
            <a:pPr algn="ctr"/>
            <a:r>
              <a:rPr lang="en-US" sz="3600" b="1" dirty="0">
                <a:solidFill>
                  <a:srgbClr val="0070C0"/>
                </a:solidFill>
                <a:latin typeface="Times New Roman" panose="02020603050405020304" pitchFamily="18" charset="0"/>
                <a:cs typeface="Times New Roman" panose="02020603050405020304" pitchFamily="18" charset="0"/>
              </a:rPr>
              <a:t>EXAMPLE - Problem</a:t>
            </a:r>
          </a:p>
          <a:p>
            <a:pPr algn="ctr"/>
            <a:endParaRPr lang="en-US" sz="3600" dirty="0">
              <a:solidFill>
                <a:srgbClr val="0070C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B983F814-3398-2875-7ACC-D271396F1E0F}"/>
              </a:ext>
            </a:extLst>
          </p:cNvPr>
          <p:cNvSpPr txBox="1"/>
          <p:nvPr/>
        </p:nvSpPr>
        <p:spPr>
          <a:xfrm>
            <a:off x="1161097" y="1134999"/>
            <a:ext cx="10055543" cy="2246769"/>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A system is composed of four processes, {P1, P2, P3, P4} and three types of serial reusable resources, {S1, S2, S3}. The number of units (instances) for resources are t1=3, t2=2 and t3=2. Process P1 holds 1 unit of S1 and requests for 1 unit of S2. P2 holds 2 units of S2 and requests 1 unit each of S1 and S3. P3 holds 1 unit of S1 and requests 1 unit of S2. P4 holds 2 units of S3 and requests for 1 unit of S1. </a:t>
            </a:r>
          </a:p>
          <a:p>
            <a:pPr algn="just"/>
            <a:r>
              <a:rPr lang="en-US" sz="2000" dirty="0">
                <a:latin typeface="Times New Roman" panose="02020603050405020304" pitchFamily="18" charset="0"/>
                <a:cs typeface="Times New Roman" panose="02020603050405020304" pitchFamily="18" charset="0"/>
              </a:rPr>
              <a:t>Show the resource allocation graph and wait-for-graph and also shows could a deadlock exist or not.</a:t>
            </a:r>
            <a:endParaRPr lang="en-PK"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F955060-E13E-4F1C-A4A0-A56D289E4DD8}"/>
              </a:ext>
            </a:extLst>
          </p:cNvPr>
          <p:cNvPicPr>
            <a:picLocks noChangeAspect="1"/>
          </p:cNvPicPr>
          <p:nvPr/>
        </p:nvPicPr>
        <p:blipFill>
          <a:blip r:embed="rId3"/>
          <a:stretch>
            <a:fillRect/>
          </a:stretch>
        </p:blipFill>
        <p:spPr>
          <a:xfrm>
            <a:off x="5765483" y="3221941"/>
            <a:ext cx="5136197" cy="3424132"/>
          </a:xfrm>
          <a:prstGeom prst="rect">
            <a:avLst/>
          </a:prstGeom>
        </p:spPr>
      </p:pic>
    </p:spTree>
    <p:extLst>
      <p:ext uri="{BB962C8B-B14F-4D97-AF65-F5344CB8AC3E}">
        <p14:creationId xmlns:p14="http://schemas.microsoft.com/office/powerpoint/2010/main" val="21143335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24840-87B7-5C2F-E6CB-CE9BD61D278B}"/>
              </a:ext>
            </a:extLst>
          </p:cNvPr>
          <p:cNvSpPr>
            <a:spLocks noGrp="1"/>
          </p:cNvSpPr>
          <p:nvPr>
            <p:ph type="title"/>
          </p:nvPr>
        </p:nvSpPr>
        <p:spPr>
          <a:xfrm>
            <a:off x="3487928" y="1588500"/>
            <a:ext cx="6194552" cy="2807208"/>
          </a:xfrm>
        </p:spPr>
        <p:txBody>
          <a:bodyPr>
            <a:normAutofit/>
          </a:bodyPr>
          <a:lstStyle/>
          <a:p>
            <a:r>
              <a:rPr lang="en-US" sz="8000" dirty="0"/>
              <a:t>Thank you!</a:t>
            </a:r>
            <a:endParaRPr lang="en-PK" sz="8000" dirty="0"/>
          </a:p>
        </p:txBody>
      </p:sp>
      <p:sp>
        <p:nvSpPr>
          <p:cNvPr id="4" name="TextBox 3">
            <a:extLst>
              <a:ext uri="{FF2B5EF4-FFF2-40B4-BE49-F238E27FC236}">
                <a16:creationId xmlns:a16="http://schemas.microsoft.com/office/drawing/2014/main" id="{7119812F-AABC-0688-A538-8A303FE5DAE1}"/>
              </a:ext>
            </a:extLst>
          </p:cNvPr>
          <p:cNvSpPr txBox="1"/>
          <p:nvPr/>
        </p:nvSpPr>
        <p:spPr>
          <a:xfrm>
            <a:off x="640080" y="3429000"/>
            <a:ext cx="10535920" cy="369332"/>
          </a:xfrm>
          <a:prstGeom prst="rect">
            <a:avLst/>
          </a:prstGeom>
          <a:noFill/>
        </p:spPr>
        <p:txBody>
          <a:bodyPr wrap="square">
            <a:spAutoFit/>
          </a:bodyPr>
          <a:lstStyle/>
          <a:p>
            <a:pPr algn="ctr"/>
            <a:r>
              <a:rPr lang="en-US" dirty="0"/>
              <a:t>“Deadlock stops all progress; starvation delays some, but hope remains.”</a:t>
            </a:r>
            <a:endParaRPr lang="en-PK" dirty="0"/>
          </a:p>
        </p:txBody>
      </p:sp>
    </p:spTree>
    <p:extLst>
      <p:ext uri="{BB962C8B-B14F-4D97-AF65-F5344CB8AC3E}">
        <p14:creationId xmlns:p14="http://schemas.microsoft.com/office/powerpoint/2010/main" val="11958689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{45F63935-1AF4-4F8C-991F-4D25D3E9C223}TF2ec419c9-97c3-4958-b02a-0886397d33afcfe10e4b-d68909c4b1b0</Template>
  <TotalTime>2999</TotalTime>
  <Words>1867</Words>
  <Application>Microsoft Office PowerPoint</Application>
  <PresentationFormat>Widescreen</PresentationFormat>
  <Paragraphs>165</Paragraphs>
  <Slides>29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Rockwell</vt:lpstr>
      <vt:lpstr>Rockwell Condensed</vt:lpstr>
      <vt:lpstr>Times New Roman</vt:lpstr>
      <vt:lpstr>Wingdings</vt:lpstr>
      <vt:lpstr>Wood Type</vt:lpstr>
      <vt:lpstr>Operating systems</vt:lpstr>
      <vt:lpstr>Lecture Overview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Adil Ahmed</cp:lastModifiedBy>
  <cp:revision>1918</cp:revision>
  <dcterms:created xsi:type="dcterms:W3CDTF">2025-10-15T06:15:30Z</dcterms:created>
  <dcterms:modified xsi:type="dcterms:W3CDTF">2026-01-18T15:42:25Z</dcterms:modified>
</cp:coreProperties>
</file>